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1768" autoAdjust="0"/>
  </p:normalViewPr>
  <p:slideViewPr>
    <p:cSldViewPr snapToGrid="0">
      <p:cViewPr varScale="1">
        <p:scale>
          <a:sx n="101" d="100"/>
          <a:sy n="101" d="100"/>
        </p:scale>
        <p:origin x="87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38AE4F-EF52-4E9D-9FB8-919EC6497697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ADDB7A-172D-4097-A132-12C8EB780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16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They have done this before, on paper, in September.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Thirty seconds of honesty. They already know last week didn't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boxes on the whiteboard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Rule three is the trap in Part A. Plant it now and don't mention it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Fill the first three lines on the board. Write their wrong answers down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Walk the room. Mark the blanks.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day18_programs.py here. Let the machine settle the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 two answers aloud before they write. Don't judge either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B7C5-D028-538D-C84B-F4947CA6E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18EE4-FBD3-518D-A533-5A7575B50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29B54-2C06-B521-B17D-DF069278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FDB6A-DE1A-8CD7-36E6-9513398D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8F74D-F917-FC0E-8063-35DE9993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5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8439-08F5-44E1-22C0-33087F52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E85E-1669-EAA4-128D-A6725E334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B58B0-4DFA-6A9A-D1B4-BF96071D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893E-5088-E7E2-8009-A7FE84A3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1E31B-B430-476B-4710-0252DB87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3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F91E-1289-9CFB-7E71-94848C13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5F334-0E85-5435-5C19-1CA99F7B3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AE98-80AE-D62A-E089-FE49DCBE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8E38B-44FF-557B-A276-58D60F4C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EAAD-B1C4-28ED-6E49-0D42DD72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5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1961-8DD9-78B4-A9EB-6E7BD852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4FB85-FD5C-5CEF-4167-508019240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35358-0E94-76A9-9AF6-7219BE5FF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9088F-396E-06B1-953B-F7A916C3E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F87B1-02C7-7241-3B21-39307FE4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79D4E-1341-8213-B0EA-47AE63A0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3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C656-E3BB-087A-B7F4-B11F8C8B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94DE0-F7D0-64AF-28E5-7B681CDA0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45B5-9ADF-F7A2-05F2-120A13B78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57BA5-1E45-32F5-A0AA-B7DF5473D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DD5A8-A59D-08B9-C81D-4ACB127E0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69CEE-536B-48E8-7B72-F1115097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A961E-4D7B-9D4F-8C48-91688C56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E6ED0-E024-5291-9F42-982856D9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3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7624-BBE4-4F43-40BE-1C5DBB86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D2DED-744A-331F-EB77-5ABCDB0E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3ED02-FD63-DFD0-65D2-7872A7B2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0267F-DE78-6F66-2229-FB1D5B1A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4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44833-3305-1116-E9F8-6C5A8378D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78047-5589-1EAF-5067-AD2EF967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0FE9F-3CAF-0634-2E48-4958A1A0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4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C86E-6E03-A7F6-C6A1-CDAA5F43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23AF1-9D57-2314-FA9D-80825CC52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22C80-BCC2-1F0C-1CD6-79899BC99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4490D-FAC8-13CF-211F-402F2A5A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733B4-C215-03AA-BCF9-0EBAA8F07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D49F0-9737-DB9F-776D-A059B8F7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7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8913-6DB8-652E-3AE8-7E16FF76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1CDAF-03E1-DF12-A9B1-4FD15D85B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973D7-08B5-4E26-635F-62114CE4B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3F633-B42C-02E8-FBE9-A044D62B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AB502-E8A8-9093-8527-B61DE6F0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A517D-0BB7-84CA-2B04-6D22F0A3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6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7CDB-541D-DAB3-7030-558DA718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6EE05-5077-E454-CADA-3C2248050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635D-85D2-5EC9-9A79-37473989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C204C-6DA9-C91E-0CBF-6F7A79A1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552A-D248-C906-CAB8-158CCB31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50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ED4DA-0C79-4922-B6CA-14EB15C60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DFD1A-D787-85F1-F785-E1CCF23F9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549BA-E968-319C-D449-763DCC64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D76C2-62F9-A98E-4B4E-3F8847C5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5182B-0D0E-6729-A659-0B21D17A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8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B70B0-69C1-BACF-E34C-11B8ABB0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6B4FB-0BB3-9404-1631-FB806D14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B363-0843-FCC4-75C3-4817B6FC1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BDEEA-63FC-4B53-82B2-BA556F03A49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BD5FE-B811-5B93-5CF9-F7649D0E6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1E091-0FFD-BBDC-7AFB-7DC9119E8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3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4BFF6B-CD7D-43AB-C049-4D6FC7CD133B}"/>
              </a:ext>
            </a:extLst>
          </p:cNvPr>
          <p:cNvCxnSpPr>
            <a:cxnSpLocks/>
          </p:cNvCxnSpPr>
          <p:nvPr/>
        </p:nvCxnSpPr>
        <p:spPr>
          <a:xfrm>
            <a:off x="5094738" y="4908256"/>
            <a:ext cx="2899265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3EE458-AB78-EACF-6DF0-D50A5EB70F8C}"/>
              </a:ext>
            </a:extLst>
          </p:cNvPr>
          <p:cNvCxnSpPr>
            <a:cxnSpLocks/>
          </p:cNvCxnSpPr>
          <p:nvPr/>
        </p:nvCxnSpPr>
        <p:spPr>
          <a:xfrm>
            <a:off x="3723623" y="746590"/>
            <a:ext cx="2943877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04EC88-7086-2F59-99EF-DAF347BF7C5A}"/>
              </a:ext>
            </a:extLst>
          </p:cNvPr>
          <p:cNvCxnSpPr/>
          <p:nvPr/>
        </p:nvCxnSpPr>
        <p:spPr>
          <a:xfrm>
            <a:off x="1486446" y="665766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tar: 16 Points 4">
            <a:extLst>
              <a:ext uri="{FF2B5EF4-FFF2-40B4-BE49-F238E27FC236}">
                <a16:creationId xmlns:a16="http://schemas.microsoft.com/office/drawing/2014/main" id="{ADD58C41-DE5A-3F97-1073-80435EAC10E5}"/>
              </a:ext>
            </a:extLst>
          </p:cNvPr>
          <p:cNvSpPr/>
          <p:nvPr/>
        </p:nvSpPr>
        <p:spPr>
          <a:xfrm>
            <a:off x="237236" y="118746"/>
            <a:ext cx="1915160" cy="1915160"/>
          </a:xfrm>
          <a:prstGeom prst="star16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711EC-5C02-3E0D-2684-97CA50D62B24}"/>
              </a:ext>
            </a:extLst>
          </p:cNvPr>
          <p:cNvSpPr txBox="1"/>
          <p:nvPr/>
        </p:nvSpPr>
        <p:spPr>
          <a:xfrm>
            <a:off x="597534" y="356526"/>
            <a:ext cx="1194562" cy="400110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UNIT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230C0-C256-6203-A5F6-19223FE071E4}"/>
              </a:ext>
            </a:extLst>
          </p:cNvPr>
          <p:cNvSpPr txBox="1"/>
          <p:nvPr/>
        </p:nvSpPr>
        <p:spPr>
          <a:xfrm>
            <a:off x="572164" y="521583"/>
            <a:ext cx="1194562" cy="110799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9215A8-6C2C-22D9-03C2-41E38104D972}"/>
              </a:ext>
            </a:extLst>
          </p:cNvPr>
          <p:cNvSpPr/>
          <p:nvPr/>
        </p:nvSpPr>
        <p:spPr>
          <a:xfrm>
            <a:off x="3750894" y="865330"/>
            <a:ext cx="8138160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WHERE WE ACTUALLY ARE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E531CC-A060-48E0-AD9D-FE42573EED82}"/>
              </a:ext>
            </a:extLst>
          </p:cNvPr>
          <p:cNvSpPr/>
          <p:nvPr/>
        </p:nvSpPr>
        <p:spPr>
          <a:xfrm>
            <a:off x="-94751" y="-221055"/>
            <a:ext cx="2593271" cy="2593271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5E4966-129D-0E9B-593A-7270EC6C0EA0}"/>
              </a:ext>
            </a:extLst>
          </p:cNvPr>
          <p:cNvSpPr/>
          <p:nvPr/>
        </p:nvSpPr>
        <p:spPr>
          <a:xfrm rot="21081993">
            <a:off x="3089443" y="359006"/>
            <a:ext cx="1268361" cy="6007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DAY 18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204734-3FD9-9A03-0700-AC2D2E083E4F}"/>
              </a:ext>
            </a:extLst>
          </p:cNvPr>
          <p:cNvSpPr/>
          <p:nvPr/>
        </p:nvSpPr>
        <p:spPr>
          <a:xfrm>
            <a:off x="526944" y="2588561"/>
            <a:ext cx="3929014" cy="3942736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Warm Up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A Fresh Start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Machine In The Box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Tracing Together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Your Turn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Say It In One Sentence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Before You Leave</a:t>
            </a: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76E17776-D541-80F3-BCFD-CA5A7CCC3A3F}"/>
              </a:ext>
            </a:extLst>
          </p:cNvPr>
          <p:cNvSpPr/>
          <p:nvPr/>
        </p:nvSpPr>
        <p:spPr>
          <a:xfrm>
            <a:off x="2914673" y="2288185"/>
            <a:ext cx="2301362" cy="600752"/>
          </a:xfrm>
          <a:prstGeom prst="flowChartInputOutpu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AGENDA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BB1E97-9746-97B6-FA11-641333A2EC2E}"/>
              </a:ext>
            </a:extLst>
          </p:cNvPr>
          <p:cNvSpPr/>
          <p:nvPr/>
        </p:nvSpPr>
        <p:spPr>
          <a:xfrm>
            <a:off x="5407742" y="2444655"/>
            <a:ext cx="6016298" cy="23317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Phones into </a:t>
            </a:r>
            <a:r>
              <a:rPr lang="en-US" sz="2800" b="1" i="1" dirty="0">
                <a:latin typeface="Chiller" panose="04020404031007020602" pitchFamily="82" charset="0"/>
              </a:rPr>
              <a:t>The </a:t>
            </a:r>
            <a:r>
              <a:rPr lang="en-US" sz="2800" b="1" i="1" u="sng" dirty="0">
                <a:latin typeface="Chiller" panose="04020404031007020602" pitchFamily="82" charset="0"/>
              </a:rPr>
              <a:t>Holding</a:t>
            </a:r>
            <a:r>
              <a:rPr lang="en-US" sz="2800" b="1" i="1" dirty="0">
                <a:latin typeface="Chiller" panose="04020404031007020602" pitchFamily="82" charset="0"/>
              </a:rPr>
              <a:t> Cell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Laptops stay in your bag today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Bring a pen</a:t>
            </a:r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4D20C643-FE77-D5F1-944D-EFA6A4E18384}"/>
              </a:ext>
            </a:extLst>
          </p:cNvPr>
          <p:cNvSpPr/>
          <p:nvPr/>
        </p:nvSpPr>
        <p:spPr>
          <a:xfrm flipH="1">
            <a:off x="9835526" y="2157823"/>
            <a:ext cx="2155485" cy="765223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REMINDERS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A3F4D-F474-B915-E173-B56E57D3CE69}"/>
              </a:ext>
            </a:extLst>
          </p:cNvPr>
          <p:cNvSpPr txBox="1"/>
          <p:nvPr/>
        </p:nvSpPr>
        <p:spPr>
          <a:xfrm>
            <a:off x="411769" y="1394526"/>
            <a:ext cx="1580232" cy="25391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BUILT TO ORDER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EB55A-2652-CCF0-91B1-8B395B1FD54C}"/>
              </a:ext>
            </a:extLst>
          </p:cNvPr>
          <p:cNvSpPr/>
          <p:nvPr/>
        </p:nvSpPr>
        <p:spPr>
          <a:xfrm>
            <a:off x="7187005" y="6077879"/>
            <a:ext cx="4437380" cy="583565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  <a:alpha val="0"/>
                </a:schemeClr>
              </a:gs>
              <a:gs pos="100000">
                <a:schemeClr val="accent3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028EDC04-C674-08DB-F001-E8BAEBD20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6146299"/>
            <a:ext cx="3790950" cy="583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algn="r">
              <a:buNone/>
            </a:pPr>
            <a:r>
              <a:rPr lang="en-US" sz="1400" b="1" dirty="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RECOMMENDED LISTENING: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algn="r">
              <a:buNone/>
            </a:pPr>
            <a:r>
              <a:rPr lang="en-US" sz="1200" b="1" dirty="0">
                <a:solidFill>
                  <a:schemeClr val="bg1"/>
                </a:solidFill>
                <a:latin typeface="Bahnschrift" panose="020B0502040204020203" pitchFamily="34" charset="0"/>
                <a:ea typeface="Calibri" panose="020F0502020204030204" pitchFamily="34" charset="0"/>
              </a:rPr>
              <a:t>AREA ZERO – POKEMON SCARLET &amp; VIOLET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1" name="Picture 10" descr="Cd Clip Art">
            <a:extLst>
              <a:ext uri="{FF2B5EF4-FFF2-40B4-BE49-F238E27FC236}">
                <a16:creationId xmlns:a16="http://schemas.microsoft.com/office/drawing/2014/main" id="{9AA8D88A-8935-C243-7C92-FEB5E17C70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0" y="5941036"/>
            <a:ext cx="857250" cy="857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639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736B0C-A06D-A528-1192-A7867336C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085A45DB-3642-2641-2ABF-8A902B3ADA9B}"/>
              </a:ext>
            </a:extLst>
          </p:cNvPr>
          <p:cNvSpPr/>
          <p:nvPr/>
        </p:nvSpPr>
        <p:spPr>
          <a:xfrm>
            <a:off x="8915057" y="217604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D23AC3-1E13-8715-EC1A-E04E2C9D8470}"/>
              </a:ext>
            </a:extLst>
          </p:cNvPr>
          <p:cNvCxnSpPr>
            <a:cxnSpLocks/>
          </p:cNvCxnSpPr>
          <p:nvPr/>
        </p:nvCxnSpPr>
        <p:spPr>
          <a:xfrm>
            <a:off x="3806312" y="1521556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37DF90-A476-1B33-DB9A-6D67B11AC9C6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0E900F3-015F-7761-7947-8847E9D1E560}"/>
              </a:ext>
            </a:extLst>
          </p:cNvPr>
          <p:cNvSpPr/>
          <p:nvPr/>
        </p:nvSpPr>
        <p:spPr>
          <a:xfrm>
            <a:off x="2483753" y="453766"/>
            <a:ext cx="7224493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QUESTION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EEEA62-E5FD-DE36-D59E-CF3D95E3AD86}"/>
              </a:ext>
            </a:extLst>
          </p:cNvPr>
          <p:cNvSpPr/>
          <p:nvPr/>
        </p:nvSpPr>
        <p:spPr>
          <a:xfrm>
            <a:off x="533634" y="1723987"/>
            <a:ext cx="11124730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Back on Day 5 we hand-traced the Little Man Computer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It fetched one instruction, did it, then went and got the next one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What happened when we handed it an instruction it didn’t understand?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63DB81-B172-FD92-7344-0A9DBC440811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url_upload_6a7f3d9e572a4.gif [effects output image]">
            <a:extLst>
              <a:ext uri="{FF2B5EF4-FFF2-40B4-BE49-F238E27FC236}">
                <a16:creationId xmlns:a16="http://schemas.microsoft.com/office/drawing/2014/main" id="{8F628373-9FCF-09F8-A7B6-607C0145139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53" y="-2120321"/>
            <a:ext cx="4743450" cy="2667000"/>
          </a:xfrm>
          <a:prstGeom prst="rect">
            <a:avLst/>
          </a:prstGeom>
        </p:spPr>
      </p:pic>
      <p:pic>
        <p:nvPicPr>
          <p:cNvPr id="21" name="Picture 20" descr="url_upload_6a7f3d9e572a4.gif [effects output image]">
            <a:extLst>
              <a:ext uri="{FF2B5EF4-FFF2-40B4-BE49-F238E27FC236}">
                <a16:creationId xmlns:a16="http://schemas.microsoft.com/office/drawing/2014/main" id="{0C52FBF9-2C25-8FCB-563A-242A0F1AC27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939927" y="-2120321"/>
            <a:ext cx="278664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30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6629B9-CF2C-5C11-7469-ADD4915E2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2D2F265E-120A-FEDA-8C40-62A0BFC0E45D}"/>
              </a:ext>
            </a:extLst>
          </p:cNvPr>
          <p:cNvSpPr/>
          <p:nvPr/>
        </p:nvSpPr>
        <p:spPr>
          <a:xfrm>
            <a:off x="8915057" y="217604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160A85-F895-FC49-8E36-8197E5B8A98E}"/>
              </a:ext>
            </a:extLst>
          </p:cNvPr>
          <p:cNvCxnSpPr>
            <a:cxnSpLocks/>
          </p:cNvCxnSpPr>
          <p:nvPr/>
        </p:nvCxnSpPr>
        <p:spPr>
          <a:xfrm>
            <a:off x="3806312" y="1521556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21F7D05-D0E2-B437-9792-7B4CC9361CA7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B23F663-A07C-CE23-B2C6-C4BA17EE7206}"/>
              </a:ext>
            </a:extLst>
          </p:cNvPr>
          <p:cNvSpPr/>
          <p:nvPr/>
        </p:nvSpPr>
        <p:spPr>
          <a:xfrm>
            <a:off x="2483753" y="453766"/>
            <a:ext cx="7224493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ANSWER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217569-8B31-98D6-5997-110746733932}"/>
              </a:ext>
            </a:extLst>
          </p:cNvPr>
          <p:cNvSpPr/>
          <p:nvPr/>
        </p:nvSpPr>
        <p:spPr>
          <a:xfrm>
            <a:off x="533634" y="1723987"/>
            <a:ext cx="11124730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Answer: </a:t>
            </a:r>
            <a:r>
              <a:rPr lang="en-US" sz="2400" dirty="0"/>
              <a:t>it stopped dead in its tracks, it couldn’t keep going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We’ll be exploring that concept today with a machine that has a few more words available to it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We are not typing today just yet, we’re working on the fundamentals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0C7B7C-76D4-FDAC-7DED-BB7E3B933B5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url_upload_6a7f3d9e572a4.gif [effects output image]">
            <a:extLst>
              <a:ext uri="{FF2B5EF4-FFF2-40B4-BE49-F238E27FC236}">
                <a16:creationId xmlns:a16="http://schemas.microsoft.com/office/drawing/2014/main" id="{1288AF76-4E7B-FF09-368F-27BF85DB595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53" y="-2120321"/>
            <a:ext cx="4743450" cy="2667000"/>
          </a:xfrm>
          <a:prstGeom prst="rect">
            <a:avLst/>
          </a:prstGeom>
        </p:spPr>
      </p:pic>
      <p:pic>
        <p:nvPicPr>
          <p:cNvPr id="21" name="Picture 20" descr="url_upload_6a7f3d9e572a4.gif [effects output image]">
            <a:extLst>
              <a:ext uri="{FF2B5EF4-FFF2-40B4-BE49-F238E27FC236}">
                <a16:creationId xmlns:a16="http://schemas.microsoft.com/office/drawing/2014/main" id="{029CD9DD-0177-4886-96FD-4C4444BDA7C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939927" y="-2120321"/>
            <a:ext cx="278664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00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4315968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4992624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A FRESH START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Unit 2 starts again today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Last week we moved too fast, and that’s on me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So we’re going back to the beginning, slower, and in a slightly different order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Whatever you did or didn’t get last Thursday doesn’t count for anything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4315968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4992624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A FRESH START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Three things change from today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We’re going to slow the pace and the content down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 want to make sure these ideas come across to everybody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 expect you to pay attention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 know that CS can be difficult to pick up, but you won’t ever do it if you aren’t trying and caring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If you get stuck, don’t just ask me or a friend to do it, work it yourself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Today has no code in it at all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Laptops stay in bags – </a:t>
            </a:r>
            <a:r>
              <a:rPr lang="en-US" sz="2400" dirty="0" err="1"/>
              <a:t>fr</a:t>
            </a:r>
            <a:r>
              <a:rPr lang="en-US" sz="2400" dirty="0"/>
              <a:t> </a:t>
            </a:r>
            <a:r>
              <a:rPr lang="en-US" sz="2400" dirty="0" err="1"/>
              <a:t>fr</a:t>
            </a:r>
            <a:endParaRPr lang="en-US" sz="24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Try again or give up stock illustration. Illustration of confused ...">
            <a:extLst>
              <a:ext uri="{FF2B5EF4-FFF2-40B4-BE49-F238E27FC236}">
                <a16:creationId xmlns:a16="http://schemas.microsoft.com/office/drawing/2014/main" id="{D55A13F9-C602-26C3-1E22-3C81335A5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956" y="4904266"/>
            <a:ext cx="1626669" cy="1220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7022592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699248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MACHINE IN THE BOX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 computer keeps things in labelled boxes called ‘variables’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‘variables’ represent locations in memory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label on the box is a name that we pick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box holds exactly one thing at a time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It can only hold ONE thing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Putting something new in means the old thing is deleted permanently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Let’s put some boxes on the whiteboard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What Is The Sad Ant With Bindle Meme? The Meme Featuring A Homeless Ant ...">
            <a:extLst>
              <a:ext uri="{FF2B5EF4-FFF2-40B4-BE49-F238E27FC236}">
                <a16:creationId xmlns:a16="http://schemas.microsoft.com/office/drawing/2014/main" id="{B5F885F7-721C-BC96-C9BD-1DF5C7A0CB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879" r="23238"/>
          <a:stretch>
            <a:fillRect/>
          </a:stretch>
        </p:blipFill>
        <p:spPr>
          <a:xfrm>
            <a:off x="9276934" y="932688"/>
            <a:ext cx="2366424" cy="259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7022592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699248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MACHINE IN THE BOX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three rules for variables: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You can assign one at a time, in the order the assignments are written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 box holds one value, only the newest one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If you copy what’s in a variable, and then change that variable later, the copy remains unchanged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468112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144768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TRACING TOGETHER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160020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We’ll do the first three lines of this together, on the board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After each line, write down what every box holds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What it holds right at that line, before you read 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8" name="Rectangle 1"/>
          <p:cNvSpPr/>
          <p:nvPr/>
        </p:nvSpPr>
        <p:spPr>
          <a:xfrm>
            <a:off x="594360" y="3528000"/>
            <a:ext cx="11000232" cy="2991671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   SET score TO 0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   SET bonus TO 5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   ADD 3 TO score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   ADD bonus TO score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   SET bonus TO 1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6   SHOW score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7   SHOW bonus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2990088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3666744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YOUR TURN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Finish Program A on your own, with each line getting a row on the table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Fill in what each box holds AFTER that line has run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Then write what the program shows on screen, in order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LAB 2-1 PART A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2990088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3666744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YOUR TURN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Answers first, then we run it and find out who was right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bonus changes AFTER score already took a copy of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copy doesn’t change what it is later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EF0801A-C74B-EDEB-6FA4-A17B6616E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316" y="3538728"/>
            <a:ext cx="6107310" cy="264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2990088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3666744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YOUR TURN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160020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fontScale="92500" lnSpcReduction="10000"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Program B does something new – lines 4 and 5 loop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Every time a line runs or re-runs, it gets a new row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So line 4 will show up in your table three separate times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LAB 2-1 PART B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1" name="Rectangle 1"/>
          <p:cNvSpPr/>
          <p:nvPr/>
        </p:nvSpPr>
        <p:spPr>
          <a:xfrm>
            <a:off x="594360" y="3528000"/>
            <a:ext cx="11000232" cy="3025199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   SET count TO 0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   SET total TO 0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   REPEAT WHILE count IS LESS THAN 3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       ADD 1 TO count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       ADD count TO total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6   END REPEAT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7   SHOW count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8   SHOW total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931152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607808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SAY IT IN ONE SENTENCE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Describe the whole program from question B in one sentence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“It adds one to count” describes line 4 - I want the whole thing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Identifying what a code is </a:t>
            </a:r>
            <a:r>
              <a:rPr lang="en-US" sz="2400" i="1" dirty="0"/>
              <a:t>for </a:t>
            </a:r>
            <a:r>
              <a:rPr lang="en-US" sz="2400" dirty="0"/>
              <a:t>can often be the easiest way to learn from code, so being able to interpret it is important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LAB 2-1 PART C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931152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607808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SAY IT IN ONE SENTENCE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160020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fontScale="85000" lnSpcReduction="10000"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Same program as Part A, written in Python, and we’ll talk about Python next time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 know you haven’t been taught all of this, so you aren’t expected to understand all of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One question: which line does the same job as ADD 3 TO score?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LAB 2-1 PART 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3" name="Rectangle 1"/>
          <p:cNvSpPr/>
          <p:nvPr/>
        </p:nvSpPr>
        <p:spPr>
          <a:xfrm>
            <a:off x="594360" y="3528000"/>
            <a:ext cx="11000232" cy="2844225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score =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bonus =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score = score +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score = score + bonus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bonus =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(score)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(bonus)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257800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934456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BEFORE YOU LEAVE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Give me your sheets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None of this is graded, but it tells me where we’re at on Wednesday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Take a vocabulary sheet and keep it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Read the six highlighted rows before next time - five minutes, no computer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Next time we’ll look at how variables work in the scope of a Python program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03503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711695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VOCAB TO REMEMBER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5931007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Trace</a:t>
            </a:r>
            <a:r>
              <a:rPr lang="en-US" sz="2400" dirty="0"/>
              <a:t> - to follow a program by hand, one line at a time, writing down what changes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Value</a:t>
            </a:r>
            <a:r>
              <a:rPr lang="en-US" sz="2400" dirty="0"/>
              <a:t> - a single piece of information. A number, or a piece of text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Sequence</a:t>
            </a:r>
            <a:r>
              <a:rPr lang="en-US" sz="2400" dirty="0"/>
              <a:t> - instructions carried out in the order they’re written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All three are on your vocabulary sheet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Big Brain - Wojak Land">
            <a:extLst>
              <a:ext uri="{FF2B5EF4-FFF2-40B4-BE49-F238E27FC236}">
                <a16:creationId xmlns:a16="http://schemas.microsoft.com/office/drawing/2014/main" id="{BDB99F7C-DD7D-3EF7-80F0-21CB776B21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2" b="2045"/>
          <a:stretch>
            <a:fillRect/>
          </a:stretch>
        </p:blipFill>
        <p:spPr>
          <a:xfrm flipH="1">
            <a:off x="7004814" y="2752725"/>
            <a:ext cx="4505605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11 0.02292 L -0.00611 0.02292 C -0.00755 -0.02083 -0.00742 -0.03217 -0.0108 -0.07592 C -0.0121 -0.09259 -0.01432 -0.10902 -0.01549 -0.12592 C -0.0164 -0.1368 -0.01653 -0.14814 -0.01705 -0.15925 C -0.0177 -0.16967 -0.01861 -0.18055 -0.0194 -0.1912 C -0.01979 -0.20671 -0.02018 -0.23611 -0.02174 -0.25231 C -0.02239 -0.25833 -0.02369 -0.26435 -0.02486 -0.27037 C -0.02578 -0.27453 -0.02669 -0.27893 -0.02799 -0.28287 C -0.03059 -0.2905 -0.03606 -0.30069 -0.03971 -0.30648 C -0.04804 -0.31898 -0.047 -0.31713 -0.05455 -0.32314 C -0.0569 -0.32037 -0.05976 -0.31851 -0.06158 -0.31481 C -0.06588 -0.30601 -0.06562 -0.29976 -0.06627 -0.28981 C -0.06653 -0.2662 -0.06666 -0.24259 -0.06705 -0.21898 C -0.06731 -0.20995 -0.06809 -0.19884 -0.06861 -0.18981 C -0.06901 -0.18356 -0.06927 -0.16967 -0.07096 -0.16342 C -0.07174 -0.16064 -0.07265 -0.15787 -0.0733 -0.15509 C -0.07669 -0.14236 -0.07773 -0.13541 -0.08268 -0.12314 C -0.08502 -0.11736 -0.08763 -0.11226 -0.09049 -0.10787 C -0.09309 -0.10393 -0.09609 -0.10092 -0.09908 -0.09814 C -0.10013 -0.09722 -0.10117 -0.09699 -0.10221 -0.09675 C -0.10533 -0.09606 -0.10846 -0.09583 -0.11158 -0.09537 C -0.13085 -0.09768 -0.13828 -0.09606 -0.15299 -0.10231 C -0.15755 -0.10416 -0.16106 -0.10671 -0.16549 -0.10925 C -0.16731 -0.11018 -0.16914 -0.11111 -0.17096 -0.11203 C -0.17838 -0.11527 -0.17135 -0.11088 -0.18033 -0.1162 C -0.18671 -0.11967 -0.1927 -0.1243 -0.19908 -0.12731 C -0.20013 -0.12777 -0.2013 -0.128 -0.20221 -0.1287 C -0.20364 -0.12939 -0.20481 -0.13078 -0.20611 -0.13148 C -0.20872 -0.13263 -0.21145 -0.1331 -0.21393 -0.13425 C -0.21692 -0.13541 -0.21966 -0.1375 -0.22252 -0.13842 C -0.22591 -0.13935 -0.22929 -0.13935 -0.23268 -0.13981 C -0.26888 -0.14375 -0.25755 -0.14236 -0.30143 -0.14398 C -0.33372 -0.13935 -0.36731 -0.14652 -0.3983 -0.13009 C -0.4177 -0.11967 -0.41679 -0.03356 -0.40768 -0.01898 C -0.39348 0.00417 -0.37122 0.00232 -0.35299 0.01297 C -0.33059 -0.0125 -0.28893 -0.01643 -0.2858 -0.06342 C -0.27408 -0.24398 -0.35104 -0.2449 -0.40924 -0.27175 C -0.43476 -0.22222 -0.47356 -0.18657 -0.4858 -0.12314 C -0.49388 -0.08148 -0.48671 -0.00625 -0.46236 0.00186 C -0.41289 0.01852 -0.36497 -0.04351 -0.31627 -0.0662 C -0.28398 -0.12129 -0.21614 -0.15208 -0.2194 -0.23148 C -0.23255 -0.54143 -0.37356 -0.36157 -0.42252 -0.32037 C -0.42408 -0.26805 -0.45611 -0.17338 -0.42721 -0.16342 C -0.20442 -0.08495 -0.18919 -0.22893 -0.09127 -0.46203 C -0.12382 -0.49444 -0.15351 -0.57963 -0.18893 -0.55925 C -0.225 -0.53842 -0.25807 -0.43449 -0.23815 -0.37731 C -0.20911 -0.29398 -0.13658 -0.30138 -0.0858 -0.26342 C -0.04309 -0.32731 0.0362 -0.35625 0.04232 -0.45509 C 0.06928 -0.89861 -0.16236 -0.64606 -0.22252 -0.60787 C -0.22617 -0.47037 -0.26705 -0.31921 -0.23346 -0.19537 C -0.18268 -0.0074 0.01159 -0.14444 0.0681 -0.16898 C 0.0892 -0.21435 0.11159 -0.25763 0.13139 -0.30509 C 0.13425 -0.31203 0.13086 -0.32592 0.13529 -0.33009 C 0.14284 -0.33703 0.15248 -0.33194 0.16107 -0.33287 C 0.18034 -0.32824 0.19974 -0.32615 0.21889 -0.31898 C 0.2379 -0.31157 0.27514 -0.28981 0.27514 -0.28981 " pathEditMode="relative" ptsTypes="A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MYP Custom">
      <a:dk1>
        <a:srgbClr val="4B5358"/>
      </a:dk1>
      <a:lt1>
        <a:sysClr val="window" lastClr="FFFFFF"/>
      </a:lt1>
      <a:dk2>
        <a:srgbClr val="4B5358"/>
      </a:dk2>
      <a:lt2>
        <a:srgbClr val="E8E8E8"/>
      </a:lt2>
      <a:accent1>
        <a:srgbClr val="60B2E5"/>
      </a:accent1>
      <a:accent2>
        <a:srgbClr val="F49390"/>
      </a:accent2>
      <a:accent3>
        <a:srgbClr val="AEF6C7"/>
      </a:accent3>
      <a:accent4>
        <a:srgbClr val="FFC857"/>
      </a:accent4>
      <a:accent5>
        <a:srgbClr val="96607D"/>
      </a:accent5>
      <a:accent6>
        <a:srgbClr val="467886"/>
      </a:accent6>
      <a:hlink>
        <a:srgbClr val="0070C0"/>
      </a:hlink>
      <a:folHlink>
        <a:srgbClr val="00206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75000"/>
          </a:schemeClr>
        </a:solidFill>
        <a:ln w="76200">
          <a:solidFill>
            <a:schemeClr val="accent2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1015</TotalTime>
  <Words>1015</Words>
  <Application>Microsoft Office PowerPoint</Application>
  <PresentationFormat>Widescreen</PresentationFormat>
  <Paragraphs>104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Bahnschrift</vt:lpstr>
      <vt:lpstr>Calibri</vt:lpstr>
      <vt:lpstr>Cascadia Code</vt:lpstr>
      <vt:lpstr>Chiller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9</cp:revision>
  <dcterms:created xsi:type="dcterms:W3CDTF">2026-08-13T18:52:07Z</dcterms:created>
  <dcterms:modified xsi:type="dcterms:W3CDTF">2026-10-16T15:11:59Z</dcterms:modified>
</cp:coreProperties>
</file>