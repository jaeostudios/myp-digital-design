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8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4" d="100"/>
          <a:sy n="94" d="100"/>
        </p:scale>
        <p:origin x="12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Hill" userId="41dba03d-e58d-4389-9894-554c10310ba4" providerId="ADAL" clId="{EF23FE1D-A042-481E-AFD7-2A9FB0847F54}"/>
    <pc:docChg chg="modSld">
      <pc:chgData name="Michael Hill" userId="41dba03d-e58d-4389-9894-554c10310ba4" providerId="ADAL" clId="{EF23FE1D-A042-481E-AFD7-2A9FB0847F54}" dt="2026-08-18T18:40:16.668" v="2" actId="20577"/>
      <pc:docMkLst>
        <pc:docMk/>
      </pc:docMkLst>
      <pc:sldChg chg="modSp mod">
        <pc:chgData name="Michael Hill" userId="41dba03d-e58d-4389-9894-554c10310ba4" providerId="ADAL" clId="{EF23FE1D-A042-481E-AFD7-2A9FB0847F54}" dt="2026-08-18T18:40:16.668" v="2" actId="20577"/>
        <pc:sldMkLst>
          <pc:docMk/>
          <pc:sldMk cId="2192650716" sldId="284"/>
        </pc:sldMkLst>
        <pc:spChg chg="mod">
          <ac:chgData name="Michael Hill" userId="41dba03d-e58d-4389-9894-554c10310ba4" providerId="ADAL" clId="{EF23FE1D-A042-481E-AFD7-2A9FB0847F54}" dt="2026-08-18T18:40:16.668" v="2" actId="20577"/>
          <ac:spMkLst>
            <pc:docMk/>
            <pc:sldMk cId="2192650716" sldId="284"/>
            <ac:spMk id="16" creationId="{104F567A-E19C-74A7-B049-CF176EB9CF8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B7C5-D028-538D-C84B-F4947CA6E1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A18EE4-FBD3-518D-A533-5A7575B505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29B54-2C06-B521-B17D-DF069278D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FDB6A-DE1A-8CD7-36E6-9513398D5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8F74D-F917-FC0E-8063-35DE9993D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955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88439-08F5-44E1-22C0-33087F521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AE85E-1669-EAA4-128D-A6725E334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7B58B0-4DFA-6A9A-D1B4-BF96071D1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0893E-5088-E7E2-8009-A7FE84A3A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61E31B-B430-476B-4710-0252DB870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239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7F91E-1289-9CFB-7E71-94848C13D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D5F334-0E85-5435-5C19-1CA99F7B3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F2AE98-80AE-D62A-E089-FE49DCBE6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8E38B-44FF-557B-A276-58D60F4CB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1EAAD-B1C4-28ED-6E49-0D42DD728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952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71961-8DD9-78B4-A9EB-6E7BD8521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4FB85-FD5C-5CEF-4167-5080192405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E35358-0E94-76A9-9AF6-7219BE5FFB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69088F-396E-06B1-953B-F7A916C3E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F87B1-02C7-7241-3B21-39307FE4F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779D4E-1341-8213-B0EA-47AE63A0C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439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EC656-E3BB-087A-B7F4-B11F8C8B8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E94DE0-F7D0-64AF-28E5-7B681CDA0F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1E45B5-9ADF-F7A2-05F2-120A13B781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657BA5-1E45-32F5-A0AA-B7DF5473D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BDD5A8-A59D-08B9-C81D-4ACB127E08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369CEE-536B-48E8-7B72-F11150977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2A961E-4D7B-9D4F-8C48-91688C565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CE6ED0-E024-5291-9F42-982856D90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936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37624-BBE4-4F43-40BE-1C5DBB86F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FD2DED-744A-331F-EB77-5ABCDB0E6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A3ED02-FD63-DFD0-65D2-7872A7B24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50267F-DE78-6F66-2229-FB1D5B1AA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544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A44833-3305-1116-E9F8-6C5A8378D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378047-5589-1EAF-5067-AD2EF9677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0FE9F-3CAF-0634-2E48-4958A1A03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647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1C86E-6E03-A7F6-C6A1-CDAA5F439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23AF1-9D57-2314-FA9D-80825CC52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522C80-BCC2-1F0C-1CD6-79899BC991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34490D-FAC8-13CF-211F-402F2A5AC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F733B4-C215-03AA-BCF9-0EBAA8F07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0D49F0-9737-DB9F-776D-A059B8F79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474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F8913-6DB8-652E-3AE8-7E16FF760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F1CDAF-03E1-DF12-A9B1-4FD15D85B9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B973D7-08B5-4E26-635F-62114CE4BF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33F633-B42C-02E8-FBE9-A044D62B2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6AB502-E8A8-9093-8527-B61DE6F02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3A517D-0BB7-84CA-2B04-6D22F0A30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464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57CDB-541D-DAB3-7030-558DA7187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A6EE05-5077-E454-CADA-3C22480500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0635D-85D2-5EC9-9A79-37473989E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6C204C-6DA9-C91E-0CBF-6F7A79A1E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F552A-D248-C906-CAB8-158CCB31F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550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FED4DA-0C79-4922-B6CA-14EB15C603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BDFD1A-D787-85F1-F785-E1CCF23F95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549BA-E968-319C-D449-763DCC64A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D76C2-62F9-A98E-4B4E-3F8847C56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35182B-0D0E-6729-A659-0B21D17AE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383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FB70B0-69C1-BACF-E34C-11B8ABB05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86B4FB-0BB3-9404-1631-FB806D146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8B363-0843-FCC4-75C3-4817B6FC14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BBDEEA-63FC-4B53-82B2-BA556F03A49A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2BD5FE-B811-5B93-5CF9-F7649D0E6D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C1E091-0FFD-BBDC-7AFB-7DC9119E8F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839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84BFF6B-CD7D-43AB-C049-4D6FC7CD133B}"/>
              </a:ext>
            </a:extLst>
          </p:cNvPr>
          <p:cNvCxnSpPr>
            <a:cxnSpLocks/>
          </p:cNvCxnSpPr>
          <p:nvPr/>
        </p:nvCxnSpPr>
        <p:spPr>
          <a:xfrm>
            <a:off x="5030730" y="4272579"/>
            <a:ext cx="2899265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D3EE458-AB78-EACF-6DF0-D50A5EB70F8C}"/>
              </a:ext>
            </a:extLst>
          </p:cNvPr>
          <p:cNvCxnSpPr>
            <a:cxnSpLocks/>
          </p:cNvCxnSpPr>
          <p:nvPr/>
        </p:nvCxnSpPr>
        <p:spPr>
          <a:xfrm>
            <a:off x="3723623" y="746590"/>
            <a:ext cx="2943877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A04EC88-7086-2F59-99EF-DAF347BF7C5A}"/>
              </a:ext>
            </a:extLst>
          </p:cNvPr>
          <p:cNvCxnSpPr/>
          <p:nvPr/>
        </p:nvCxnSpPr>
        <p:spPr>
          <a:xfrm>
            <a:off x="1486446" y="665766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tar: 16 Points 4">
            <a:extLst>
              <a:ext uri="{FF2B5EF4-FFF2-40B4-BE49-F238E27FC236}">
                <a16:creationId xmlns:a16="http://schemas.microsoft.com/office/drawing/2014/main" id="{ADD58C41-DE5A-3F97-1073-80435EAC10E5}"/>
              </a:ext>
            </a:extLst>
          </p:cNvPr>
          <p:cNvSpPr/>
          <p:nvPr/>
        </p:nvSpPr>
        <p:spPr>
          <a:xfrm>
            <a:off x="237236" y="118746"/>
            <a:ext cx="1915160" cy="1915160"/>
          </a:xfrm>
          <a:prstGeom prst="star16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6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4711EC-5C02-3E0D-2684-97CA50D62B24}"/>
              </a:ext>
            </a:extLst>
          </p:cNvPr>
          <p:cNvSpPr txBox="1"/>
          <p:nvPr/>
        </p:nvSpPr>
        <p:spPr>
          <a:xfrm>
            <a:off x="597534" y="356526"/>
            <a:ext cx="1194562" cy="400110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UNIT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0230C0-C256-6203-A5F6-19223FE071E4}"/>
              </a:ext>
            </a:extLst>
          </p:cNvPr>
          <p:cNvSpPr txBox="1"/>
          <p:nvPr/>
        </p:nvSpPr>
        <p:spPr>
          <a:xfrm>
            <a:off x="572164" y="521583"/>
            <a:ext cx="1194562" cy="1107996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6600" b="1" dirty="0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9215A8-6C2C-22D9-03C2-41E38104D972}"/>
              </a:ext>
            </a:extLst>
          </p:cNvPr>
          <p:cNvSpPr/>
          <p:nvPr/>
        </p:nvSpPr>
        <p:spPr>
          <a:xfrm>
            <a:off x="3750894" y="865330"/>
            <a:ext cx="5752094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BE THE COMPUTER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BE531CC-A060-48E0-AD9D-FE42573EED82}"/>
              </a:ext>
            </a:extLst>
          </p:cNvPr>
          <p:cNvSpPr/>
          <p:nvPr/>
        </p:nvSpPr>
        <p:spPr>
          <a:xfrm>
            <a:off x="-101820" y="-220310"/>
            <a:ext cx="2593271" cy="2593271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5E4966-129D-0E9B-593A-7270EC6C0EA0}"/>
              </a:ext>
            </a:extLst>
          </p:cNvPr>
          <p:cNvSpPr/>
          <p:nvPr/>
        </p:nvSpPr>
        <p:spPr>
          <a:xfrm rot="21081993">
            <a:off x="3089443" y="359006"/>
            <a:ext cx="1268361" cy="600752"/>
          </a:xfrm>
          <a:prstGeom prst="rect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DAY 6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204734-3FD9-9A03-0700-AC2D2E083E4F}"/>
              </a:ext>
            </a:extLst>
          </p:cNvPr>
          <p:cNvSpPr/>
          <p:nvPr/>
        </p:nvSpPr>
        <p:spPr>
          <a:xfrm>
            <a:off x="526944" y="2588561"/>
            <a:ext cx="3929014" cy="3942736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Warm Up Question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Mailroom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Instruction Set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Fetch, Decode, Execute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Trace Program 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LMC Simulator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Sabotage</a:t>
            </a:r>
          </a:p>
        </p:txBody>
      </p:sp>
      <p:sp>
        <p:nvSpPr>
          <p:cNvPr id="17" name="Flowchart: Data 16">
            <a:extLst>
              <a:ext uri="{FF2B5EF4-FFF2-40B4-BE49-F238E27FC236}">
                <a16:creationId xmlns:a16="http://schemas.microsoft.com/office/drawing/2014/main" id="{76E17776-D541-80F3-BCFD-CA5A7CCC3A3F}"/>
              </a:ext>
            </a:extLst>
          </p:cNvPr>
          <p:cNvSpPr/>
          <p:nvPr/>
        </p:nvSpPr>
        <p:spPr>
          <a:xfrm>
            <a:off x="2914673" y="2288185"/>
            <a:ext cx="2301362" cy="600752"/>
          </a:xfrm>
          <a:prstGeom prst="flowChartInputOutpu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AGENDA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6BB1E97-9746-97B6-FA11-641333A2EC2E}"/>
              </a:ext>
            </a:extLst>
          </p:cNvPr>
          <p:cNvSpPr/>
          <p:nvPr/>
        </p:nvSpPr>
        <p:spPr>
          <a:xfrm>
            <a:off x="5407742" y="2444654"/>
            <a:ext cx="6016298" cy="1713021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Put your phones into </a:t>
            </a:r>
            <a:r>
              <a:rPr lang="en-US" sz="2800" b="1" i="1" dirty="0">
                <a:latin typeface="Chiller" panose="04020404031007020602" pitchFamily="82" charset="0"/>
              </a:rPr>
              <a:t>The </a:t>
            </a:r>
            <a:r>
              <a:rPr lang="en-US" sz="2800" b="1" i="1" u="sng" dirty="0">
                <a:latin typeface="Chiller" panose="04020404031007020602" pitchFamily="82" charset="0"/>
              </a:rPr>
              <a:t>Holding</a:t>
            </a:r>
            <a:r>
              <a:rPr lang="en-US" sz="2800" b="1" i="1" dirty="0">
                <a:latin typeface="Chiller" panose="04020404031007020602" pitchFamily="82" charset="0"/>
              </a:rPr>
              <a:t> Cell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Computers stay shut until I say - you need them twice today, and not yet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b="1" i="1" dirty="0">
              <a:latin typeface="Chiller" panose="04020404031007020602" pitchFamily="82" charset="0"/>
            </a:endParaRPr>
          </a:p>
        </p:txBody>
      </p:sp>
      <p:sp>
        <p:nvSpPr>
          <p:cNvPr id="26" name="Arrow: Pentagon 25">
            <a:extLst>
              <a:ext uri="{FF2B5EF4-FFF2-40B4-BE49-F238E27FC236}">
                <a16:creationId xmlns:a16="http://schemas.microsoft.com/office/drawing/2014/main" id="{4D20C643-FE77-D5F1-944D-EFA6A4E18384}"/>
              </a:ext>
            </a:extLst>
          </p:cNvPr>
          <p:cNvSpPr/>
          <p:nvPr/>
        </p:nvSpPr>
        <p:spPr>
          <a:xfrm flipH="1">
            <a:off x="9835526" y="2157823"/>
            <a:ext cx="2155485" cy="765223"/>
          </a:xfrm>
          <a:prstGeom prst="homePlate">
            <a:avLst/>
          </a:prstGeom>
          <a:solidFill>
            <a:schemeClr val="accent4">
              <a:lumMod val="75000"/>
            </a:schemeClr>
          </a:solidFill>
          <a:ln w="5715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REMINDERS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2A3F4D-F474-B915-E173-B56E57D3CE69}"/>
              </a:ext>
            </a:extLst>
          </p:cNvPr>
          <p:cNvSpPr txBox="1"/>
          <p:nvPr/>
        </p:nvSpPr>
        <p:spPr>
          <a:xfrm>
            <a:off x="411769" y="1394526"/>
            <a:ext cx="1580232" cy="253916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050" b="1" dirty="0">
                <a:solidFill>
                  <a:schemeClr val="bg1"/>
                </a:solidFill>
              </a:rPr>
              <a:t>GAMES OF LOGIC</a:t>
            </a:r>
          </a:p>
        </p:txBody>
      </p:sp>
    </p:spTree>
    <p:extLst>
      <p:ext uri="{BB962C8B-B14F-4D97-AF65-F5344CB8AC3E}">
        <p14:creationId xmlns:p14="http://schemas.microsoft.com/office/powerpoint/2010/main" val="3346394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22AD84FA-39FE-7AE2-0235-BCF1960A8535}"/>
              </a:ext>
            </a:extLst>
          </p:cNvPr>
          <p:cNvSpPr/>
          <p:nvPr/>
        </p:nvSpPr>
        <p:spPr>
          <a:xfrm>
            <a:off x="8915057" y="217604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DF9C0B5-F27B-7620-73CB-6F76519B8E4C}"/>
              </a:ext>
            </a:extLst>
          </p:cNvPr>
          <p:cNvCxnSpPr>
            <a:cxnSpLocks/>
          </p:cNvCxnSpPr>
          <p:nvPr/>
        </p:nvCxnSpPr>
        <p:spPr>
          <a:xfrm>
            <a:off x="3806312" y="1521556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A57F629-E210-9621-3C22-A03A34A65F4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C3FCC4C1-C06C-1757-2C3B-014A77112715}"/>
              </a:ext>
            </a:extLst>
          </p:cNvPr>
          <p:cNvSpPr/>
          <p:nvPr/>
        </p:nvSpPr>
        <p:spPr>
          <a:xfrm>
            <a:off x="2483753" y="453766"/>
            <a:ext cx="7224493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THE WARM UP QUESTION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3413D3-DEF0-2730-597D-6C27F0BB8144}"/>
              </a:ext>
            </a:extLst>
          </p:cNvPr>
          <p:cNvSpPr/>
          <p:nvPr/>
        </p:nvSpPr>
        <p:spPr>
          <a:xfrm>
            <a:off x="533634" y="1723987"/>
            <a:ext cx="11124730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dirty="0"/>
              <a:t>A computer does exactly what you tell it, in exactly the order you tell it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dirty="0"/>
              <a:t>So how does it know what to do next?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37BD50C-DDA4-1860-6B90-B09E1B62948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url_upload_6a7f3d9e572a4.gif [effects output image]">
            <a:extLst>
              <a:ext uri="{FF2B5EF4-FFF2-40B4-BE49-F238E27FC236}">
                <a16:creationId xmlns:a16="http://schemas.microsoft.com/office/drawing/2014/main" id="{14FD9F62-D840-36AD-56F3-1AC7F738FCB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483753" y="-2120321"/>
            <a:ext cx="4743450" cy="2667000"/>
          </a:xfrm>
          <a:prstGeom prst="rect">
            <a:avLst/>
          </a:prstGeom>
        </p:spPr>
      </p:pic>
      <p:pic>
        <p:nvPicPr>
          <p:cNvPr id="10" name="Picture 9" descr="url_upload_6a7f3d9e572a4.gif [effects output image]">
            <a:extLst>
              <a:ext uri="{FF2B5EF4-FFF2-40B4-BE49-F238E27FC236}">
                <a16:creationId xmlns:a16="http://schemas.microsoft.com/office/drawing/2014/main" id="{54FC20A5-7CF5-78EB-D72B-9C9736B6875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6939927" y="-2120321"/>
            <a:ext cx="2786643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2ED27112-2D7E-BE2F-F40F-83D4ACF4D300}"/>
              </a:ext>
            </a:extLst>
          </p:cNvPr>
          <p:cNvSpPr/>
          <p:nvPr/>
        </p:nvSpPr>
        <p:spPr>
          <a:xfrm>
            <a:off x="8915057" y="217604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D81ADA3-117F-8889-BADA-A91CB4CE276C}"/>
              </a:ext>
            </a:extLst>
          </p:cNvPr>
          <p:cNvCxnSpPr>
            <a:cxnSpLocks/>
          </p:cNvCxnSpPr>
          <p:nvPr/>
        </p:nvCxnSpPr>
        <p:spPr>
          <a:xfrm>
            <a:off x="3806312" y="1521556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B95A94E-AB7B-C180-986C-EE1C191BB13F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A79C36F4-29D0-683F-B48D-9E62BD16A484}"/>
              </a:ext>
            </a:extLst>
          </p:cNvPr>
          <p:cNvSpPr/>
          <p:nvPr/>
        </p:nvSpPr>
        <p:spPr>
          <a:xfrm>
            <a:off x="2483753" y="453766"/>
            <a:ext cx="7224493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THE WARM UP ANSWER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507410-9114-A124-FEE9-28FD9299B74E}"/>
              </a:ext>
            </a:extLst>
          </p:cNvPr>
          <p:cNvSpPr/>
          <p:nvPr/>
        </p:nvSpPr>
        <p:spPr>
          <a:xfrm>
            <a:off x="533634" y="1723987"/>
            <a:ext cx="11124730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dirty="0"/>
              <a:t>It keeps a number. Just one. The address of the next instruction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dirty="0"/>
              <a:t>Add one to that number and you have moved on. Overwrite it and you have jumped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dirty="0"/>
              <a:t>That is the whole trick. There is no magic layer underneath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dirty="0"/>
              <a:t>Today you are the thing that reads it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320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7233001-E2DE-F8B1-1AD0-284EE8627295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url_upload_6a7f3d9e572a4.gif [effects output image]">
            <a:extLst>
              <a:ext uri="{FF2B5EF4-FFF2-40B4-BE49-F238E27FC236}">
                <a16:creationId xmlns:a16="http://schemas.microsoft.com/office/drawing/2014/main" id="{9306D7B1-CCED-8A05-D209-A89F2FDF2D3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483753" y="-2120321"/>
            <a:ext cx="4743450" cy="2667000"/>
          </a:xfrm>
          <a:prstGeom prst="rect">
            <a:avLst/>
          </a:prstGeom>
        </p:spPr>
      </p:pic>
      <p:pic>
        <p:nvPicPr>
          <p:cNvPr id="10" name="Picture 9" descr="url_upload_6a7f3d9e572a4.gif [effects output image]">
            <a:extLst>
              <a:ext uri="{FF2B5EF4-FFF2-40B4-BE49-F238E27FC236}">
                <a16:creationId xmlns:a16="http://schemas.microsoft.com/office/drawing/2014/main" id="{BF5DFD6D-1F26-F874-1461-EE08A70A939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6939927" y="-2120321"/>
            <a:ext cx="2786643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5019155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5700000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THE MAILROOM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Forget the computer. Picture a </a:t>
            </a:r>
            <a:r>
              <a:rPr lang="en-US" sz="2000" b="1" dirty="0"/>
              <a:t>mailroom</a:t>
            </a:r>
            <a:r>
              <a:rPr lang="en-US" sz="2000" dirty="0"/>
              <a:t> with one very person in it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He cannot think, plan, or remember anything between jobs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He can read a slip of paper, do one arithmetic step, and put a number down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That is a CPU.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Mail Room Plus Portland Or at Ellis Brashears blog">
            <a:extLst>
              <a:ext uri="{FF2B5EF4-FFF2-40B4-BE49-F238E27FC236}">
                <a16:creationId xmlns:a16="http://schemas.microsoft.com/office/drawing/2014/main" id="{EFAB9B5E-93EE-17CE-7248-2EC87E1C18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7630" y="3114489"/>
            <a:ext cx="3962400" cy="341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9419155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10100000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THE MAILROOM: MAILBOXES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100 mailboxes</a:t>
            </a:r>
            <a:r>
              <a:rPr lang="en-US" sz="2000" dirty="0"/>
              <a:t>, numbered 00 to 99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Each one holds a </a:t>
            </a:r>
            <a:r>
              <a:rPr lang="en-US" sz="2000" b="1" dirty="0"/>
              <a:t>3-digit number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That number might be data. It might be an instruction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The mailbox has </a:t>
            </a:r>
            <a:r>
              <a:rPr lang="en-US" sz="2000" i="1" dirty="0"/>
              <a:t>no idea which</a:t>
            </a:r>
            <a:r>
              <a:rPr lang="en-US" sz="2000" dirty="0"/>
              <a:t>. 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Confused Meme">
            <a:extLst>
              <a:ext uri="{FF2B5EF4-FFF2-40B4-BE49-F238E27FC236}">
                <a16:creationId xmlns:a16="http://schemas.microsoft.com/office/drawing/2014/main" id="{9B20FE41-78E8-A2FA-D707-24EB6388A7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0382" y="4036964"/>
            <a:ext cx="4005618" cy="2251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9619155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10300000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THE MAILROOM: THE CALCULATOR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One </a:t>
            </a:r>
            <a:r>
              <a:rPr lang="en-US" sz="2000" b="1" dirty="0"/>
              <a:t>calculator</a:t>
            </a:r>
            <a:r>
              <a:rPr lang="en-US" sz="2000" dirty="0"/>
              <a:t>, and it shows one number at a time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In a computer, we call this the </a:t>
            </a:r>
            <a:r>
              <a:rPr lang="en-US" sz="2000" b="1" dirty="0"/>
              <a:t>accumulator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Everything passes through it. Add, subtract, load, store - all of it lands here first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One number. Not two. This is why programs are longer than you expect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M&amp;G Desk Calculator 12 Digit Office Calculators with Large LCD Display ...">
            <a:extLst>
              <a:ext uri="{FF2B5EF4-FFF2-40B4-BE49-F238E27FC236}">
                <a16:creationId xmlns:a16="http://schemas.microsoft.com/office/drawing/2014/main" id="{BBA617F9-FE3E-C95F-54EC-6A357ABDC1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2464" y="3429000"/>
            <a:ext cx="2601543" cy="2826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9619155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10300000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THE MAILROOM: THE COUNTER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One </a:t>
            </a:r>
            <a:r>
              <a:rPr lang="en-US" sz="2000" b="1" dirty="0"/>
              <a:t>counter</a:t>
            </a:r>
            <a:r>
              <a:rPr lang="en-US" sz="2000" dirty="0"/>
              <a:t> on the wall, holding a mailbox number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In a CPU, this is the </a:t>
            </a:r>
            <a:r>
              <a:rPr lang="en-US" sz="2000" b="1" dirty="0"/>
              <a:t>program counter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It says: </a:t>
            </a:r>
            <a:r>
              <a:rPr lang="en-US" sz="2000" i="1" dirty="0"/>
              <a:t>this</a:t>
            </a:r>
            <a:r>
              <a:rPr lang="en-US" sz="2000" dirty="0"/>
              <a:t> is the mailbox I read next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Nothing else decides the order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Hand Tally Click Counter with 4 Digital Number Fin... – Grandado">
            <a:extLst>
              <a:ext uri="{FF2B5EF4-FFF2-40B4-BE49-F238E27FC236}">
                <a16:creationId xmlns:a16="http://schemas.microsoft.com/office/drawing/2014/main" id="{CFDB8CD3-F8FC-61C1-F4A2-513ED941F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3743" y="2718391"/>
            <a:ext cx="3812906" cy="3812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9419155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10100000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THE MAILROOM: THE TRAYS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An </a:t>
            </a:r>
            <a:r>
              <a:rPr lang="en-US" sz="2000" b="1" dirty="0"/>
              <a:t>in-tray</a:t>
            </a:r>
            <a:r>
              <a:rPr lang="en-US" sz="2000" dirty="0"/>
              <a:t>: numbers arrive from outside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An </a:t>
            </a:r>
            <a:r>
              <a:rPr lang="en-US" sz="2000" b="1" dirty="0"/>
              <a:t>out-tray</a:t>
            </a:r>
            <a:r>
              <a:rPr lang="en-US" sz="2000" dirty="0"/>
              <a:t>: numbers leave to outside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That is your input and your output, and there is nothing else in the room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Four things total: mailboxes, calculator, counter, trays, make sense?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In out office trays in hi-res stock photography and images - Alamy">
            <a:extLst>
              <a:ext uri="{FF2B5EF4-FFF2-40B4-BE49-F238E27FC236}">
                <a16:creationId xmlns:a16="http://schemas.microsoft.com/office/drawing/2014/main" id="{CF6B5637-F5A8-645C-9720-82947B45D4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233" y="3617409"/>
            <a:ext cx="3962400" cy="2913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5019155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5700000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THREE DIGITS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Every instruction is exactly </a:t>
            </a:r>
            <a:r>
              <a:rPr lang="en-US" sz="2000" b="1" dirty="0"/>
              <a:t>three digits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The </a:t>
            </a:r>
            <a:r>
              <a:rPr lang="en-US" sz="2000" b="1" dirty="0"/>
              <a:t>first digit</a:t>
            </a:r>
            <a:r>
              <a:rPr lang="en-US" sz="2000" dirty="0"/>
              <a:t> is the </a:t>
            </a:r>
            <a:r>
              <a:rPr lang="en-US" sz="2000" i="1" dirty="0"/>
              <a:t>opcode</a:t>
            </a:r>
            <a:r>
              <a:rPr lang="en-US" sz="2000" dirty="0"/>
              <a:t> - what to do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Short for operation code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The </a:t>
            </a:r>
            <a:r>
              <a:rPr lang="en-US" sz="2000" b="1" dirty="0"/>
              <a:t>last two</a:t>
            </a:r>
            <a:r>
              <a:rPr lang="en-US" sz="2000" dirty="0"/>
              <a:t> are the </a:t>
            </a:r>
            <a:r>
              <a:rPr lang="en-US" sz="2000" i="1" dirty="0"/>
              <a:t>operand</a:t>
            </a:r>
            <a:r>
              <a:rPr lang="en-US" sz="2000" dirty="0"/>
              <a:t> - which mailbox to do it to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If the instruction is 107</a:t>
            </a:r>
          </a:p>
          <a:p>
            <a:pPr marL="1200150" lvl="2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The opcode 1 represents ADD</a:t>
            </a:r>
          </a:p>
          <a:p>
            <a:pPr marL="1200150" lvl="2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The 07 represents mailbox 7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2F5797-C5C2-F79D-9BB3-8E63820B9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559C2527-AA75-DC6C-3DE0-58C7D385A4B6}"/>
              </a:ext>
            </a:extLst>
          </p:cNvPr>
          <p:cNvSpPr/>
          <p:nvPr/>
        </p:nvSpPr>
        <p:spPr>
          <a:xfrm>
            <a:off x="7819155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36A84F1-9CA0-A5B5-365D-82E3E22375E2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C5EFFD4-2377-AE9C-65F7-9080778BC553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BD9A6632-69E5-184F-8128-055B31A220C4}"/>
              </a:ext>
            </a:extLst>
          </p:cNvPr>
          <p:cNvSpPr/>
          <p:nvPr/>
        </p:nvSpPr>
        <p:spPr>
          <a:xfrm>
            <a:off x="112344" y="93525"/>
            <a:ext cx="8500000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THE INSTRUCTION SET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35DBAE5-3EC0-E2CB-86CD-D349003647B3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Three commands that talk to the outside world, and one that stops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DC9E651-E5AC-6C91-3213-4B43F6FE633C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A515768-612F-D746-DFF9-0127CFFA14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3890299"/>
              </p:ext>
            </p:extLst>
          </p:nvPr>
        </p:nvGraphicFramePr>
        <p:xfrm>
          <a:off x="2072640" y="2280000"/>
          <a:ext cx="8046720" cy="159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0000">
                <a:tc>
                  <a:txBody>
                    <a:bodyPr/>
                    <a:lstStyle/>
                    <a:p>
                      <a:r>
                        <a:rPr lang="en-US" sz="1600" b="1" dirty="0"/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WHAT IT DOES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lang="en-US" sz="1600" dirty="0"/>
                        <a:t>901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INP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Take a number from the in-tray into the calculator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lang="en-US" sz="1600" dirty="0"/>
                        <a:t>902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Copy the calculator into the out-tray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lang="en-US" sz="1600" dirty="0"/>
                        <a:t>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HLT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Stops the program immediately. Do not pass go. Do not collect $200.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3805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2F5797-C5C2-F79D-9BB3-8E63820B9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559C2527-AA75-DC6C-3DE0-58C7D385A4B6}"/>
              </a:ext>
            </a:extLst>
          </p:cNvPr>
          <p:cNvSpPr/>
          <p:nvPr/>
        </p:nvSpPr>
        <p:spPr>
          <a:xfrm>
            <a:off x="7837007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36A84F1-9CA0-A5B5-365D-82E3E22375E2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C5EFFD4-2377-AE9C-65F7-9080778BC553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BD9A6632-69E5-184F-8128-055B31A220C4}"/>
              </a:ext>
            </a:extLst>
          </p:cNvPr>
          <p:cNvSpPr/>
          <p:nvPr/>
        </p:nvSpPr>
        <p:spPr>
          <a:xfrm>
            <a:off x="112344" y="93525"/>
            <a:ext cx="8500000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THE INSTRUCTION SET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35DBAE5-3EC0-E2CB-86CD-D349003647B3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Four opcodes that move numbers around and do the arithmetic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DC9E651-E5AC-6C91-3213-4B43F6FE633C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A515768-612F-D746-DFF9-0127CFFA14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4730903"/>
              </p:ext>
            </p:extLst>
          </p:nvPr>
        </p:nvGraphicFramePr>
        <p:xfrm>
          <a:off x="2072640" y="2280000"/>
          <a:ext cx="8046720" cy="17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0000">
                <a:tc>
                  <a:txBody>
                    <a:bodyPr/>
                    <a:lstStyle/>
                    <a:p>
                      <a:r>
                        <a:rPr lang="en-US" sz="1600" b="1" dirty="0"/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WHAT IT DOES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lang="en-US" sz="1600" dirty="0"/>
                        <a:t>5xx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LDA 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Load mailbox xx into the calculator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lang="en-US" sz="1600" dirty="0"/>
                        <a:t>3xx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STA 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Store the calculator into mailbox xx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lang="en-US" sz="1600" dirty="0"/>
                        <a:t>1xx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ADD 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Add mailbox xx to the calculator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lang="en-US" sz="1600" dirty="0"/>
                        <a:t>2xx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SUB 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Subtract mailbox xx from the calculator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3805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2F5797-C5C2-F79D-9BB3-8E63820B9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559C2527-AA75-DC6C-3DE0-58C7D385A4B6}"/>
              </a:ext>
            </a:extLst>
          </p:cNvPr>
          <p:cNvSpPr/>
          <p:nvPr/>
        </p:nvSpPr>
        <p:spPr>
          <a:xfrm>
            <a:off x="7837007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36A84F1-9CA0-A5B5-365D-82E3E22375E2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C5EFFD4-2377-AE9C-65F7-9080778BC553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BD9A6632-69E5-184F-8128-055B31A220C4}"/>
              </a:ext>
            </a:extLst>
          </p:cNvPr>
          <p:cNvSpPr/>
          <p:nvPr/>
        </p:nvSpPr>
        <p:spPr>
          <a:xfrm>
            <a:off x="112344" y="93525"/>
            <a:ext cx="8500000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THE INSTRUCTION SET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35DBAE5-3EC0-E2CB-86CD-D349003647B3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Three opcodes that change the </a:t>
            </a:r>
            <a:r>
              <a:rPr lang="en-US" sz="2000" b="1" dirty="0"/>
              <a:t>counter</a:t>
            </a:r>
            <a:r>
              <a:rPr lang="en-US" sz="2000" dirty="0"/>
              <a:t> - and these are the ones that make it a computer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DC9E651-E5AC-6C91-3213-4B43F6FE633C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A515768-612F-D746-DFF9-0127CFFA14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4730903"/>
              </p:ext>
            </p:extLst>
          </p:nvPr>
        </p:nvGraphicFramePr>
        <p:xfrm>
          <a:off x="2072640" y="2280000"/>
          <a:ext cx="8046720" cy="1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0000">
                <a:tc>
                  <a:txBody>
                    <a:bodyPr/>
                    <a:lstStyle/>
                    <a:p>
                      <a:r>
                        <a:rPr lang="en-US" sz="1600" b="1" dirty="0"/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WHAT IT DOES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lang="en-US" sz="1600" dirty="0"/>
                        <a:t>6xx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BRA 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Set the counter to xx. Always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lang="en-US" sz="1600" dirty="0"/>
                        <a:t>7xx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BRZ 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Set the counter to xx, but only if the calculator is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lang="en-US" sz="1600" dirty="0"/>
                        <a:t>8xx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BRP 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Set the counter to xx, but only if the calculator is 0 </a:t>
                      </a:r>
                      <a:r>
                        <a:rPr lang="en-US" sz="1600" i="1" dirty="0"/>
                        <a:t>or more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3805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0C4AD8-4522-D1D7-2731-FE364CF53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88C56A53-6FC9-6CC4-F621-6E1D7F37885B}"/>
              </a:ext>
            </a:extLst>
          </p:cNvPr>
          <p:cNvSpPr/>
          <p:nvPr/>
        </p:nvSpPr>
        <p:spPr>
          <a:xfrm>
            <a:off x="7819155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A18E056-BAB6-76B4-C61B-9C037DD0DFEE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B9E2DE3-3B98-DD4A-C141-E2F67E6BA78D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18DDE944-EE68-BAF1-7853-41BA3B1D155C}"/>
              </a:ext>
            </a:extLst>
          </p:cNvPr>
          <p:cNvSpPr/>
          <p:nvPr/>
        </p:nvSpPr>
        <p:spPr>
          <a:xfrm>
            <a:off x="112344" y="93525"/>
            <a:ext cx="8500000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THE INSTRUCTION SET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7305160-D256-E75A-7A8F-4AFDA95C2932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What do you think the names of these opcodes mean?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CA13057-D946-B50D-0AF8-76B24D447FC6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1622C6A-F9D0-DE79-5BAD-F6D2BF85E12A}"/>
              </a:ext>
            </a:extLst>
          </p:cNvPr>
          <p:cNvGraphicFramePr>
            <a:graphicFrameLocks noGrp="1"/>
          </p:cNvGraphicFramePr>
          <p:nvPr/>
        </p:nvGraphicFramePr>
        <p:xfrm>
          <a:off x="2072640" y="2280000"/>
          <a:ext cx="8046720" cy="1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0000">
                <a:tc>
                  <a:txBody>
                    <a:bodyPr/>
                    <a:lstStyle/>
                    <a:p>
                      <a:r>
                        <a:rPr lang="en-US" sz="1600" b="1" dirty="0"/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WHAT IT DOES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lang="en-US" sz="1600" dirty="0"/>
                        <a:t>6xx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BRA 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Set the counter to xx. Always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lang="en-US" sz="1600" dirty="0"/>
                        <a:t>7xx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BRZ 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Set the counter to xx, but only if the calculator is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lang="en-US" sz="1600" dirty="0"/>
                        <a:t>8xx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BRP 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Set the counter to xx, but only if the calculator is 0 </a:t>
                      </a:r>
                      <a:r>
                        <a:rPr lang="en-US" sz="1600" i="1" dirty="0"/>
                        <a:t>or more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7797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4619155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5300000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QUICK MATHS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4" y="1695457"/>
            <a:ext cx="3294430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Decode these. Opcode first, then the mailbox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902      199      000      705      310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Then go the other way and give me the three digits for these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LDA 20      SUB 21      BRP 02      OUT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→ LAB Q1 and Q2 - do them now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48F2037-55D7-3B1E-93A7-3BAC83A8D0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3134180"/>
              </p:ext>
            </p:extLst>
          </p:nvPr>
        </p:nvGraphicFramePr>
        <p:xfrm>
          <a:off x="3915968" y="1695457"/>
          <a:ext cx="8046720" cy="39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0000">
                <a:tc>
                  <a:txBody>
                    <a:bodyPr/>
                    <a:lstStyle/>
                    <a:p>
                      <a:r>
                        <a:rPr lang="en-US" sz="1600" b="1" dirty="0"/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WHAT IT DOES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lang="en-US" sz="1600" dirty="0"/>
                        <a:t>901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INP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Take a number from the in-tray into the calculator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lang="en-US" sz="1600" dirty="0"/>
                        <a:t>902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Copy the calculator into the out-tray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lang="en-US" sz="1600" dirty="0"/>
                        <a:t>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HLT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Stops the program immediately. Do not pass go. Do not collect $200.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lang="en-US" sz="1600" dirty="0"/>
                        <a:t>5xx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LDA 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Load mailbox xx into the calculator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9473557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lang="en-US" sz="1600" dirty="0"/>
                        <a:t>3xx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STA 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Store the calculator into mailbox xx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5074903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lang="en-US" sz="1600" dirty="0"/>
                        <a:t>1xx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ADD 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Add mailbox xx to the calculator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6808177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lang="en-US" sz="1600" dirty="0"/>
                        <a:t>2xx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SUB 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Subtract mailbox xx from the calculator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8428643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lang="en-US" sz="1600" dirty="0"/>
                        <a:t>6xx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BRA 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Set the counter to xx. Always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9035128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lang="en-US" sz="1600" dirty="0"/>
                        <a:t>7xx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BRZ 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Set the counter to xx, but only if the calculator is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633740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lang="en-US" sz="1600" dirty="0"/>
                        <a:t>8xx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BRP 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Set the counter to xx, but only if the calculator is 0 </a:t>
                      </a:r>
                      <a:r>
                        <a:rPr lang="en-US" sz="1600" i="1" dirty="0"/>
                        <a:t>or more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6738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9019155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9700000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FETCH, DECODE, EXECUTE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The little man repeats </a:t>
            </a:r>
            <a:r>
              <a:rPr lang="en-US" sz="2000" b="1" dirty="0"/>
              <a:t>three steps</a:t>
            </a:r>
            <a:r>
              <a:rPr lang="en-US" sz="2000" dirty="0"/>
              <a:t> forever, until something halts him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FETCH</a:t>
            </a:r>
            <a:r>
              <a:rPr lang="en-US" sz="2000" dirty="0"/>
              <a:t> - go and get the instruction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DECODE</a:t>
            </a:r>
            <a:r>
              <a:rPr lang="en-US" sz="2000" dirty="0"/>
              <a:t> - work out what it means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EXECUTE</a:t>
            </a:r>
            <a:r>
              <a:rPr lang="en-US" sz="2000" dirty="0"/>
              <a:t> - do it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Then back to the top. Every computer you own is doing this right now, billions of times a second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2219155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2900000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FETCH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Read the </a:t>
            </a:r>
            <a:r>
              <a:rPr lang="en-US" sz="2000" b="1" dirty="0"/>
              <a:t>counter</a:t>
            </a:r>
            <a:r>
              <a:rPr lang="en-US" sz="2000" dirty="0"/>
              <a:t> to find out which mailbox to open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Open it and copy the three digits onto your slip of paper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Then </a:t>
            </a:r>
            <a:r>
              <a:rPr lang="en-US" sz="2000" b="1" dirty="0"/>
              <a:t>add one to the counter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He increments the counter </a:t>
            </a:r>
            <a:r>
              <a:rPr lang="en-US" sz="2000" i="1" dirty="0"/>
              <a:t>during</a:t>
            </a:r>
            <a:r>
              <a:rPr lang="en-US" sz="2000" dirty="0"/>
              <a:t> fetch, </a:t>
            </a:r>
            <a:r>
              <a:rPr lang="en-US" sz="2000" u="sng" dirty="0"/>
              <a:t>before</a:t>
            </a:r>
            <a:r>
              <a:rPr lang="en-US" sz="2000" dirty="0"/>
              <a:t> he has done anything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2619155" y="-260390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3300000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DECODE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3276657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Look at the </a:t>
            </a:r>
            <a:r>
              <a:rPr lang="en-US" sz="2000" b="1" dirty="0"/>
              <a:t>first digit</a:t>
            </a:r>
            <a:r>
              <a:rPr lang="en-US" sz="2000" dirty="0"/>
              <a:t> of the slip. That tells you which job this is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Look at the </a:t>
            </a:r>
            <a:r>
              <a:rPr lang="en-US" sz="2000" b="1" dirty="0"/>
              <a:t>last two</a:t>
            </a:r>
            <a:r>
              <a:rPr lang="en-US" sz="2000" dirty="0"/>
              <a:t>. That tells you which mailbox to use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He does not need to understand the program, just this one slip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9 is special: 901 and 902 use the last two digits as the job, not as an address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C9CCA9D-A203-C845-565B-79FBFE1D32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5415794"/>
              </p:ext>
            </p:extLst>
          </p:nvPr>
        </p:nvGraphicFramePr>
        <p:xfrm>
          <a:off x="3803601" y="2182708"/>
          <a:ext cx="8046720" cy="39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0000">
                <a:tc>
                  <a:txBody>
                    <a:bodyPr/>
                    <a:lstStyle/>
                    <a:p>
                      <a:r>
                        <a:rPr lang="en-US" sz="1600" b="1" dirty="0"/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WHAT IT DOES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lang="en-US" sz="1600" dirty="0"/>
                        <a:t>901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INP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Take a number from the in-tray into the calculator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lang="en-US" sz="1600" dirty="0"/>
                        <a:t>902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Copy the calculator into the out-tray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lang="en-US" sz="1600" dirty="0"/>
                        <a:t>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HLT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Stops the program immediately. Do not pass go. Do not collect $200.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lang="en-US" sz="1600" dirty="0"/>
                        <a:t>5xx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LDA 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Load mailbox xx into the calculator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9473557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lang="en-US" sz="1600" dirty="0"/>
                        <a:t>3xx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STA 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Store the calculator into mailbox xx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5074903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lang="en-US" sz="1600" dirty="0"/>
                        <a:t>1xx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ADD 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Add mailbox xx to the calculator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6808177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lang="en-US" sz="1600" dirty="0"/>
                        <a:t>2xx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SUB 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Subtract mailbox xx from the calculator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8428643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lang="en-US" sz="1600" dirty="0"/>
                        <a:t>6xx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BRA 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Set the counter to xx. Always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9035128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lang="en-US" sz="1600" dirty="0"/>
                        <a:t>7xx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BRZ 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Set the counter to xx, but only if the calculator is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633740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lang="en-US" sz="1600" dirty="0"/>
                        <a:t>8xx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BRP 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Set the counter to xx, but only if the calculator is 0 </a:t>
                      </a:r>
                      <a:r>
                        <a:rPr lang="en-US" sz="1600" i="1" dirty="0"/>
                        <a:t>or more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6738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3019155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3700000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EXECUTE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Do the one thing the slip says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Load, store, add, subtract, in, out, branch, or halt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Then throw the slip away and go back to FETCH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He remembers </a:t>
            </a:r>
            <a:r>
              <a:rPr lang="en-US" sz="2000" b="1" dirty="0"/>
              <a:t>nothing</a:t>
            </a:r>
            <a:r>
              <a:rPr lang="en-US" sz="2000" dirty="0"/>
              <a:t> except what’s on the calculator and the counter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7019155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7700000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THE ORDER MATTERS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The counter went up </a:t>
            </a:r>
            <a:r>
              <a:rPr lang="en-US" sz="2000" i="1" dirty="0"/>
              <a:t>during</a:t>
            </a:r>
            <a:r>
              <a:rPr lang="en-US" sz="2000" dirty="0"/>
              <a:t> fetch. So by execute time it already points at the </a:t>
            </a:r>
            <a:r>
              <a:rPr lang="en-US" sz="2000" b="1" dirty="0"/>
              <a:t>next</a:t>
            </a:r>
            <a:r>
              <a:rPr lang="en-US" sz="2000" dirty="0"/>
              <a:t> instruction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Now look at what a branch does: it </a:t>
            </a:r>
            <a:r>
              <a:rPr lang="en-US" sz="2000" b="1" dirty="0"/>
              <a:t>overwrites the counter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The increment already happened, so the branch simply overrides this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That is how a loop is possible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If he incremented </a:t>
            </a:r>
            <a:r>
              <a:rPr lang="en-US" sz="2000" i="1" dirty="0"/>
              <a:t>after</a:t>
            </a:r>
            <a:r>
              <a:rPr lang="en-US" sz="2000" dirty="0"/>
              <a:t> execute instead, every branch would land one mailbox late and nothing would work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2F5797-C5C2-F79D-9BB3-8E63820B9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559C2527-AA75-DC6C-3DE0-58C7D385A4B6}"/>
              </a:ext>
            </a:extLst>
          </p:cNvPr>
          <p:cNvSpPr/>
          <p:nvPr/>
        </p:nvSpPr>
        <p:spPr>
          <a:xfrm>
            <a:off x="3819155" y="-236116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36A84F1-9CA0-A5B5-365D-82E3E22375E2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C5EFFD4-2377-AE9C-65F7-9080778BC553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BD9A6632-69E5-184F-8128-055B31A220C4}"/>
              </a:ext>
            </a:extLst>
          </p:cNvPr>
          <p:cNvSpPr/>
          <p:nvPr/>
        </p:nvSpPr>
        <p:spPr>
          <a:xfrm>
            <a:off x="112344" y="93525"/>
            <a:ext cx="4500000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PROGRAM 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35DBAE5-3EC0-E2CB-86CD-D349003647B3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Six instructions. Read it before I run it and tell me what you think it does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DC9E651-E5AC-6C91-3213-4B43F6FE633C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A515768-612F-D746-DFF9-0127CFFA14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4730903"/>
              </p:ext>
            </p:extLst>
          </p:nvPr>
        </p:nvGraphicFramePr>
        <p:xfrm>
          <a:off x="2072640" y="2280000"/>
          <a:ext cx="8046720" cy="23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0000">
                <a:tc>
                  <a:txBody>
                    <a:bodyPr/>
                    <a:lstStyle/>
                    <a:p>
                      <a:r>
                        <a:rPr lang="en-US" sz="1600" b="1" dirty="0"/>
                        <a:t>ADDR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INSTR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WHAT IT MEANS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lang="en-US" sz="1600" dirty="0"/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INP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First number into the calculator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lang="en-US" sz="1600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STA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Park it in mailbox 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lang="en-US" sz="1600" dirty="0"/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INP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Second number into the calculator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lang="en-US" sz="1600" dirty="0"/>
                        <a:t>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ADD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Add the parked one back 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lang="en-US" sz="1600" dirty="0"/>
                        <a:t>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Put the answer in the out-tray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lang="en-US" sz="1600" dirty="0"/>
                        <a:t>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HLT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Stop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3805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2F5797-C5C2-F79D-9BB3-8E63820B9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559C2527-AA75-DC6C-3DE0-58C7D385A4B6}"/>
              </a:ext>
            </a:extLst>
          </p:cNvPr>
          <p:cNvSpPr/>
          <p:nvPr/>
        </p:nvSpPr>
        <p:spPr>
          <a:xfrm>
            <a:off x="7837007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36A84F1-9CA0-A5B5-365D-82E3E22375E2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C5EFFD4-2377-AE9C-65F7-9080778BC553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BD9A6632-69E5-184F-8128-055B31A220C4}"/>
              </a:ext>
            </a:extLst>
          </p:cNvPr>
          <p:cNvSpPr/>
          <p:nvPr/>
        </p:nvSpPr>
        <p:spPr>
          <a:xfrm>
            <a:off x="112344" y="93525"/>
            <a:ext cx="8500000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PROGRAM A: TRACE IT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35DBAE5-3EC0-E2CB-86CD-D349003647B3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Inputs are </a:t>
            </a:r>
            <a:r>
              <a:rPr lang="en-US" sz="2000" b="1" dirty="0"/>
              <a:t>4</a:t>
            </a:r>
            <a:r>
              <a:rPr lang="en-US" sz="2000" dirty="0"/>
              <a:t> then </a:t>
            </a:r>
            <a:r>
              <a:rPr lang="en-US" sz="2000" b="1" dirty="0"/>
              <a:t>7</a:t>
            </a:r>
            <a:r>
              <a:rPr lang="en-US" sz="2000" dirty="0"/>
              <a:t>. We fill this in together, one row per fetch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The accumulator column is the one to watch. It only ever holds one number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→ LAB Q3 - fill in your copy as we go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DC9E651-E5AC-6C91-3213-4B43F6FE633C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A515768-612F-D746-DFF9-0127CFFA14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4730903"/>
              </p:ext>
            </p:extLst>
          </p:nvPr>
        </p:nvGraphicFramePr>
        <p:xfrm>
          <a:off x="3672840" y="2940000"/>
          <a:ext cx="4846320" cy="250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0000">
                <a:tc>
                  <a:txBody>
                    <a:bodyPr/>
                    <a:lstStyle/>
                    <a:p>
                      <a:r>
                        <a:rPr lang="en-US" sz="1600" b="1" dirty="0"/>
                        <a:t>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INSTR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OUT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lang="en-US" sz="1600" dirty="0"/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INP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lang="en-US" sz="1600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STA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lang="en-US" sz="1600" dirty="0"/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INP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lang="en-US" sz="1600" dirty="0"/>
                        <a:t>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ADD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lang="en-US" sz="1600" dirty="0"/>
                        <a:t>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lang="en-US" sz="1600" dirty="0"/>
                        <a:t>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HLT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3805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8630196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9300000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PROGRAM A: THE ANSWER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The calculator goes 4, then 4, then </a:t>
            </a:r>
            <a:r>
              <a:rPr lang="en-US" sz="2000" b="1" dirty="0"/>
              <a:t>7</a:t>
            </a:r>
            <a:r>
              <a:rPr lang="en-US" sz="2000" dirty="0"/>
              <a:t>, then </a:t>
            </a:r>
            <a:r>
              <a:rPr lang="en-US" sz="2000" b="1" dirty="0"/>
              <a:t>11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Out-tray: </a:t>
            </a:r>
            <a:r>
              <a:rPr lang="en-US" sz="2000" b="1" dirty="0"/>
              <a:t>11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It adds two numbers. Six instructions, and one of them is just "stop"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Notice mailbox 10 was only ever needed because the calculator holds </a:t>
            </a:r>
            <a:r>
              <a:rPr lang="en-US" sz="2000" i="1" dirty="0"/>
              <a:t>one</a:t>
            </a:r>
            <a:r>
              <a:rPr lang="en-US" sz="2000" dirty="0"/>
              <a:t> number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8619155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9300000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SIMULATOR: TYPE IT IN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On your laptops, go to </a:t>
            </a:r>
            <a:r>
              <a:rPr lang="en-US" sz="2000" b="1" dirty="0"/>
              <a:t>peterhigginson.co.uk/lmc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Type Program A into mailboxes (RAM) 00 to 05, then hit run and feed it 4 and 7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Ignore the Assembly Language Code box for now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Watch the counter and the accumulator while it steps. That is your trace, animated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→ LAB Q4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9419155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10100000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SIMULATOR: NOW BREAK IT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Change the </a:t>
            </a:r>
            <a:r>
              <a:rPr lang="en-US" sz="2000" b="1" dirty="0"/>
              <a:t>902</a:t>
            </a:r>
            <a:r>
              <a:rPr lang="en-US" sz="2000" dirty="0"/>
              <a:t> at mailbox 04 into a </a:t>
            </a:r>
            <a:r>
              <a:rPr lang="en-US" sz="2000" b="1" dirty="0"/>
              <a:t>901</a:t>
            </a:r>
            <a:r>
              <a:rPr lang="en-US" sz="2000" dirty="0"/>
              <a:t> and run it again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What happens, and </a:t>
            </a:r>
            <a:r>
              <a:rPr lang="en-US" sz="2000" i="1" dirty="0"/>
              <a:t>why</a:t>
            </a:r>
            <a:r>
              <a:rPr lang="en-US" sz="2000" dirty="0"/>
              <a:t> does it happen?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It is now asking the in-tray for a number instead of putting one in the out-tray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The little man does not notice, complain, or stop. He never does.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2F5797-C5C2-F79D-9BB3-8E63820B9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559C2527-AA75-DC6C-3DE0-58C7D385A4B6}"/>
              </a:ext>
            </a:extLst>
          </p:cNvPr>
          <p:cNvSpPr/>
          <p:nvPr/>
        </p:nvSpPr>
        <p:spPr>
          <a:xfrm>
            <a:off x="3819155" y="-236116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36A84F1-9CA0-A5B5-365D-82E3E22375E2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C5EFFD4-2377-AE9C-65F7-9080778BC553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BD9A6632-69E5-184F-8128-055B31A220C4}"/>
              </a:ext>
            </a:extLst>
          </p:cNvPr>
          <p:cNvSpPr/>
          <p:nvPr/>
        </p:nvSpPr>
        <p:spPr>
          <a:xfrm>
            <a:off x="112344" y="93525"/>
            <a:ext cx="4500000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PROGRAM B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35DBAE5-3EC0-E2CB-86CD-D349003647B3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Eight instructions this time, and two mailboxes holding data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DC9E651-E5AC-6C91-3213-4B43F6FE633C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A515768-612F-D746-DFF9-0127CFFA14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4730903"/>
              </p:ext>
            </p:extLst>
          </p:nvPr>
        </p:nvGraphicFramePr>
        <p:xfrm>
          <a:off x="2072640" y="2280000"/>
          <a:ext cx="8046720" cy="37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0000">
                <a:tc>
                  <a:txBody>
                    <a:bodyPr/>
                    <a:lstStyle/>
                    <a:p>
                      <a:r>
                        <a:rPr lang="en-US" sz="1600" b="1" dirty="0"/>
                        <a:t>ADDR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INSTR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WHAT IT MEANS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lang="en-US" sz="1600" dirty="0"/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INP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Get a number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lang="en-US" sz="1600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STA 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Park it in mailbox 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lang="en-US" sz="1600" dirty="0"/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LDA 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Load it back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lang="en-US" sz="1600" dirty="0"/>
                        <a:t>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Output 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lang="en-US" sz="1600" dirty="0"/>
                        <a:t>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SUB 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Take away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lang="en-US" sz="1600" dirty="0"/>
                        <a:t>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STA 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Park the new 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lang="en-US" sz="1600" dirty="0"/>
                        <a:t>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802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BRP 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If 0 or more, go back to 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lang="en-US" sz="1600" dirty="0"/>
                        <a:t>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HLT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Stop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lang="en-US" sz="16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The running 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lang="en-US" sz="1600" dirty="0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The constant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3805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10083355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3" y="93525"/>
            <a:ext cx="10764201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PROGRAM B: THE BACKWARDS JUMP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Mailbox 20 holds the </a:t>
            </a:r>
            <a:r>
              <a:rPr lang="en-US" sz="2000" b="1" dirty="0"/>
              <a:t>running value</a:t>
            </a:r>
            <a:r>
              <a:rPr lang="en-US" sz="2000" dirty="0"/>
              <a:t>. Mailbox 21 holds the constant </a:t>
            </a:r>
            <a:r>
              <a:rPr lang="en-US" sz="2000" b="1" dirty="0"/>
              <a:t>001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Everything up to 05 is ordinary. Then </a:t>
            </a:r>
            <a:r>
              <a:rPr lang="en-US" sz="2000" b="1" dirty="0"/>
              <a:t>BRP 02</a:t>
            </a:r>
            <a:r>
              <a:rPr lang="en-US" sz="2000" dirty="0"/>
              <a:t> sends the counter </a:t>
            </a:r>
            <a:r>
              <a:rPr lang="en-US" sz="2000" i="1" dirty="0"/>
              <a:t>backwards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06 is at a higher address than 02, so the program repeats a section it has already run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That is a </a:t>
            </a:r>
            <a:r>
              <a:rPr lang="en-US" sz="2000" b="1" dirty="0"/>
              <a:t>loop</a:t>
            </a:r>
            <a:r>
              <a:rPr lang="en-US" sz="2000" dirty="0"/>
              <a:t>, and it is made of one instruction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7819155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8500000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PROGRAM B: TRACE IT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Type 3 in as your input. Trace it yourself and tell me the full out-tray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BRP</a:t>
            </a:r>
            <a:r>
              <a:rPr lang="en-US" sz="2000" dirty="0"/>
              <a:t> jumps when the accumulator is zero </a:t>
            </a:r>
            <a:r>
              <a:rPr lang="en-US" sz="2000" i="1" dirty="0"/>
              <a:t>or more</a:t>
            </a:r>
            <a:r>
              <a:rPr lang="en-US" sz="2000" dirty="0"/>
              <a:t> - so watch what happens at 0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It takes 23 fetches to finish. You do not need all 23 rows, just the outputs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→ LAB Q5, parts a to c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3419155" y="-236116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4100000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SABOTAGE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Flip to the back of your page. Program A is printed on it, working, all six instructions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Secretly change </a:t>
            </a:r>
            <a:r>
              <a:rPr lang="en-US" sz="2000" b="1" dirty="0"/>
              <a:t>exactly one digit</a:t>
            </a:r>
            <a:r>
              <a:rPr lang="en-US" sz="2000" dirty="0"/>
              <a:t>. Not one instruction - one </a:t>
            </a:r>
            <a:r>
              <a:rPr lang="en-US" sz="2000" i="1" dirty="0"/>
              <a:t>digit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Swap sheets. Your partner traces it and has to find the digit you changed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If they find it, they win. 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If your change made </a:t>
            </a:r>
            <a:r>
              <a:rPr lang="en-US" sz="2000" b="1" dirty="0"/>
              <a:t>no difference at all</a:t>
            </a:r>
            <a:r>
              <a:rPr lang="en-US" sz="2000" dirty="0"/>
              <a:t>, you lose too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→ LAB Q6, parts a to 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9419155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10100000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SABOTAGE: THE GOOD ONES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Changing </a:t>
            </a:r>
            <a:r>
              <a:rPr lang="en-US" sz="2000" b="1" dirty="0"/>
              <a:t>902</a:t>
            </a:r>
            <a:r>
              <a:rPr lang="en-US" sz="2000" dirty="0"/>
              <a:t> to </a:t>
            </a:r>
            <a:r>
              <a:rPr lang="en-US" sz="2000" b="1" dirty="0"/>
              <a:t>901</a:t>
            </a:r>
            <a:r>
              <a:rPr lang="en-US" sz="2000" dirty="0"/>
              <a:t> is obvious - nothing comes out at all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Changing </a:t>
            </a:r>
            <a:r>
              <a:rPr lang="en-US" sz="2000" b="1" dirty="0"/>
              <a:t>ADD 10</a:t>
            </a:r>
            <a:r>
              <a:rPr lang="en-US" sz="2000" dirty="0"/>
              <a:t> to </a:t>
            </a:r>
            <a:r>
              <a:rPr lang="en-US" sz="2000" b="1" dirty="0"/>
              <a:t>ADD 11</a:t>
            </a:r>
            <a:r>
              <a:rPr lang="en-US" sz="2000" dirty="0"/>
              <a:t> is nasty. It still outputs a number. The number is just </a:t>
            </a:r>
            <a:r>
              <a:rPr lang="en-US" sz="2000" i="1" dirty="0"/>
              <a:t>wrong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And one change does </a:t>
            </a:r>
            <a:r>
              <a:rPr lang="en-US" sz="2000" b="1" dirty="0"/>
              <a:t>nothing whatsoever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Mailbox 10 gets overwritten by STA before ADD ever reads it, so whatever you preset it to is thrown away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That one is part d, and it is the best question on the sheet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5419155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6100000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MECHANIC BANK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Go to your tab of the mechanic bank, entry </a:t>
            </a:r>
            <a:r>
              <a:rPr lang="en-US" sz="2000" b="1" dirty="0"/>
              <a:t>#4</a:t>
            </a:r>
            <a:r>
              <a:rPr lang="en-US" sz="2000" dirty="0"/>
              <a:t>. Two mechanics built on </a:t>
            </a:r>
            <a:r>
              <a:rPr lang="en-US" sz="2000" b="1" dirty="0"/>
              <a:t>instruction execution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Not a mechanic: players take turns in order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Every game does that. It is a turn structure, not a concept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Mechanic: you </a:t>
            </a:r>
            <a:r>
              <a:rPr lang="en-US" sz="2000" b="1" dirty="0"/>
              <a:t>program your robot</a:t>
            </a:r>
            <a:r>
              <a:rPr lang="en-US" sz="2000" dirty="0"/>
              <a:t> with four face-down cards, then it executes them blindly while the board changes underneath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Mechanic: you may </a:t>
            </a:r>
            <a:r>
              <a:rPr lang="en-US" sz="2000" b="1" dirty="0"/>
              <a:t>sabotage one instruction</a:t>
            </a:r>
            <a:r>
              <a:rPr lang="en-US" sz="2000" dirty="0"/>
              <a:t> in an opponent’s program, and they only find out by running it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You just played that second one. It is on the back of your sheet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3819155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4500000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LAB GRADE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Your lab for today is </a:t>
            </a:r>
            <a:r>
              <a:rPr lang="en-US" sz="2000" b="1" dirty="0"/>
              <a:t>ICA 1-5 - Be the Computer</a:t>
            </a:r>
            <a:r>
              <a:rPr lang="en-US" sz="2000" dirty="0"/>
              <a:t>, and it is on the GitHub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Every question had class time. If you are behind, it is homework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3019155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3700000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CLOSING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Four things in the room: mailboxes, a calculator, a counter, two trays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Three steps: </a:t>
            </a:r>
            <a:r>
              <a:rPr lang="en-US" sz="2000" b="1" dirty="0"/>
              <a:t>fetch</a:t>
            </a:r>
            <a:r>
              <a:rPr lang="en-US" sz="2000" dirty="0"/>
              <a:t>, </a:t>
            </a:r>
            <a:r>
              <a:rPr lang="en-US" sz="2000" b="1" dirty="0"/>
              <a:t>decode</a:t>
            </a:r>
            <a:r>
              <a:rPr lang="en-US" sz="2000" dirty="0"/>
              <a:t>, </a:t>
            </a:r>
            <a:r>
              <a:rPr lang="en-US" sz="2000" b="1" dirty="0"/>
              <a:t>execute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One number decides the order of everything, and any instruction is allowed to overwrite it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i="1" dirty="0"/>
              <a:t>Next time: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We stop learning concepts and start choosing one. The game design claim grid is revealed, and no two of you can build the same thing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MYP Custom">
      <a:dk1>
        <a:srgbClr val="4B5358"/>
      </a:dk1>
      <a:lt1>
        <a:sysClr val="window" lastClr="FFFFFF"/>
      </a:lt1>
      <a:dk2>
        <a:srgbClr val="4B5358"/>
      </a:dk2>
      <a:lt2>
        <a:srgbClr val="E8E8E8"/>
      </a:lt2>
      <a:accent1>
        <a:srgbClr val="60B2E5"/>
      </a:accent1>
      <a:accent2>
        <a:srgbClr val="F49390"/>
      </a:accent2>
      <a:accent3>
        <a:srgbClr val="AEF6C7"/>
      </a:accent3>
      <a:accent4>
        <a:srgbClr val="FFC857"/>
      </a:accent4>
      <a:accent5>
        <a:srgbClr val="96607D"/>
      </a:accent5>
      <a:accent6>
        <a:srgbClr val="467886"/>
      </a:accent6>
      <a:hlink>
        <a:srgbClr val="0070C0"/>
      </a:hlink>
      <a:folHlink>
        <a:srgbClr val="002060"/>
      </a:folHlink>
    </a:clrScheme>
    <a:fontScheme name="Custom 1">
      <a:majorFont>
        <a:latin typeface="Bahnschrift"/>
        <a:ea typeface=""/>
        <a:cs typeface=""/>
      </a:majorFont>
      <a:minorFont>
        <a:latin typeface="Bahnschrif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75000"/>
          </a:schemeClr>
        </a:solidFill>
        <a:ln w="76200">
          <a:solidFill>
            <a:schemeClr val="accent2">
              <a:lumMod val="50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420</TotalTime>
  <Words>2131</Words>
  <Application>Microsoft Office PowerPoint</Application>
  <PresentationFormat>Widescreen</PresentationFormat>
  <Paragraphs>379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Bahnschrift</vt:lpstr>
      <vt:lpstr>Chiller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6</cp:revision>
  <dcterms:created xsi:type="dcterms:W3CDTF">2026-08-13T18:52:07Z</dcterms:created>
  <dcterms:modified xsi:type="dcterms:W3CDTF">2026-08-18T18:40:23Z</dcterms:modified>
</cp:coreProperties>
</file>