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2172A6-1172-4D72-9CEF-D394D3727CCF}" v="2" dt="2026-08-14T20:41:21.7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105" d="100"/>
          <a:sy n="105" d="100"/>
        </p:scale>
        <p:origin x="720"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Hill" userId="41dba03d-e58d-4389-9894-554c10310ba4" providerId="ADAL" clId="{EF23FE1D-A042-481E-AFD7-2A9FB0847F54}"/>
    <pc:docChg chg="custSel addSld modSld">
      <pc:chgData name="Michael Hill" userId="41dba03d-e58d-4389-9894-554c10310ba4" providerId="ADAL" clId="{EF23FE1D-A042-481E-AFD7-2A9FB0847F54}" dt="2026-08-14T20:41:21.748" v="426"/>
      <pc:docMkLst>
        <pc:docMk/>
      </pc:docMkLst>
      <pc:sldChg chg="modSp mod">
        <pc:chgData name="Michael Hill" userId="41dba03d-e58d-4389-9894-554c10310ba4" providerId="ADAL" clId="{EF23FE1D-A042-481E-AFD7-2A9FB0847F54}" dt="2026-08-14T20:37:43.441" v="36" actId="20577"/>
        <pc:sldMkLst>
          <pc:docMk/>
          <pc:sldMk cId="3346394562" sldId="256"/>
        </pc:sldMkLst>
        <pc:spChg chg="mod">
          <ac:chgData name="Michael Hill" userId="41dba03d-e58d-4389-9894-554c10310ba4" providerId="ADAL" clId="{EF23FE1D-A042-481E-AFD7-2A9FB0847F54}" dt="2026-08-14T15:46:11.743" v="0" actId="16037"/>
          <ac:spMkLst>
            <pc:docMk/>
            <pc:sldMk cId="3346394562" sldId="256"/>
            <ac:spMk id="15" creationId="{3B5E4966-129D-0E9B-593A-7270EC6C0EA0}"/>
          </ac:spMkLst>
        </pc:spChg>
        <pc:spChg chg="mod">
          <ac:chgData name="Michael Hill" userId="41dba03d-e58d-4389-9894-554c10310ba4" providerId="ADAL" clId="{EF23FE1D-A042-481E-AFD7-2A9FB0847F54}" dt="2026-08-14T20:37:43.441" v="36" actId="20577"/>
          <ac:spMkLst>
            <pc:docMk/>
            <pc:sldMk cId="3346394562" sldId="256"/>
            <ac:spMk id="16" creationId="{17204734-3FD9-9A03-0700-AC2D2E083E4F}"/>
          </ac:spMkLst>
        </pc:spChg>
      </pc:sldChg>
      <pc:sldChg chg="modSp mod">
        <pc:chgData name="Michael Hill" userId="41dba03d-e58d-4389-9894-554c10310ba4" providerId="ADAL" clId="{EF23FE1D-A042-481E-AFD7-2A9FB0847F54}" dt="2026-08-14T20:41:21.748" v="426"/>
        <pc:sldMkLst>
          <pc:docMk/>
          <pc:sldMk cId="4259608030" sldId="276"/>
        </pc:sldMkLst>
        <pc:spChg chg="mod">
          <ac:chgData name="Michael Hill" userId="41dba03d-e58d-4389-9894-554c10310ba4" providerId="ADAL" clId="{EF23FE1D-A042-481E-AFD7-2A9FB0847F54}" dt="2026-08-14T20:38:01.787" v="61" actId="14100"/>
          <ac:spMkLst>
            <pc:docMk/>
            <pc:sldMk cId="4259608030" sldId="276"/>
            <ac:spMk id="12" creationId="{E1E46F3C-9A17-BBAB-0200-A1D8BCB01ABB}"/>
          </ac:spMkLst>
        </pc:spChg>
        <pc:spChg chg="mod">
          <ac:chgData name="Michael Hill" userId="41dba03d-e58d-4389-9894-554c10310ba4" providerId="ADAL" clId="{EF23FE1D-A042-481E-AFD7-2A9FB0847F54}" dt="2026-08-14T20:38:04.422" v="62" actId="1076"/>
          <ac:spMkLst>
            <pc:docMk/>
            <pc:sldMk cId="4259608030" sldId="276"/>
            <ac:spMk id="14" creationId="{07131214-D88B-9ADD-6430-4092324D9863}"/>
          </ac:spMkLst>
        </pc:spChg>
        <pc:spChg chg="mod">
          <ac:chgData name="Michael Hill" userId="41dba03d-e58d-4389-9894-554c10310ba4" providerId="ADAL" clId="{EF23FE1D-A042-481E-AFD7-2A9FB0847F54}" dt="2026-08-14T20:41:21.748" v="426"/>
          <ac:spMkLst>
            <pc:docMk/>
            <pc:sldMk cId="4259608030" sldId="276"/>
            <ac:spMk id="16" creationId="{EB54C2C9-22AC-BD6C-0DA3-FC6F55942231}"/>
          </ac:spMkLst>
        </pc:spChg>
      </pc:sldChg>
      <pc:sldChg chg="add">
        <pc:chgData name="Michael Hill" userId="41dba03d-e58d-4389-9894-554c10310ba4" providerId="ADAL" clId="{EF23FE1D-A042-481E-AFD7-2A9FB0847F54}" dt="2026-08-14T20:37:52.268" v="37" actId="2890"/>
        <pc:sldMkLst>
          <pc:docMk/>
          <pc:sldMk cId="153657831" sldId="27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BB7C5-D028-538D-C84B-F4947CA6E1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A18EE4-FBD3-518D-A533-5A7575B505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7D29B54-2C06-B521-B17D-DF069278D64F}"/>
              </a:ext>
            </a:extLst>
          </p:cNvPr>
          <p:cNvSpPr>
            <a:spLocks noGrp="1"/>
          </p:cNvSpPr>
          <p:nvPr>
            <p:ph type="dt" sz="half" idx="10"/>
          </p:nvPr>
        </p:nvSpPr>
        <p:spPr/>
        <p:txBody>
          <a:bodyPr/>
          <a:lstStyle/>
          <a:p>
            <a:fld id="{38BBDEEA-63FC-4B53-82B2-BA556F03A49A}" type="datetimeFigureOut">
              <a:rPr lang="en-US" smtClean="0"/>
              <a:t>8/24/2026</a:t>
            </a:fld>
            <a:endParaRPr lang="en-US"/>
          </a:p>
        </p:txBody>
      </p:sp>
      <p:sp>
        <p:nvSpPr>
          <p:cNvPr id="5" name="Footer Placeholder 4">
            <a:extLst>
              <a:ext uri="{FF2B5EF4-FFF2-40B4-BE49-F238E27FC236}">
                <a16:creationId xmlns:a16="http://schemas.microsoft.com/office/drawing/2014/main" id="{7F5FDB6A-DE1A-8CD7-36E6-9513398D5A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18F74D-F917-FC0E-8063-35DE9993DDB0}"/>
              </a:ext>
            </a:extLst>
          </p:cNvPr>
          <p:cNvSpPr>
            <a:spLocks noGrp="1"/>
          </p:cNvSpPr>
          <p:nvPr>
            <p:ph type="sldNum" sz="quarter" idx="12"/>
          </p:nvPr>
        </p:nvSpPr>
        <p:spPr/>
        <p:txBody>
          <a:bodyPr/>
          <a:lstStyle/>
          <a:p>
            <a:fld id="{4444BB0E-F10B-4C71-A8E6-97624117C0F4}" type="slidenum">
              <a:rPr lang="en-US" smtClean="0"/>
              <a:t>‹#›</a:t>
            </a:fld>
            <a:endParaRPr lang="en-US"/>
          </a:p>
        </p:txBody>
      </p:sp>
    </p:spTree>
    <p:extLst>
      <p:ext uri="{BB962C8B-B14F-4D97-AF65-F5344CB8AC3E}">
        <p14:creationId xmlns:p14="http://schemas.microsoft.com/office/powerpoint/2010/main" val="19529556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88439-08F5-44E1-22C0-33087F5210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5AE85E-1669-EAA4-128D-A6725E334D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7B58B0-4DFA-6A9A-D1B4-BF96071D1A75}"/>
              </a:ext>
            </a:extLst>
          </p:cNvPr>
          <p:cNvSpPr>
            <a:spLocks noGrp="1"/>
          </p:cNvSpPr>
          <p:nvPr>
            <p:ph type="dt" sz="half" idx="10"/>
          </p:nvPr>
        </p:nvSpPr>
        <p:spPr/>
        <p:txBody>
          <a:bodyPr/>
          <a:lstStyle/>
          <a:p>
            <a:fld id="{38BBDEEA-63FC-4B53-82B2-BA556F03A49A}" type="datetimeFigureOut">
              <a:rPr lang="en-US" smtClean="0"/>
              <a:t>8/24/2026</a:t>
            </a:fld>
            <a:endParaRPr lang="en-US"/>
          </a:p>
        </p:txBody>
      </p:sp>
      <p:sp>
        <p:nvSpPr>
          <p:cNvPr id="5" name="Footer Placeholder 4">
            <a:extLst>
              <a:ext uri="{FF2B5EF4-FFF2-40B4-BE49-F238E27FC236}">
                <a16:creationId xmlns:a16="http://schemas.microsoft.com/office/drawing/2014/main" id="{2A50893E-5088-E7E2-8009-A7FE84A3A0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61E31B-B430-476B-4710-0252DB8702B3}"/>
              </a:ext>
            </a:extLst>
          </p:cNvPr>
          <p:cNvSpPr>
            <a:spLocks noGrp="1"/>
          </p:cNvSpPr>
          <p:nvPr>
            <p:ph type="sldNum" sz="quarter" idx="12"/>
          </p:nvPr>
        </p:nvSpPr>
        <p:spPr/>
        <p:txBody>
          <a:bodyPr/>
          <a:lstStyle/>
          <a:p>
            <a:fld id="{4444BB0E-F10B-4C71-A8E6-97624117C0F4}" type="slidenum">
              <a:rPr lang="en-US" smtClean="0"/>
              <a:t>‹#›</a:t>
            </a:fld>
            <a:endParaRPr lang="en-US"/>
          </a:p>
        </p:txBody>
      </p:sp>
    </p:spTree>
    <p:extLst>
      <p:ext uri="{BB962C8B-B14F-4D97-AF65-F5344CB8AC3E}">
        <p14:creationId xmlns:p14="http://schemas.microsoft.com/office/powerpoint/2010/main" val="34332397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7F91E-1289-9CFB-7E71-94848C13DA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CD5F334-0E85-5435-5C19-1CA99F7B364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EF2AE98-80AE-D62A-E089-FE49DCBE60CE}"/>
              </a:ext>
            </a:extLst>
          </p:cNvPr>
          <p:cNvSpPr>
            <a:spLocks noGrp="1"/>
          </p:cNvSpPr>
          <p:nvPr>
            <p:ph type="dt" sz="half" idx="10"/>
          </p:nvPr>
        </p:nvSpPr>
        <p:spPr/>
        <p:txBody>
          <a:bodyPr/>
          <a:lstStyle/>
          <a:p>
            <a:fld id="{38BBDEEA-63FC-4B53-82B2-BA556F03A49A}" type="datetimeFigureOut">
              <a:rPr lang="en-US" smtClean="0"/>
              <a:t>8/24/2026</a:t>
            </a:fld>
            <a:endParaRPr lang="en-US"/>
          </a:p>
        </p:txBody>
      </p:sp>
      <p:sp>
        <p:nvSpPr>
          <p:cNvPr id="5" name="Footer Placeholder 4">
            <a:extLst>
              <a:ext uri="{FF2B5EF4-FFF2-40B4-BE49-F238E27FC236}">
                <a16:creationId xmlns:a16="http://schemas.microsoft.com/office/drawing/2014/main" id="{3E28E38B-44FF-557B-A276-58D60F4CB1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F1EAAD-B1C4-28ED-6E49-0D42DD7280E9}"/>
              </a:ext>
            </a:extLst>
          </p:cNvPr>
          <p:cNvSpPr>
            <a:spLocks noGrp="1"/>
          </p:cNvSpPr>
          <p:nvPr>
            <p:ph type="sldNum" sz="quarter" idx="12"/>
          </p:nvPr>
        </p:nvSpPr>
        <p:spPr/>
        <p:txBody>
          <a:bodyPr/>
          <a:lstStyle/>
          <a:p>
            <a:fld id="{4444BB0E-F10B-4C71-A8E6-97624117C0F4}" type="slidenum">
              <a:rPr lang="en-US" smtClean="0"/>
              <a:t>‹#›</a:t>
            </a:fld>
            <a:endParaRPr lang="en-US"/>
          </a:p>
        </p:txBody>
      </p:sp>
    </p:spTree>
    <p:extLst>
      <p:ext uri="{BB962C8B-B14F-4D97-AF65-F5344CB8AC3E}">
        <p14:creationId xmlns:p14="http://schemas.microsoft.com/office/powerpoint/2010/main" val="666952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71961-8DD9-78B4-A9EB-6E7BD85211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44FB85-FD5C-5CEF-4167-5080192405B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8E35358-0E94-76A9-9AF6-7219BE5FFB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069088F-396E-06B1-953B-F7A916C3E60E}"/>
              </a:ext>
            </a:extLst>
          </p:cNvPr>
          <p:cNvSpPr>
            <a:spLocks noGrp="1"/>
          </p:cNvSpPr>
          <p:nvPr>
            <p:ph type="dt" sz="half" idx="10"/>
          </p:nvPr>
        </p:nvSpPr>
        <p:spPr/>
        <p:txBody>
          <a:bodyPr/>
          <a:lstStyle/>
          <a:p>
            <a:fld id="{38BBDEEA-63FC-4B53-82B2-BA556F03A49A}" type="datetimeFigureOut">
              <a:rPr lang="en-US" smtClean="0"/>
              <a:t>8/24/2026</a:t>
            </a:fld>
            <a:endParaRPr lang="en-US"/>
          </a:p>
        </p:txBody>
      </p:sp>
      <p:sp>
        <p:nvSpPr>
          <p:cNvPr id="6" name="Footer Placeholder 5">
            <a:extLst>
              <a:ext uri="{FF2B5EF4-FFF2-40B4-BE49-F238E27FC236}">
                <a16:creationId xmlns:a16="http://schemas.microsoft.com/office/drawing/2014/main" id="{9D6F87B1-02C7-7241-3B21-39307FE4F1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779D4E-1341-8213-B0EA-47AE63A0C8CF}"/>
              </a:ext>
            </a:extLst>
          </p:cNvPr>
          <p:cNvSpPr>
            <a:spLocks noGrp="1"/>
          </p:cNvSpPr>
          <p:nvPr>
            <p:ph type="sldNum" sz="quarter" idx="12"/>
          </p:nvPr>
        </p:nvSpPr>
        <p:spPr/>
        <p:txBody>
          <a:bodyPr/>
          <a:lstStyle/>
          <a:p>
            <a:fld id="{4444BB0E-F10B-4C71-A8E6-97624117C0F4}" type="slidenum">
              <a:rPr lang="en-US" smtClean="0"/>
              <a:t>‹#›</a:t>
            </a:fld>
            <a:endParaRPr lang="en-US"/>
          </a:p>
        </p:txBody>
      </p:sp>
    </p:spTree>
    <p:extLst>
      <p:ext uri="{BB962C8B-B14F-4D97-AF65-F5344CB8AC3E}">
        <p14:creationId xmlns:p14="http://schemas.microsoft.com/office/powerpoint/2010/main" val="12254391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EC656-E3BB-087A-B7F4-B11F8C8B819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6E94DE0-F7D0-64AF-28E5-7B681CDA0F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1E45B5-9ADF-F7A2-05F2-120A13B781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D657BA5-1E45-32F5-A0AA-B7DF5473D3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9BDD5A8-A59D-08B9-C81D-4ACB127E08B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369CEE-536B-48E8-7B72-F11150977F31}"/>
              </a:ext>
            </a:extLst>
          </p:cNvPr>
          <p:cNvSpPr>
            <a:spLocks noGrp="1"/>
          </p:cNvSpPr>
          <p:nvPr>
            <p:ph type="dt" sz="half" idx="10"/>
          </p:nvPr>
        </p:nvSpPr>
        <p:spPr/>
        <p:txBody>
          <a:bodyPr/>
          <a:lstStyle/>
          <a:p>
            <a:fld id="{38BBDEEA-63FC-4B53-82B2-BA556F03A49A}" type="datetimeFigureOut">
              <a:rPr lang="en-US" smtClean="0"/>
              <a:t>8/24/2026</a:t>
            </a:fld>
            <a:endParaRPr lang="en-US"/>
          </a:p>
        </p:txBody>
      </p:sp>
      <p:sp>
        <p:nvSpPr>
          <p:cNvPr id="8" name="Footer Placeholder 7">
            <a:extLst>
              <a:ext uri="{FF2B5EF4-FFF2-40B4-BE49-F238E27FC236}">
                <a16:creationId xmlns:a16="http://schemas.microsoft.com/office/drawing/2014/main" id="{252A961E-4D7B-9D4F-8C48-91688C565A0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2CE6ED0-E024-5291-9F42-982856D907D6}"/>
              </a:ext>
            </a:extLst>
          </p:cNvPr>
          <p:cNvSpPr>
            <a:spLocks noGrp="1"/>
          </p:cNvSpPr>
          <p:nvPr>
            <p:ph type="sldNum" sz="quarter" idx="12"/>
          </p:nvPr>
        </p:nvSpPr>
        <p:spPr/>
        <p:txBody>
          <a:bodyPr/>
          <a:lstStyle/>
          <a:p>
            <a:fld id="{4444BB0E-F10B-4C71-A8E6-97624117C0F4}" type="slidenum">
              <a:rPr lang="en-US" smtClean="0"/>
              <a:t>‹#›</a:t>
            </a:fld>
            <a:endParaRPr lang="en-US"/>
          </a:p>
        </p:txBody>
      </p:sp>
    </p:spTree>
    <p:extLst>
      <p:ext uri="{BB962C8B-B14F-4D97-AF65-F5344CB8AC3E}">
        <p14:creationId xmlns:p14="http://schemas.microsoft.com/office/powerpoint/2010/main" val="740936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37624-BBE4-4F43-40BE-1C5DBB86FC5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FD2DED-744A-331F-EB77-5ABCDB0E6ADE}"/>
              </a:ext>
            </a:extLst>
          </p:cNvPr>
          <p:cNvSpPr>
            <a:spLocks noGrp="1"/>
          </p:cNvSpPr>
          <p:nvPr>
            <p:ph type="dt" sz="half" idx="10"/>
          </p:nvPr>
        </p:nvSpPr>
        <p:spPr/>
        <p:txBody>
          <a:bodyPr/>
          <a:lstStyle/>
          <a:p>
            <a:fld id="{38BBDEEA-63FC-4B53-82B2-BA556F03A49A}" type="datetimeFigureOut">
              <a:rPr lang="en-US" smtClean="0"/>
              <a:t>8/24/2026</a:t>
            </a:fld>
            <a:endParaRPr lang="en-US"/>
          </a:p>
        </p:txBody>
      </p:sp>
      <p:sp>
        <p:nvSpPr>
          <p:cNvPr id="4" name="Footer Placeholder 3">
            <a:extLst>
              <a:ext uri="{FF2B5EF4-FFF2-40B4-BE49-F238E27FC236}">
                <a16:creationId xmlns:a16="http://schemas.microsoft.com/office/drawing/2014/main" id="{D9A3ED02-FD63-DFD0-65D2-7872A7B240A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A50267F-DE78-6F66-2229-FB1D5B1AA938}"/>
              </a:ext>
            </a:extLst>
          </p:cNvPr>
          <p:cNvSpPr>
            <a:spLocks noGrp="1"/>
          </p:cNvSpPr>
          <p:nvPr>
            <p:ph type="sldNum" sz="quarter" idx="12"/>
          </p:nvPr>
        </p:nvSpPr>
        <p:spPr/>
        <p:txBody>
          <a:bodyPr/>
          <a:lstStyle/>
          <a:p>
            <a:fld id="{4444BB0E-F10B-4C71-A8E6-97624117C0F4}" type="slidenum">
              <a:rPr lang="en-US" smtClean="0"/>
              <a:t>‹#›</a:t>
            </a:fld>
            <a:endParaRPr lang="en-US"/>
          </a:p>
        </p:txBody>
      </p:sp>
    </p:spTree>
    <p:extLst>
      <p:ext uri="{BB962C8B-B14F-4D97-AF65-F5344CB8AC3E}">
        <p14:creationId xmlns:p14="http://schemas.microsoft.com/office/powerpoint/2010/main" val="4263544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A44833-3305-1116-E9F8-6C5A8378D31D}"/>
              </a:ext>
            </a:extLst>
          </p:cNvPr>
          <p:cNvSpPr>
            <a:spLocks noGrp="1"/>
          </p:cNvSpPr>
          <p:nvPr>
            <p:ph type="dt" sz="half" idx="10"/>
          </p:nvPr>
        </p:nvSpPr>
        <p:spPr/>
        <p:txBody>
          <a:bodyPr/>
          <a:lstStyle/>
          <a:p>
            <a:fld id="{38BBDEEA-63FC-4B53-82B2-BA556F03A49A}" type="datetimeFigureOut">
              <a:rPr lang="en-US" smtClean="0"/>
              <a:t>8/24/2026</a:t>
            </a:fld>
            <a:endParaRPr lang="en-US"/>
          </a:p>
        </p:txBody>
      </p:sp>
      <p:sp>
        <p:nvSpPr>
          <p:cNvPr id="3" name="Footer Placeholder 2">
            <a:extLst>
              <a:ext uri="{FF2B5EF4-FFF2-40B4-BE49-F238E27FC236}">
                <a16:creationId xmlns:a16="http://schemas.microsoft.com/office/drawing/2014/main" id="{D9378047-5589-1EAF-5067-AD2EF967754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C0FE9F-3CAF-0634-2E48-4958A1A03717}"/>
              </a:ext>
            </a:extLst>
          </p:cNvPr>
          <p:cNvSpPr>
            <a:spLocks noGrp="1"/>
          </p:cNvSpPr>
          <p:nvPr>
            <p:ph type="sldNum" sz="quarter" idx="12"/>
          </p:nvPr>
        </p:nvSpPr>
        <p:spPr/>
        <p:txBody>
          <a:bodyPr/>
          <a:lstStyle/>
          <a:p>
            <a:fld id="{4444BB0E-F10B-4C71-A8E6-97624117C0F4}" type="slidenum">
              <a:rPr lang="en-US" smtClean="0"/>
              <a:t>‹#›</a:t>
            </a:fld>
            <a:endParaRPr lang="en-US"/>
          </a:p>
        </p:txBody>
      </p:sp>
    </p:spTree>
    <p:extLst>
      <p:ext uri="{BB962C8B-B14F-4D97-AF65-F5344CB8AC3E}">
        <p14:creationId xmlns:p14="http://schemas.microsoft.com/office/powerpoint/2010/main" val="25456470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1C86E-6E03-A7F6-C6A1-CDAA5F4392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6423AF1-9D57-2314-FA9D-80825CC52C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3522C80-BCC2-1F0C-1CD6-79899BC991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34490D-FAC8-13CF-211F-402F2A5ACDDF}"/>
              </a:ext>
            </a:extLst>
          </p:cNvPr>
          <p:cNvSpPr>
            <a:spLocks noGrp="1"/>
          </p:cNvSpPr>
          <p:nvPr>
            <p:ph type="dt" sz="half" idx="10"/>
          </p:nvPr>
        </p:nvSpPr>
        <p:spPr/>
        <p:txBody>
          <a:bodyPr/>
          <a:lstStyle/>
          <a:p>
            <a:fld id="{38BBDEEA-63FC-4B53-82B2-BA556F03A49A}" type="datetimeFigureOut">
              <a:rPr lang="en-US" smtClean="0"/>
              <a:t>8/24/2026</a:t>
            </a:fld>
            <a:endParaRPr lang="en-US"/>
          </a:p>
        </p:txBody>
      </p:sp>
      <p:sp>
        <p:nvSpPr>
          <p:cNvPr id="6" name="Footer Placeholder 5">
            <a:extLst>
              <a:ext uri="{FF2B5EF4-FFF2-40B4-BE49-F238E27FC236}">
                <a16:creationId xmlns:a16="http://schemas.microsoft.com/office/drawing/2014/main" id="{0BF733B4-C215-03AA-BCF9-0EBAA8F074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0D49F0-9737-DB9F-776D-A059B8F79A71}"/>
              </a:ext>
            </a:extLst>
          </p:cNvPr>
          <p:cNvSpPr>
            <a:spLocks noGrp="1"/>
          </p:cNvSpPr>
          <p:nvPr>
            <p:ph type="sldNum" sz="quarter" idx="12"/>
          </p:nvPr>
        </p:nvSpPr>
        <p:spPr/>
        <p:txBody>
          <a:bodyPr/>
          <a:lstStyle/>
          <a:p>
            <a:fld id="{4444BB0E-F10B-4C71-A8E6-97624117C0F4}" type="slidenum">
              <a:rPr lang="en-US" smtClean="0"/>
              <a:t>‹#›</a:t>
            </a:fld>
            <a:endParaRPr lang="en-US"/>
          </a:p>
        </p:txBody>
      </p:sp>
    </p:spTree>
    <p:extLst>
      <p:ext uri="{BB962C8B-B14F-4D97-AF65-F5344CB8AC3E}">
        <p14:creationId xmlns:p14="http://schemas.microsoft.com/office/powerpoint/2010/main" val="8544746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F8913-6DB8-652E-3AE8-7E16FF7604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1F1CDAF-03E1-DF12-A9B1-4FD15D85B9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B973D7-08B5-4E26-635F-62114CE4BF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33F633-B42C-02E8-FBE9-A044D62B2666}"/>
              </a:ext>
            </a:extLst>
          </p:cNvPr>
          <p:cNvSpPr>
            <a:spLocks noGrp="1"/>
          </p:cNvSpPr>
          <p:nvPr>
            <p:ph type="dt" sz="half" idx="10"/>
          </p:nvPr>
        </p:nvSpPr>
        <p:spPr/>
        <p:txBody>
          <a:bodyPr/>
          <a:lstStyle/>
          <a:p>
            <a:fld id="{38BBDEEA-63FC-4B53-82B2-BA556F03A49A}" type="datetimeFigureOut">
              <a:rPr lang="en-US" smtClean="0"/>
              <a:t>8/24/2026</a:t>
            </a:fld>
            <a:endParaRPr lang="en-US"/>
          </a:p>
        </p:txBody>
      </p:sp>
      <p:sp>
        <p:nvSpPr>
          <p:cNvPr id="6" name="Footer Placeholder 5">
            <a:extLst>
              <a:ext uri="{FF2B5EF4-FFF2-40B4-BE49-F238E27FC236}">
                <a16:creationId xmlns:a16="http://schemas.microsoft.com/office/drawing/2014/main" id="{916AB502-E8A8-9093-8527-B61DE6F021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3A517D-0BB7-84CA-2B04-6D22F0A301C6}"/>
              </a:ext>
            </a:extLst>
          </p:cNvPr>
          <p:cNvSpPr>
            <a:spLocks noGrp="1"/>
          </p:cNvSpPr>
          <p:nvPr>
            <p:ph type="sldNum" sz="quarter" idx="12"/>
          </p:nvPr>
        </p:nvSpPr>
        <p:spPr/>
        <p:txBody>
          <a:bodyPr/>
          <a:lstStyle/>
          <a:p>
            <a:fld id="{4444BB0E-F10B-4C71-A8E6-97624117C0F4}" type="slidenum">
              <a:rPr lang="en-US" smtClean="0"/>
              <a:t>‹#›</a:t>
            </a:fld>
            <a:endParaRPr lang="en-US"/>
          </a:p>
        </p:txBody>
      </p:sp>
    </p:spTree>
    <p:extLst>
      <p:ext uri="{BB962C8B-B14F-4D97-AF65-F5344CB8AC3E}">
        <p14:creationId xmlns:p14="http://schemas.microsoft.com/office/powerpoint/2010/main" val="598464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57CDB-541D-DAB3-7030-558DA718760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9A6EE05-5077-E454-CADA-3C224805000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50635D-85D2-5EC9-9A79-37473989E13F}"/>
              </a:ext>
            </a:extLst>
          </p:cNvPr>
          <p:cNvSpPr>
            <a:spLocks noGrp="1"/>
          </p:cNvSpPr>
          <p:nvPr>
            <p:ph type="dt" sz="half" idx="10"/>
          </p:nvPr>
        </p:nvSpPr>
        <p:spPr/>
        <p:txBody>
          <a:bodyPr/>
          <a:lstStyle/>
          <a:p>
            <a:fld id="{38BBDEEA-63FC-4B53-82B2-BA556F03A49A}" type="datetimeFigureOut">
              <a:rPr lang="en-US" smtClean="0"/>
              <a:t>8/24/2026</a:t>
            </a:fld>
            <a:endParaRPr lang="en-US"/>
          </a:p>
        </p:txBody>
      </p:sp>
      <p:sp>
        <p:nvSpPr>
          <p:cNvPr id="5" name="Footer Placeholder 4">
            <a:extLst>
              <a:ext uri="{FF2B5EF4-FFF2-40B4-BE49-F238E27FC236}">
                <a16:creationId xmlns:a16="http://schemas.microsoft.com/office/drawing/2014/main" id="{F56C204C-6DA9-C91E-0CBF-6F7A79A1E2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CF552A-D248-C906-CAB8-158CCB31F57B}"/>
              </a:ext>
            </a:extLst>
          </p:cNvPr>
          <p:cNvSpPr>
            <a:spLocks noGrp="1"/>
          </p:cNvSpPr>
          <p:nvPr>
            <p:ph type="sldNum" sz="quarter" idx="12"/>
          </p:nvPr>
        </p:nvSpPr>
        <p:spPr/>
        <p:txBody>
          <a:bodyPr/>
          <a:lstStyle/>
          <a:p>
            <a:fld id="{4444BB0E-F10B-4C71-A8E6-97624117C0F4}" type="slidenum">
              <a:rPr lang="en-US" smtClean="0"/>
              <a:t>‹#›</a:t>
            </a:fld>
            <a:endParaRPr lang="en-US"/>
          </a:p>
        </p:txBody>
      </p:sp>
    </p:spTree>
    <p:extLst>
      <p:ext uri="{BB962C8B-B14F-4D97-AF65-F5344CB8AC3E}">
        <p14:creationId xmlns:p14="http://schemas.microsoft.com/office/powerpoint/2010/main" val="489550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FED4DA-0C79-4922-B6CA-14EB15C6039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ABDFD1A-D787-85F1-F785-E1CCF23F958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0549BA-E968-319C-D449-763DCC64AA48}"/>
              </a:ext>
            </a:extLst>
          </p:cNvPr>
          <p:cNvSpPr>
            <a:spLocks noGrp="1"/>
          </p:cNvSpPr>
          <p:nvPr>
            <p:ph type="dt" sz="half" idx="10"/>
          </p:nvPr>
        </p:nvSpPr>
        <p:spPr/>
        <p:txBody>
          <a:bodyPr/>
          <a:lstStyle/>
          <a:p>
            <a:fld id="{38BBDEEA-63FC-4B53-82B2-BA556F03A49A}" type="datetimeFigureOut">
              <a:rPr lang="en-US" smtClean="0"/>
              <a:t>8/24/2026</a:t>
            </a:fld>
            <a:endParaRPr lang="en-US"/>
          </a:p>
        </p:txBody>
      </p:sp>
      <p:sp>
        <p:nvSpPr>
          <p:cNvPr id="5" name="Footer Placeholder 4">
            <a:extLst>
              <a:ext uri="{FF2B5EF4-FFF2-40B4-BE49-F238E27FC236}">
                <a16:creationId xmlns:a16="http://schemas.microsoft.com/office/drawing/2014/main" id="{212D76C2-62F9-A98E-4B4E-3F8847C569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35182B-0D0E-6729-A659-0B21D17AE7EE}"/>
              </a:ext>
            </a:extLst>
          </p:cNvPr>
          <p:cNvSpPr>
            <a:spLocks noGrp="1"/>
          </p:cNvSpPr>
          <p:nvPr>
            <p:ph type="sldNum" sz="quarter" idx="12"/>
          </p:nvPr>
        </p:nvSpPr>
        <p:spPr/>
        <p:txBody>
          <a:bodyPr/>
          <a:lstStyle/>
          <a:p>
            <a:fld id="{4444BB0E-F10B-4C71-A8E6-97624117C0F4}" type="slidenum">
              <a:rPr lang="en-US" smtClean="0"/>
              <a:t>‹#›</a:t>
            </a:fld>
            <a:endParaRPr lang="en-US"/>
          </a:p>
        </p:txBody>
      </p:sp>
    </p:spTree>
    <p:extLst>
      <p:ext uri="{BB962C8B-B14F-4D97-AF65-F5344CB8AC3E}">
        <p14:creationId xmlns:p14="http://schemas.microsoft.com/office/powerpoint/2010/main" val="11213836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FB70B0-69C1-BACF-E34C-11B8ABB050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886B4FB-0BB3-9404-1631-FB806D1466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88B363-0843-FCC4-75C3-4817B6FC14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8BBDEEA-63FC-4B53-82B2-BA556F03A49A}" type="datetimeFigureOut">
              <a:rPr lang="en-US" smtClean="0"/>
              <a:t>8/24/2026</a:t>
            </a:fld>
            <a:endParaRPr lang="en-US"/>
          </a:p>
        </p:txBody>
      </p:sp>
      <p:sp>
        <p:nvSpPr>
          <p:cNvPr id="5" name="Footer Placeholder 4">
            <a:extLst>
              <a:ext uri="{FF2B5EF4-FFF2-40B4-BE49-F238E27FC236}">
                <a16:creationId xmlns:a16="http://schemas.microsoft.com/office/drawing/2014/main" id="{B42BD5FE-B811-5B93-5CF9-F7649D0E6D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DC1E091-0FFD-BBDC-7AFB-7DC9119E8F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444BB0E-F10B-4C71-A8E6-97624117C0F4}" type="slidenum">
              <a:rPr lang="en-US" smtClean="0"/>
              <a:t>‹#›</a:t>
            </a:fld>
            <a:endParaRPr lang="en-US"/>
          </a:p>
        </p:txBody>
      </p:sp>
    </p:spTree>
    <p:extLst>
      <p:ext uri="{BB962C8B-B14F-4D97-AF65-F5344CB8AC3E}">
        <p14:creationId xmlns:p14="http://schemas.microsoft.com/office/powerpoint/2010/main" val="41448397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hyperlink" Target="https://github.com/JAEOStudios/MYP-Digital-Design" TargetMode="Externa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hyperlink" Target="mailto:michael.hill@students.alcuinschool.org"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
        <p:cNvGrpSpPr/>
        <p:nvPr/>
      </p:nvGrpSpPr>
      <p:grpSpPr>
        <a:xfrm>
          <a:off x="0" y="0"/>
          <a:ext cx="0" cy="0"/>
          <a:chOff x="0" y="0"/>
          <a:chExt cx="0" cy="0"/>
        </a:xfrm>
      </p:grpSpPr>
      <p:cxnSp>
        <p:nvCxnSpPr>
          <p:cNvPr id="32" name="Straight Connector 31">
            <a:extLst>
              <a:ext uri="{FF2B5EF4-FFF2-40B4-BE49-F238E27FC236}">
                <a16:creationId xmlns:a16="http://schemas.microsoft.com/office/drawing/2014/main" id="{184BFF6B-CD7D-43AB-C049-4D6FC7CD133B}"/>
              </a:ext>
            </a:extLst>
          </p:cNvPr>
          <p:cNvCxnSpPr>
            <a:cxnSpLocks/>
          </p:cNvCxnSpPr>
          <p:nvPr/>
        </p:nvCxnSpPr>
        <p:spPr>
          <a:xfrm>
            <a:off x="5044585" y="3450235"/>
            <a:ext cx="2899265"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AD3EE458-AB78-EACF-6DF0-D50A5EB70F8C}"/>
              </a:ext>
            </a:extLst>
          </p:cNvPr>
          <p:cNvCxnSpPr>
            <a:cxnSpLocks/>
          </p:cNvCxnSpPr>
          <p:nvPr/>
        </p:nvCxnSpPr>
        <p:spPr>
          <a:xfrm>
            <a:off x="3723623" y="746590"/>
            <a:ext cx="2943877"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BA04EC88-7086-2F59-99EF-DAF347BF7C5A}"/>
              </a:ext>
            </a:extLst>
          </p:cNvPr>
          <p:cNvCxnSpPr/>
          <p:nvPr/>
        </p:nvCxnSpPr>
        <p:spPr>
          <a:xfrm>
            <a:off x="1486446" y="6657668"/>
            <a:ext cx="3805083"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sp>
        <p:nvSpPr>
          <p:cNvPr id="5" name="Star: 16 Points 4">
            <a:extLst>
              <a:ext uri="{FF2B5EF4-FFF2-40B4-BE49-F238E27FC236}">
                <a16:creationId xmlns:a16="http://schemas.microsoft.com/office/drawing/2014/main" id="{ADD58C41-DE5A-3F97-1073-80435EAC10E5}"/>
              </a:ext>
            </a:extLst>
          </p:cNvPr>
          <p:cNvSpPr/>
          <p:nvPr/>
        </p:nvSpPr>
        <p:spPr>
          <a:xfrm>
            <a:off x="237236" y="118746"/>
            <a:ext cx="1915160" cy="1915160"/>
          </a:xfrm>
          <a:prstGeom prst="star16">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en-US" sz="6600" b="1" dirty="0"/>
          </a:p>
        </p:txBody>
      </p:sp>
      <p:sp>
        <p:nvSpPr>
          <p:cNvPr id="8" name="TextBox 7">
            <a:extLst>
              <a:ext uri="{FF2B5EF4-FFF2-40B4-BE49-F238E27FC236}">
                <a16:creationId xmlns:a16="http://schemas.microsoft.com/office/drawing/2014/main" id="{C64711EC-5C02-3E0D-2684-97CA50D62B24}"/>
              </a:ext>
            </a:extLst>
          </p:cNvPr>
          <p:cNvSpPr txBox="1"/>
          <p:nvPr/>
        </p:nvSpPr>
        <p:spPr>
          <a:xfrm>
            <a:off x="597535" y="404453"/>
            <a:ext cx="1194562" cy="523220"/>
          </a:xfrm>
          <a:prstGeom prst="rect">
            <a:avLst/>
          </a:prstGeom>
          <a:noFill/>
          <a:ln w="57150">
            <a:noFill/>
          </a:ln>
        </p:spPr>
        <p:txBody>
          <a:bodyPr wrap="square">
            <a:spAutoFit/>
          </a:bodyPr>
          <a:lstStyle/>
          <a:p>
            <a:pPr algn="ctr"/>
            <a:r>
              <a:rPr lang="en-US" sz="2800" b="1" dirty="0">
                <a:solidFill>
                  <a:schemeClr val="bg1"/>
                </a:solidFill>
              </a:rPr>
              <a:t>UNIT</a:t>
            </a:r>
          </a:p>
        </p:txBody>
      </p:sp>
      <p:sp>
        <p:nvSpPr>
          <p:cNvPr id="9" name="TextBox 8">
            <a:extLst>
              <a:ext uri="{FF2B5EF4-FFF2-40B4-BE49-F238E27FC236}">
                <a16:creationId xmlns:a16="http://schemas.microsoft.com/office/drawing/2014/main" id="{E30230C0-C256-6203-A5F6-19223FE071E4}"/>
              </a:ext>
            </a:extLst>
          </p:cNvPr>
          <p:cNvSpPr txBox="1"/>
          <p:nvPr/>
        </p:nvSpPr>
        <p:spPr>
          <a:xfrm>
            <a:off x="597535" y="659382"/>
            <a:ext cx="1194562" cy="1323439"/>
          </a:xfrm>
          <a:prstGeom prst="rect">
            <a:avLst/>
          </a:prstGeom>
          <a:noFill/>
          <a:ln w="57150">
            <a:noFill/>
          </a:ln>
        </p:spPr>
        <p:txBody>
          <a:bodyPr wrap="square">
            <a:spAutoFit/>
          </a:bodyPr>
          <a:lstStyle/>
          <a:p>
            <a:pPr algn="ctr"/>
            <a:r>
              <a:rPr lang="en-US" sz="8000" b="1" dirty="0">
                <a:solidFill>
                  <a:schemeClr val="bg1"/>
                </a:solidFill>
              </a:rPr>
              <a:t>0</a:t>
            </a:r>
          </a:p>
        </p:txBody>
      </p:sp>
      <p:sp>
        <p:nvSpPr>
          <p:cNvPr id="12" name="Rectangle 11">
            <a:extLst>
              <a:ext uri="{FF2B5EF4-FFF2-40B4-BE49-F238E27FC236}">
                <a16:creationId xmlns:a16="http://schemas.microsoft.com/office/drawing/2014/main" id="{019215A8-6C2C-22D9-03C2-41E38104D972}"/>
              </a:ext>
            </a:extLst>
          </p:cNvPr>
          <p:cNvSpPr/>
          <p:nvPr/>
        </p:nvSpPr>
        <p:spPr>
          <a:xfrm>
            <a:off x="3750893" y="865330"/>
            <a:ext cx="7531471" cy="911542"/>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t>INTRO TO DIGITAL DESIGN</a:t>
            </a:r>
          </a:p>
        </p:txBody>
      </p:sp>
      <p:sp>
        <p:nvSpPr>
          <p:cNvPr id="14" name="Oval 13">
            <a:extLst>
              <a:ext uri="{FF2B5EF4-FFF2-40B4-BE49-F238E27FC236}">
                <a16:creationId xmlns:a16="http://schemas.microsoft.com/office/drawing/2014/main" id="{EBE531CC-A060-48E0-AD9D-FE42573EED82}"/>
              </a:ext>
            </a:extLst>
          </p:cNvPr>
          <p:cNvSpPr/>
          <p:nvPr/>
        </p:nvSpPr>
        <p:spPr>
          <a:xfrm>
            <a:off x="-101820" y="-220310"/>
            <a:ext cx="2593271" cy="2593271"/>
          </a:xfrm>
          <a:prstGeom prst="ellipse">
            <a:avLst/>
          </a:prstGeom>
          <a:noFill/>
          <a:ln w="57150">
            <a:solidFill>
              <a:schemeClr val="accent2">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B5E4966-129D-0E9B-593A-7270EC6C0EA0}"/>
              </a:ext>
            </a:extLst>
          </p:cNvPr>
          <p:cNvSpPr/>
          <p:nvPr/>
        </p:nvSpPr>
        <p:spPr>
          <a:xfrm rot="21081993">
            <a:off x="3089443" y="359006"/>
            <a:ext cx="1268361" cy="600752"/>
          </a:xfrm>
          <a:prstGeom prst="rect">
            <a:avLst/>
          </a:prstGeom>
          <a:solidFill>
            <a:schemeClr val="accent1">
              <a:lumMod val="75000"/>
            </a:schemeClr>
          </a:solidFill>
          <a:ln w="571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DAY 1</a:t>
            </a:r>
          </a:p>
        </p:txBody>
      </p:sp>
      <p:sp>
        <p:nvSpPr>
          <p:cNvPr id="16" name="Rectangle 15">
            <a:extLst>
              <a:ext uri="{FF2B5EF4-FFF2-40B4-BE49-F238E27FC236}">
                <a16:creationId xmlns:a16="http://schemas.microsoft.com/office/drawing/2014/main" id="{17204734-3FD9-9A03-0700-AC2D2E083E4F}"/>
              </a:ext>
            </a:extLst>
          </p:cNvPr>
          <p:cNvSpPr/>
          <p:nvPr/>
        </p:nvSpPr>
        <p:spPr>
          <a:xfrm>
            <a:off x="526944" y="2588561"/>
            <a:ext cx="3929014" cy="3942736"/>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lnSpc>
                <a:spcPct val="150000"/>
              </a:lnSpc>
              <a:buFont typeface="Arial" panose="020B0604020202020204" pitchFamily="34" charset="0"/>
              <a:buChar char="•"/>
            </a:pPr>
            <a:r>
              <a:rPr lang="en-US" dirty="0"/>
              <a:t>What is Design?</a:t>
            </a:r>
          </a:p>
          <a:p>
            <a:pPr marL="285750" indent="-285750">
              <a:lnSpc>
                <a:spcPct val="150000"/>
              </a:lnSpc>
              <a:buFont typeface="Arial" panose="020B0604020202020204" pitchFamily="34" charset="0"/>
              <a:buChar char="•"/>
            </a:pPr>
            <a:r>
              <a:rPr lang="en-US" dirty="0"/>
              <a:t>The Design Cycle</a:t>
            </a:r>
          </a:p>
          <a:p>
            <a:pPr marL="285750" indent="-285750">
              <a:lnSpc>
                <a:spcPct val="150000"/>
              </a:lnSpc>
              <a:buFont typeface="Arial" panose="020B0604020202020204" pitchFamily="34" charset="0"/>
              <a:buChar char="•"/>
            </a:pPr>
            <a:r>
              <a:rPr lang="en-US" dirty="0"/>
              <a:t>Assessment This Year</a:t>
            </a:r>
          </a:p>
          <a:p>
            <a:pPr marL="285750" indent="-285750">
              <a:lnSpc>
                <a:spcPct val="150000"/>
              </a:lnSpc>
              <a:buFont typeface="Arial" panose="020B0604020202020204" pitchFamily="34" charset="0"/>
              <a:buChar char="•"/>
            </a:pPr>
            <a:r>
              <a:rPr lang="en-US" dirty="0"/>
              <a:t>Classroom Expectations</a:t>
            </a:r>
          </a:p>
          <a:p>
            <a:pPr marL="285750" indent="-285750">
              <a:lnSpc>
                <a:spcPct val="150000"/>
              </a:lnSpc>
              <a:buFont typeface="Arial" panose="020B0604020202020204" pitchFamily="34" charset="0"/>
              <a:buChar char="•"/>
            </a:pPr>
            <a:r>
              <a:rPr lang="en-US" dirty="0"/>
              <a:t>AI &amp; Late Work Policy</a:t>
            </a:r>
          </a:p>
          <a:p>
            <a:pPr marL="285750" indent="-285750">
              <a:lnSpc>
                <a:spcPct val="150000"/>
              </a:lnSpc>
              <a:buFont typeface="Arial" panose="020B0604020202020204" pitchFamily="34" charset="0"/>
              <a:buChar char="•"/>
            </a:pPr>
            <a:r>
              <a:rPr lang="en-US" dirty="0"/>
              <a:t>The Five Laws of </a:t>
            </a:r>
            <a:r>
              <a:rPr lang="en-US" dirty="0" err="1"/>
              <a:t>Codecraft</a:t>
            </a:r>
            <a:endParaRPr lang="en-US" dirty="0"/>
          </a:p>
          <a:p>
            <a:pPr marL="285750" indent="-285750">
              <a:lnSpc>
                <a:spcPct val="150000"/>
              </a:lnSpc>
              <a:buFont typeface="Arial" panose="020B0604020202020204" pitchFamily="34" charset="0"/>
              <a:buChar char="•"/>
            </a:pPr>
            <a:r>
              <a:rPr lang="en-US" dirty="0"/>
              <a:t>Units for this Year</a:t>
            </a:r>
          </a:p>
          <a:p>
            <a:pPr marL="285750" indent="-285750">
              <a:lnSpc>
                <a:spcPct val="150000"/>
              </a:lnSpc>
              <a:buFont typeface="Arial" panose="020B0604020202020204" pitchFamily="34" charset="0"/>
              <a:buChar char="•"/>
            </a:pPr>
            <a:r>
              <a:rPr lang="en-US" dirty="0"/>
              <a:t>Where to Find Materials</a:t>
            </a:r>
          </a:p>
          <a:p>
            <a:pPr marL="285750" indent="-285750">
              <a:lnSpc>
                <a:spcPct val="150000"/>
              </a:lnSpc>
              <a:buFont typeface="Arial" panose="020B0604020202020204" pitchFamily="34" charset="0"/>
              <a:buChar char="•"/>
            </a:pPr>
            <a:r>
              <a:rPr lang="en-US" dirty="0"/>
              <a:t>Contacting Me</a:t>
            </a:r>
          </a:p>
        </p:txBody>
      </p:sp>
      <p:sp>
        <p:nvSpPr>
          <p:cNvPr id="17" name="Flowchart: Data 16">
            <a:extLst>
              <a:ext uri="{FF2B5EF4-FFF2-40B4-BE49-F238E27FC236}">
                <a16:creationId xmlns:a16="http://schemas.microsoft.com/office/drawing/2014/main" id="{76E17776-D541-80F3-BCFD-CA5A7CCC3A3F}"/>
              </a:ext>
            </a:extLst>
          </p:cNvPr>
          <p:cNvSpPr/>
          <p:nvPr/>
        </p:nvSpPr>
        <p:spPr>
          <a:xfrm>
            <a:off x="2914673" y="2288185"/>
            <a:ext cx="2301362" cy="600752"/>
          </a:xfrm>
          <a:prstGeom prst="flowChartInputOutput">
            <a:avLst/>
          </a:prstGeom>
          <a:solidFill>
            <a:schemeClr val="accent3">
              <a:lumMod val="50000"/>
            </a:schemeClr>
          </a:solidFill>
          <a:ln w="57150">
            <a:solidFill>
              <a:schemeClr val="accent3">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AGENDA</a:t>
            </a:r>
          </a:p>
        </p:txBody>
      </p:sp>
      <p:sp>
        <p:nvSpPr>
          <p:cNvPr id="25" name="Rectangle 24">
            <a:extLst>
              <a:ext uri="{FF2B5EF4-FFF2-40B4-BE49-F238E27FC236}">
                <a16:creationId xmlns:a16="http://schemas.microsoft.com/office/drawing/2014/main" id="{76BB1E97-9746-97B6-FA11-641333A2EC2E}"/>
              </a:ext>
            </a:extLst>
          </p:cNvPr>
          <p:cNvSpPr/>
          <p:nvPr/>
        </p:nvSpPr>
        <p:spPr>
          <a:xfrm>
            <a:off x="5407742" y="2444654"/>
            <a:ext cx="6016298" cy="888566"/>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lnSpc>
                <a:spcPct val="150000"/>
              </a:lnSpc>
              <a:buFont typeface="Arial" panose="020B0604020202020204" pitchFamily="34" charset="0"/>
              <a:buChar char="•"/>
            </a:pPr>
            <a:r>
              <a:rPr lang="en-US" dirty="0"/>
              <a:t>Put your phones into </a:t>
            </a:r>
            <a:r>
              <a:rPr lang="en-US" sz="2800" b="1" i="1" dirty="0">
                <a:latin typeface="Chiller" panose="04020404031007020602" pitchFamily="82" charset="0"/>
              </a:rPr>
              <a:t>The </a:t>
            </a:r>
            <a:r>
              <a:rPr lang="en-US" sz="2800" b="1" i="1" u="sng" dirty="0">
                <a:latin typeface="Chiller" panose="04020404031007020602" pitchFamily="82" charset="0"/>
              </a:rPr>
              <a:t>Holding</a:t>
            </a:r>
            <a:r>
              <a:rPr lang="en-US" sz="2800" b="1" i="1" dirty="0">
                <a:latin typeface="Chiller" panose="04020404031007020602" pitchFamily="82" charset="0"/>
              </a:rPr>
              <a:t> Cell</a:t>
            </a:r>
          </a:p>
          <a:p>
            <a:pPr marL="285750" indent="-285750">
              <a:lnSpc>
                <a:spcPct val="150000"/>
              </a:lnSpc>
              <a:buFont typeface="Arial" panose="020B0604020202020204" pitchFamily="34" charset="0"/>
              <a:buChar char="•"/>
            </a:pPr>
            <a:endParaRPr lang="en-US" b="1" i="1" dirty="0">
              <a:latin typeface="Chiller" panose="04020404031007020602" pitchFamily="82" charset="0"/>
            </a:endParaRPr>
          </a:p>
        </p:txBody>
      </p:sp>
      <p:sp>
        <p:nvSpPr>
          <p:cNvPr id="26" name="Arrow: Pentagon 25">
            <a:extLst>
              <a:ext uri="{FF2B5EF4-FFF2-40B4-BE49-F238E27FC236}">
                <a16:creationId xmlns:a16="http://schemas.microsoft.com/office/drawing/2014/main" id="{4D20C643-FE77-D5F1-944D-EFA6A4E18384}"/>
              </a:ext>
            </a:extLst>
          </p:cNvPr>
          <p:cNvSpPr/>
          <p:nvPr/>
        </p:nvSpPr>
        <p:spPr>
          <a:xfrm flipH="1">
            <a:off x="9835526" y="2157823"/>
            <a:ext cx="2155485" cy="765223"/>
          </a:xfrm>
          <a:prstGeom prst="homePlate">
            <a:avLst/>
          </a:prstGeom>
          <a:solidFill>
            <a:schemeClr val="accent4">
              <a:lumMod val="75000"/>
            </a:schemeClr>
          </a:solidFill>
          <a:ln w="57150">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REMINDERS</a:t>
            </a:r>
          </a:p>
        </p:txBody>
      </p:sp>
    </p:spTree>
    <p:extLst>
      <p:ext uri="{BB962C8B-B14F-4D97-AF65-F5344CB8AC3E}">
        <p14:creationId xmlns:p14="http://schemas.microsoft.com/office/powerpoint/2010/main" val="3346394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withEffect">
                                  <p:stCondLst>
                                    <p:cond delay="0"/>
                                  </p:stCondLst>
                                  <p:childTnLst>
                                    <p:animRot by="21600000">
                                      <p:cBhvr>
                                        <p:cTn id="6" dur="10000" fill="hold"/>
                                        <p:tgtEl>
                                          <p:spTgt spid="14"/>
                                        </p:tgtEl>
                                        <p:attrNameLst>
                                          <p:attrName>r</p:attrName>
                                        </p:attrNameLst>
                                      </p:cBhvr>
                                    </p:animRot>
                                  </p:childTnLst>
                                </p:cTn>
                              </p:par>
                              <p:par>
                                <p:cTn id="7" presetID="8" presetClass="emph" presetSubtype="0" repeatCount="indefinite" fill="hold" grpId="0" nodeType="withEffect">
                                  <p:stCondLst>
                                    <p:cond delay="0"/>
                                  </p:stCondLst>
                                  <p:childTnLst>
                                    <p:animRot by="21600000">
                                      <p:cBhvr>
                                        <p:cTn id="8" dur="25000" fill="hold"/>
                                        <p:tgtEl>
                                          <p:spTgt spid="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
          <a:extLst>
            <a:ext uri="{FF2B5EF4-FFF2-40B4-BE49-F238E27FC236}">
              <a16:creationId xmlns:a16="http://schemas.microsoft.com/office/drawing/2014/main" id="{AB29CC11-385C-DD28-03EE-DCBA9B51A874}"/>
            </a:ext>
          </a:extLst>
        </p:cNvPr>
        <p:cNvGrpSpPr/>
        <p:nvPr/>
      </p:nvGrpSpPr>
      <p:grpSpPr>
        <a:xfrm>
          <a:off x="0" y="0"/>
          <a:ext cx="0" cy="0"/>
          <a:chOff x="0" y="0"/>
          <a:chExt cx="0" cy="0"/>
        </a:xfrm>
      </p:grpSpPr>
      <p:sp>
        <p:nvSpPr>
          <p:cNvPr id="14" name="Oval 13">
            <a:extLst>
              <a:ext uri="{FF2B5EF4-FFF2-40B4-BE49-F238E27FC236}">
                <a16:creationId xmlns:a16="http://schemas.microsoft.com/office/drawing/2014/main" id="{B61BDDFF-913C-8435-D354-A71C5B9B375C}"/>
              </a:ext>
            </a:extLst>
          </p:cNvPr>
          <p:cNvSpPr/>
          <p:nvPr/>
        </p:nvSpPr>
        <p:spPr>
          <a:xfrm>
            <a:off x="4607487" y="-243893"/>
            <a:ext cx="1586378" cy="1586378"/>
          </a:xfrm>
          <a:prstGeom prst="ellipse">
            <a:avLst/>
          </a:prstGeom>
          <a:noFill/>
          <a:ln w="57150">
            <a:solidFill>
              <a:schemeClr val="accent2">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CF3AEB51-1410-D135-AA54-75DECD19F397}"/>
              </a:ext>
            </a:extLst>
          </p:cNvPr>
          <p:cNvCxnSpPr>
            <a:cxnSpLocks/>
          </p:cNvCxnSpPr>
          <p:nvPr/>
        </p:nvCxnSpPr>
        <p:spPr>
          <a:xfrm>
            <a:off x="-363907" y="1175192"/>
            <a:ext cx="2926132"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B824B5B7-A31C-10B8-FD0A-842E8D6C3D76}"/>
              </a:ext>
            </a:extLst>
          </p:cNvPr>
          <p:cNvCxnSpPr/>
          <p:nvPr/>
        </p:nvCxnSpPr>
        <p:spPr>
          <a:xfrm>
            <a:off x="8630196" y="6714818"/>
            <a:ext cx="3805083"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E0BF2B1D-09EE-E00F-9493-2EE5F3EF7B34}"/>
              </a:ext>
            </a:extLst>
          </p:cNvPr>
          <p:cNvSpPr/>
          <p:nvPr/>
        </p:nvSpPr>
        <p:spPr>
          <a:xfrm>
            <a:off x="112344" y="93525"/>
            <a:ext cx="5288332" cy="911542"/>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t>WHAT IS DESIGN?</a:t>
            </a:r>
          </a:p>
        </p:txBody>
      </p:sp>
      <p:sp>
        <p:nvSpPr>
          <p:cNvPr id="16" name="Rectangle 15">
            <a:extLst>
              <a:ext uri="{FF2B5EF4-FFF2-40B4-BE49-F238E27FC236}">
                <a16:creationId xmlns:a16="http://schemas.microsoft.com/office/drawing/2014/main" id="{63B5AA98-E6F9-8FFD-7BCD-135A7B781E6C}"/>
              </a:ext>
            </a:extLst>
          </p:cNvPr>
          <p:cNvSpPr/>
          <p:nvPr/>
        </p:nvSpPr>
        <p:spPr>
          <a:xfrm>
            <a:off x="526943" y="1695457"/>
            <a:ext cx="7224497" cy="4835840"/>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spcAft>
                <a:spcPts val="600"/>
              </a:spcAft>
              <a:buFont typeface="Arial" panose="020B0604020202020204" pitchFamily="34" charset="0"/>
              <a:buChar char="•"/>
            </a:pPr>
            <a:r>
              <a:rPr lang="en-US" dirty="0"/>
              <a:t>Per the IB:</a:t>
            </a:r>
          </a:p>
          <a:p>
            <a:pPr marL="742950" lvl="1" indent="-285750">
              <a:spcAft>
                <a:spcPts val="600"/>
              </a:spcAft>
              <a:buFont typeface="Arial" panose="020B0604020202020204" pitchFamily="34" charset="0"/>
              <a:buChar char="•"/>
            </a:pPr>
            <a:r>
              <a:rPr lang="en-US" dirty="0">
                <a:latin typeface="Baguet Script" panose="020F0502020204030204" pitchFamily="2" charset="0"/>
              </a:rPr>
              <a:t>Design is the link between innovation and creativity, taking thoughts and exploring the possibilities and constraints associated with products or systems, allowing them to redefine and manage the generation of further thought through prototyping, experimentation, and adaptation. It is human-centered and focuses on the needs, wants, and limitations of the user.</a:t>
            </a:r>
          </a:p>
          <a:p>
            <a:pPr marL="285750" indent="-285750">
              <a:spcAft>
                <a:spcPts val="600"/>
              </a:spcAft>
              <a:buFont typeface="Arial" panose="020B0604020202020204" pitchFamily="34" charset="0"/>
              <a:buChar char="•"/>
            </a:pPr>
            <a:r>
              <a:rPr lang="en-US" dirty="0"/>
              <a:t>As designers, we:</a:t>
            </a:r>
          </a:p>
          <a:p>
            <a:pPr marL="742950" lvl="1" indent="-285750">
              <a:spcAft>
                <a:spcPts val="600"/>
              </a:spcAft>
              <a:buFont typeface="Arial" panose="020B0604020202020204" pitchFamily="34" charset="0"/>
              <a:buChar char="•"/>
            </a:pPr>
            <a:r>
              <a:rPr lang="en-US" dirty="0"/>
              <a:t>Adapt approaches to different situations</a:t>
            </a:r>
          </a:p>
          <a:p>
            <a:pPr marL="742950" lvl="1" indent="-285750">
              <a:spcAft>
                <a:spcPts val="600"/>
              </a:spcAft>
              <a:buFont typeface="Arial" panose="020B0604020202020204" pitchFamily="34" charset="0"/>
              <a:buChar char="•"/>
            </a:pPr>
            <a:r>
              <a:rPr lang="en-US" dirty="0"/>
              <a:t>Have responsibilities to the community and the environment</a:t>
            </a:r>
          </a:p>
          <a:p>
            <a:pPr marL="742950" lvl="1" indent="-285750">
              <a:spcAft>
                <a:spcPts val="600"/>
              </a:spcAft>
              <a:buFont typeface="Arial" panose="020B0604020202020204" pitchFamily="34" charset="0"/>
              <a:buChar char="•"/>
            </a:pPr>
            <a:r>
              <a:rPr lang="en-US" dirty="0"/>
              <a:t>Maintain unbiased views on situations and evaluate objectively</a:t>
            </a:r>
          </a:p>
          <a:p>
            <a:pPr marL="742950" lvl="1" indent="-285750">
              <a:spcAft>
                <a:spcPts val="600"/>
              </a:spcAft>
              <a:buFont typeface="Arial" panose="020B0604020202020204" pitchFamily="34" charset="0"/>
              <a:buChar char="•"/>
            </a:pPr>
            <a:r>
              <a:rPr lang="en-US" dirty="0"/>
              <a:t>Have good communication</a:t>
            </a:r>
          </a:p>
          <a:p>
            <a:pPr marL="742950" lvl="1" indent="-285750">
              <a:spcAft>
                <a:spcPts val="600"/>
              </a:spcAft>
              <a:buFont typeface="Arial" panose="020B0604020202020204" pitchFamily="34" charset="0"/>
              <a:buChar char="•"/>
            </a:pPr>
            <a:r>
              <a:rPr lang="en-US" dirty="0"/>
              <a:t>Are creative, imaginative, knowledgeable, researchers, investigators, problem solvers</a:t>
            </a:r>
          </a:p>
          <a:p>
            <a:pPr marL="742950" lvl="1" indent="-285750">
              <a:spcAft>
                <a:spcPts val="600"/>
              </a:spcAft>
              <a:buFont typeface="Arial" panose="020B0604020202020204" pitchFamily="34" charset="0"/>
              <a:buChar char="•"/>
            </a:pPr>
            <a:endParaRPr lang="en-US" dirty="0"/>
          </a:p>
        </p:txBody>
      </p:sp>
      <p:cxnSp>
        <p:nvCxnSpPr>
          <p:cNvPr id="3" name="Straight Connector 2">
            <a:extLst>
              <a:ext uri="{FF2B5EF4-FFF2-40B4-BE49-F238E27FC236}">
                <a16:creationId xmlns:a16="http://schemas.microsoft.com/office/drawing/2014/main" id="{6706EAEB-658B-CB1F-62F8-76995BD7C843}"/>
              </a:ext>
            </a:extLst>
          </p:cNvPr>
          <p:cNvCxnSpPr>
            <a:cxnSpLocks/>
          </p:cNvCxnSpPr>
          <p:nvPr/>
        </p:nvCxnSpPr>
        <p:spPr>
          <a:xfrm>
            <a:off x="12057283" y="-1425440"/>
            <a:ext cx="0" cy="3320915"/>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pic>
        <p:nvPicPr>
          <p:cNvPr id="7" name="Picture 6" descr="Patrick Nailing a Board to his Head Original | Patrick Star | Know Your ...">
            <a:extLst>
              <a:ext uri="{FF2B5EF4-FFF2-40B4-BE49-F238E27FC236}">
                <a16:creationId xmlns:a16="http://schemas.microsoft.com/office/drawing/2014/main" id="{379CC893-97DB-0807-3895-DBB211DD7131}"/>
              </a:ext>
            </a:extLst>
          </p:cNvPr>
          <p:cNvPicPr>
            <a:picLocks noChangeAspect="1"/>
          </p:cNvPicPr>
          <p:nvPr/>
        </p:nvPicPr>
        <p:blipFill>
          <a:blip r:embed="rId2"/>
          <a:srcRect l="7985" r="18265"/>
          <a:stretch>
            <a:fillRect/>
          </a:stretch>
        </p:blipFill>
        <p:spPr>
          <a:xfrm>
            <a:off x="8054342" y="2181227"/>
            <a:ext cx="4002941" cy="4070790"/>
          </a:xfrm>
          <a:prstGeom prst="rect">
            <a:avLst/>
          </a:prstGeom>
        </p:spPr>
      </p:pic>
    </p:spTree>
    <p:extLst>
      <p:ext uri="{BB962C8B-B14F-4D97-AF65-F5344CB8AC3E}">
        <p14:creationId xmlns:p14="http://schemas.microsoft.com/office/powerpoint/2010/main" val="715987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withEffect">
                                  <p:stCondLst>
                                    <p:cond delay="0"/>
                                  </p:stCondLst>
                                  <p:childTnLst>
                                    <p:animRot by="21600000">
                                      <p:cBhvr>
                                        <p:cTn id="6" dur="10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
          <a:extLst>
            <a:ext uri="{FF2B5EF4-FFF2-40B4-BE49-F238E27FC236}">
              <a16:creationId xmlns:a16="http://schemas.microsoft.com/office/drawing/2014/main" id="{5C6CA7C8-FB17-B711-631B-E2D76590C16F}"/>
            </a:ext>
          </a:extLst>
        </p:cNvPr>
        <p:cNvGrpSpPr/>
        <p:nvPr/>
      </p:nvGrpSpPr>
      <p:grpSpPr>
        <a:xfrm>
          <a:off x="0" y="0"/>
          <a:ext cx="0" cy="0"/>
          <a:chOff x="0" y="0"/>
          <a:chExt cx="0" cy="0"/>
        </a:xfrm>
      </p:grpSpPr>
      <p:sp>
        <p:nvSpPr>
          <p:cNvPr id="14" name="Oval 13">
            <a:extLst>
              <a:ext uri="{FF2B5EF4-FFF2-40B4-BE49-F238E27FC236}">
                <a16:creationId xmlns:a16="http://schemas.microsoft.com/office/drawing/2014/main" id="{F1AFEFA6-D584-A8B4-8E85-B6C1797976D2}"/>
              </a:ext>
            </a:extLst>
          </p:cNvPr>
          <p:cNvSpPr/>
          <p:nvPr/>
        </p:nvSpPr>
        <p:spPr>
          <a:xfrm>
            <a:off x="4607487" y="-243893"/>
            <a:ext cx="1586378" cy="1586378"/>
          </a:xfrm>
          <a:prstGeom prst="ellipse">
            <a:avLst/>
          </a:prstGeom>
          <a:noFill/>
          <a:ln w="57150">
            <a:solidFill>
              <a:schemeClr val="accent2">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71A9F943-B788-C07F-11B9-EDAD1C9EBE10}"/>
              </a:ext>
            </a:extLst>
          </p:cNvPr>
          <p:cNvCxnSpPr>
            <a:cxnSpLocks/>
          </p:cNvCxnSpPr>
          <p:nvPr/>
        </p:nvCxnSpPr>
        <p:spPr>
          <a:xfrm>
            <a:off x="-363907" y="1175192"/>
            <a:ext cx="2926132"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5F5A4FE3-B6CB-455D-0C79-DD89B3A52191}"/>
              </a:ext>
            </a:extLst>
          </p:cNvPr>
          <p:cNvCxnSpPr/>
          <p:nvPr/>
        </p:nvCxnSpPr>
        <p:spPr>
          <a:xfrm>
            <a:off x="8630196" y="6714818"/>
            <a:ext cx="3805083"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6C71DEDC-4DC0-E658-5212-E821A01B973E}"/>
              </a:ext>
            </a:extLst>
          </p:cNvPr>
          <p:cNvSpPr/>
          <p:nvPr/>
        </p:nvSpPr>
        <p:spPr>
          <a:xfrm>
            <a:off x="112344" y="93525"/>
            <a:ext cx="5288332" cy="911542"/>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t>WHAT IS DESIGN?</a:t>
            </a:r>
          </a:p>
        </p:txBody>
      </p:sp>
      <p:sp>
        <p:nvSpPr>
          <p:cNvPr id="16" name="Rectangle 15">
            <a:extLst>
              <a:ext uri="{FF2B5EF4-FFF2-40B4-BE49-F238E27FC236}">
                <a16:creationId xmlns:a16="http://schemas.microsoft.com/office/drawing/2014/main" id="{B3110573-2E58-2606-A02C-105DDB2537B1}"/>
              </a:ext>
            </a:extLst>
          </p:cNvPr>
          <p:cNvSpPr/>
          <p:nvPr/>
        </p:nvSpPr>
        <p:spPr>
          <a:xfrm>
            <a:off x="526943" y="1695457"/>
            <a:ext cx="11265007" cy="4835840"/>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spcAft>
                <a:spcPts val="600"/>
              </a:spcAft>
              <a:buFont typeface="Arial" panose="020B0604020202020204" pitchFamily="34" charset="0"/>
              <a:buChar char="•"/>
            </a:pPr>
            <a:r>
              <a:rPr lang="en-US" dirty="0"/>
              <a:t>This is a </a:t>
            </a:r>
            <a:r>
              <a:rPr lang="en-US" b="1" i="1" dirty="0"/>
              <a:t>digital </a:t>
            </a:r>
            <a:r>
              <a:rPr lang="en-US" dirty="0"/>
              <a:t>design class, meaning our work will take place on computers, mostly</a:t>
            </a:r>
          </a:p>
          <a:p>
            <a:pPr marL="285750" indent="-285750">
              <a:spcAft>
                <a:spcPts val="600"/>
              </a:spcAft>
              <a:buFont typeface="Arial" panose="020B0604020202020204" pitchFamily="34" charset="0"/>
              <a:buChar char="•"/>
            </a:pPr>
            <a:r>
              <a:rPr lang="en-US" dirty="0"/>
              <a:t>We’ll be exploring a variety of computing topics, while also using traditional design skills</a:t>
            </a:r>
          </a:p>
        </p:txBody>
      </p:sp>
      <p:cxnSp>
        <p:nvCxnSpPr>
          <p:cNvPr id="3" name="Straight Connector 2">
            <a:extLst>
              <a:ext uri="{FF2B5EF4-FFF2-40B4-BE49-F238E27FC236}">
                <a16:creationId xmlns:a16="http://schemas.microsoft.com/office/drawing/2014/main" id="{EDA7CD9E-F7CD-A557-C069-935332762B88}"/>
              </a:ext>
            </a:extLst>
          </p:cNvPr>
          <p:cNvCxnSpPr>
            <a:cxnSpLocks/>
          </p:cNvCxnSpPr>
          <p:nvPr/>
        </p:nvCxnSpPr>
        <p:spPr>
          <a:xfrm>
            <a:off x="12057283" y="-1425440"/>
            <a:ext cx="0" cy="3320915"/>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pic>
        <p:nvPicPr>
          <p:cNvPr id="2" name="Picture 1" descr="Spongebob Patrick Star GIF - Spongebob Patrick Star We Have Technology ...">
            <a:extLst>
              <a:ext uri="{FF2B5EF4-FFF2-40B4-BE49-F238E27FC236}">
                <a16:creationId xmlns:a16="http://schemas.microsoft.com/office/drawing/2014/main" id="{550EFDED-1321-624B-F2B1-8773F7EC746F}"/>
              </a:ext>
            </a:extLst>
          </p:cNvPr>
          <p:cNvPicPr>
            <a:picLocks noChangeAspect="1"/>
          </p:cNvPicPr>
          <p:nvPr/>
        </p:nvPicPr>
        <p:blipFill>
          <a:blip r:embed="rId2"/>
          <a:stretch>
            <a:fillRect/>
          </a:stretch>
        </p:blipFill>
        <p:spPr>
          <a:xfrm>
            <a:off x="3145865" y="3105150"/>
            <a:ext cx="6096000" cy="2895600"/>
          </a:xfrm>
          <a:prstGeom prst="rect">
            <a:avLst/>
          </a:prstGeom>
        </p:spPr>
      </p:pic>
    </p:spTree>
    <p:extLst>
      <p:ext uri="{BB962C8B-B14F-4D97-AF65-F5344CB8AC3E}">
        <p14:creationId xmlns:p14="http://schemas.microsoft.com/office/powerpoint/2010/main" val="3800236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withEffect">
                                  <p:stCondLst>
                                    <p:cond delay="0"/>
                                  </p:stCondLst>
                                  <p:childTnLst>
                                    <p:animRot by="21600000">
                                      <p:cBhvr>
                                        <p:cTn id="6" dur="10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
          <a:extLst>
            <a:ext uri="{FF2B5EF4-FFF2-40B4-BE49-F238E27FC236}">
              <a16:creationId xmlns:a16="http://schemas.microsoft.com/office/drawing/2014/main" id="{C6911F05-CBF5-5346-197D-8D08A24F24CB}"/>
            </a:ext>
          </a:extLst>
        </p:cNvPr>
        <p:cNvGrpSpPr/>
        <p:nvPr/>
      </p:nvGrpSpPr>
      <p:grpSpPr>
        <a:xfrm>
          <a:off x="0" y="0"/>
          <a:ext cx="0" cy="0"/>
          <a:chOff x="0" y="0"/>
          <a:chExt cx="0" cy="0"/>
        </a:xfrm>
      </p:grpSpPr>
      <p:sp>
        <p:nvSpPr>
          <p:cNvPr id="14" name="Oval 13">
            <a:extLst>
              <a:ext uri="{FF2B5EF4-FFF2-40B4-BE49-F238E27FC236}">
                <a16:creationId xmlns:a16="http://schemas.microsoft.com/office/drawing/2014/main" id="{3ADEE900-106F-4B48-2F33-0E84FCB1F956}"/>
              </a:ext>
            </a:extLst>
          </p:cNvPr>
          <p:cNvSpPr/>
          <p:nvPr/>
        </p:nvSpPr>
        <p:spPr>
          <a:xfrm>
            <a:off x="5159935" y="-243893"/>
            <a:ext cx="1586378" cy="1586378"/>
          </a:xfrm>
          <a:prstGeom prst="ellipse">
            <a:avLst/>
          </a:prstGeom>
          <a:noFill/>
          <a:ln w="57150">
            <a:solidFill>
              <a:schemeClr val="accent2">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C0854CCD-2539-88A5-2844-725861CE84F7}"/>
              </a:ext>
            </a:extLst>
          </p:cNvPr>
          <p:cNvCxnSpPr>
            <a:cxnSpLocks/>
          </p:cNvCxnSpPr>
          <p:nvPr/>
        </p:nvCxnSpPr>
        <p:spPr>
          <a:xfrm>
            <a:off x="-363907" y="1175192"/>
            <a:ext cx="2926132"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2B6BC0ED-3B31-56BF-46AF-347D768E4256}"/>
              </a:ext>
            </a:extLst>
          </p:cNvPr>
          <p:cNvCxnSpPr/>
          <p:nvPr/>
        </p:nvCxnSpPr>
        <p:spPr>
          <a:xfrm>
            <a:off x="8630196" y="6714818"/>
            <a:ext cx="3805083"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FAAB81FD-D881-E954-A095-F4F817F3996D}"/>
              </a:ext>
            </a:extLst>
          </p:cNvPr>
          <p:cNvSpPr/>
          <p:nvPr/>
        </p:nvSpPr>
        <p:spPr>
          <a:xfrm>
            <a:off x="112343" y="93525"/>
            <a:ext cx="5840781" cy="911542"/>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t>THE DESIGN CYCLE</a:t>
            </a:r>
          </a:p>
        </p:txBody>
      </p:sp>
      <p:sp>
        <p:nvSpPr>
          <p:cNvPr id="16" name="Rectangle 15">
            <a:extLst>
              <a:ext uri="{FF2B5EF4-FFF2-40B4-BE49-F238E27FC236}">
                <a16:creationId xmlns:a16="http://schemas.microsoft.com/office/drawing/2014/main" id="{814A722A-EB12-95F3-697C-355AE47F4388}"/>
              </a:ext>
            </a:extLst>
          </p:cNvPr>
          <p:cNvSpPr/>
          <p:nvPr/>
        </p:nvSpPr>
        <p:spPr>
          <a:xfrm>
            <a:off x="526943" y="1695457"/>
            <a:ext cx="5315275" cy="4835840"/>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spcAft>
                <a:spcPts val="600"/>
              </a:spcAft>
              <a:buFont typeface="Arial" panose="020B0604020202020204" pitchFamily="34" charset="0"/>
              <a:buChar char="•"/>
            </a:pPr>
            <a:r>
              <a:rPr lang="en-US" dirty="0"/>
              <a:t>I’m sure, by now, you’ve all seen the design cycle</a:t>
            </a:r>
          </a:p>
          <a:p>
            <a:pPr marL="285750" indent="-285750">
              <a:spcAft>
                <a:spcPts val="600"/>
              </a:spcAft>
              <a:buFont typeface="Arial" panose="020B0604020202020204" pitchFamily="34" charset="0"/>
              <a:buChar char="•"/>
            </a:pPr>
            <a:r>
              <a:rPr lang="en-US" dirty="0"/>
              <a:t>As opposed to something like the scientific method, the design cycle lets you go back and forth between steps whenever you please, if it’s in the best interest of your designing process</a:t>
            </a:r>
          </a:p>
          <a:p>
            <a:pPr marL="285750" indent="-285750">
              <a:spcAft>
                <a:spcPts val="600"/>
              </a:spcAft>
              <a:buFont typeface="Arial" panose="020B0604020202020204" pitchFamily="34" charset="0"/>
              <a:buChar char="•"/>
            </a:pPr>
            <a:r>
              <a:rPr lang="en-US" dirty="0"/>
              <a:t>We’ll be touching on every part of the design cycle many times in the upcoming year while we learn our tools</a:t>
            </a:r>
          </a:p>
          <a:p>
            <a:pPr marL="285750" indent="-285750">
              <a:spcAft>
                <a:spcPts val="600"/>
              </a:spcAft>
              <a:buFont typeface="Arial" panose="020B0604020202020204" pitchFamily="34" charset="0"/>
              <a:buChar char="•"/>
            </a:pPr>
            <a:endParaRPr lang="en-US" dirty="0"/>
          </a:p>
        </p:txBody>
      </p:sp>
      <p:cxnSp>
        <p:nvCxnSpPr>
          <p:cNvPr id="3" name="Straight Connector 2">
            <a:extLst>
              <a:ext uri="{FF2B5EF4-FFF2-40B4-BE49-F238E27FC236}">
                <a16:creationId xmlns:a16="http://schemas.microsoft.com/office/drawing/2014/main" id="{16152B7D-0977-658E-889E-B6BA7AAF6609}"/>
              </a:ext>
            </a:extLst>
          </p:cNvPr>
          <p:cNvCxnSpPr>
            <a:cxnSpLocks/>
          </p:cNvCxnSpPr>
          <p:nvPr/>
        </p:nvCxnSpPr>
        <p:spPr>
          <a:xfrm>
            <a:off x="12057283" y="-1425440"/>
            <a:ext cx="0" cy="3320915"/>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pic>
        <p:nvPicPr>
          <p:cNvPr id="4" name="Picture 3" descr="MYP Design Basics - One Perspective - VistaThink">
            <a:extLst>
              <a:ext uri="{FF2B5EF4-FFF2-40B4-BE49-F238E27FC236}">
                <a16:creationId xmlns:a16="http://schemas.microsoft.com/office/drawing/2014/main" id="{E4A71896-6F75-954E-6905-99F310FFFBDC}"/>
              </a:ext>
            </a:extLst>
          </p:cNvPr>
          <p:cNvPicPr>
            <a:picLocks noChangeAspect="1"/>
          </p:cNvPicPr>
          <p:nvPr/>
        </p:nvPicPr>
        <p:blipFill>
          <a:blip r:embed="rId2"/>
          <a:stretch>
            <a:fillRect/>
          </a:stretch>
        </p:blipFill>
        <p:spPr>
          <a:xfrm>
            <a:off x="5842219" y="234477"/>
            <a:ext cx="6215064" cy="6215064"/>
          </a:xfrm>
          <a:prstGeom prst="rect">
            <a:avLst/>
          </a:prstGeom>
        </p:spPr>
      </p:pic>
    </p:spTree>
    <p:extLst>
      <p:ext uri="{BB962C8B-B14F-4D97-AF65-F5344CB8AC3E}">
        <p14:creationId xmlns:p14="http://schemas.microsoft.com/office/powerpoint/2010/main" val="1935563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withEffect">
                                  <p:stCondLst>
                                    <p:cond delay="0"/>
                                  </p:stCondLst>
                                  <p:childTnLst>
                                    <p:animRot by="21600000">
                                      <p:cBhvr>
                                        <p:cTn id="6" dur="10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
          <a:extLst>
            <a:ext uri="{FF2B5EF4-FFF2-40B4-BE49-F238E27FC236}">
              <a16:creationId xmlns:a16="http://schemas.microsoft.com/office/drawing/2014/main" id="{E8FB20BB-0742-124F-4888-AF6683B076F5}"/>
            </a:ext>
          </a:extLst>
        </p:cNvPr>
        <p:cNvGrpSpPr/>
        <p:nvPr/>
      </p:nvGrpSpPr>
      <p:grpSpPr>
        <a:xfrm>
          <a:off x="0" y="0"/>
          <a:ext cx="0" cy="0"/>
          <a:chOff x="0" y="0"/>
          <a:chExt cx="0" cy="0"/>
        </a:xfrm>
      </p:grpSpPr>
      <p:sp>
        <p:nvSpPr>
          <p:cNvPr id="14" name="Oval 13">
            <a:extLst>
              <a:ext uri="{FF2B5EF4-FFF2-40B4-BE49-F238E27FC236}">
                <a16:creationId xmlns:a16="http://schemas.microsoft.com/office/drawing/2014/main" id="{770349E8-6E8F-7AE4-64BF-DCA771E3AB0E}"/>
              </a:ext>
            </a:extLst>
          </p:cNvPr>
          <p:cNvSpPr/>
          <p:nvPr/>
        </p:nvSpPr>
        <p:spPr>
          <a:xfrm>
            <a:off x="6541059" y="-243893"/>
            <a:ext cx="1586378" cy="1586378"/>
          </a:xfrm>
          <a:prstGeom prst="ellipse">
            <a:avLst/>
          </a:prstGeom>
          <a:noFill/>
          <a:ln w="57150">
            <a:solidFill>
              <a:schemeClr val="accent2">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CB16323F-2553-99A6-7F11-9EAFE4CC3C71}"/>
              </a:ext>
            </a:extLst>
          </p:cNvPr>
          <p:cNvCxnSpPr>
            <a:cxnSpLocks/>
          </p:cNvCxnSpPr>
          <p:nvPr/>
        </p:nvCxnSpPr>
        <p:spPr>
          <a:xfrm>
            <a:off x="-363907" y="1175192"/>
            <a:ext cx="2926132"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E7D38592-6CCC-044A-6D50-BA01FBE9F320}"/>
              </a:ext>
            </a:extLst>
          </p:cNvPr>
          <p:cNvCxnSpPr/>
          <p:nvPr/>
        </p:nvCxnSpPr>
        <p:spPr>
          <a:xfrm>
            <a:off x="8630196" y="6714818"/>
            <a:ext cx="3805083"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F7AA687C-1418-A8A4-D874-288EA57D3DB1}"/>
              </a:ext>
            </a:extLst>
          </p:cNvPr>
          <p:cNvSpPr/>
          <p:nvPr/>
        </p:nvSpPr>
        <p:spPr>
          <a:xfrm>
            <a:off x="112343" y="93525"/>
            <a:ext cx="7221905" cy="911542"/>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t>ASSESSMENT THIS YEAR</a:t>
            </a:r>
          </a:p>
        </p:txBody>
      </p:sp>
      <p:sp>
        <p:nvSpPr>
          <p:cNvPr id="16" name="Rectangle 15">
            <a:extLst>
              <a:ext uri="{FF2B5EF4-FFF2-40B4-BE49-F238E27FC236}">
                <a16:creationId xmlns:a16="http://schemas.microsoft.com/office/drawing/2014/main" id="{A1ED31CC-47F7-3A5E-2079-BEEB20409179}"/>
              </a:ext>
            </a:extLst>
          </p:cNvPr>
          <p:cNvSpPr/>
          <p:nvPr/>
        </p:nvSpPr>
        <p:spPr>
          <a:xfrm>
            <a:off x="526943" y="1695457"/>
            <a:ext cx="5315275" cy="4835840"/>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spcAft>
                <a:spcPts val="600"/>
              </a:spcAft>
              <a:buFont typeface="Arial" panose="020B0604020202020204" pitchFamily="34" charset="0"/>
              <a:buChar char="•"/>
            </a:pPr>
            <a:r>
              <a:rPr lang="en-US" dirty="0"/>
              <a:t>Assessment will be done using the 4 sectors of the design cycle</a:t>
            </a:r>
          </a:p>
          <a:p>
            <a:pPr marL="285750" indent="-285750">
              <a:spcAft>
                <a:spcPts val="600"/>
              </a:spcAft>
              <a:buFont typeface="Arial" panose="020B0604020202020204" pitchFamily="34" charset="0"/>
              <a:buChar char="•"/>
            </a:pPr>
            <a:r>
              <a:rPr lang="en-US" dirty="0"/>
              <a:t>Criteria A – Inquiring and Analyzing</a:t>
            </a:r>
          </a:p>
          <a:p>
            <a:pPr marL="285750" indent="-285750">
              <a:spcAft>
                <a:spcPts val="600"/>
              </a:spcAft>
              <a:buFont typeface="Arial" panose="020B0604020202020204" pitchFamily="34" charset="0"/>
              <a:buChar char="•"/>
            </a:pPr>
            <a:r>
              <a:rPr lang="en-US" dirty="0"/>
              <a:t>Criteria B – Developing Ideas</a:t>
            </a:r>
          </a:p>
          <a:p>
            <a:pPr marL="285750" indent="-285750">
              <a:spcAft>
                <a:spcPts val="600"/>
              </a:spcAft>
              <a:buFont typeface="Arial" panose="020B0604020202020204" pitchFamily="34" charset="0"/>
              <a:buChar char="•"/>
            </a:pPr>
            <a:r>
              <a:rPr lang="en-US" dirty="0"/>
              <a:t>Criteria C – Creating the Solution</a:t>
            </a:r>
          </a:p>
          <a:p>
            <a:pPr marL="285750" indent="-285750">
              <a:spcAft>
                <a:spcPts val="600"/>
              </a:spcAft>
              <a:buFont typeface="Arial" panose="020B0604020202020204" pitchFamily="34" charset="0"/>
              <a:buChar char="•"/>
            </a:pPr>
            <a:r>
              <a:rPr lang="en-US" dirty="0"/>
              <a:t>Criteria D – Evaluating</a:t>
            </a:r>
          </a:p>
          <a:p>
            <a:pPr>
              <a:spcAft>
                <a:spcPts val="600"/>
              </a:spcAft>
            </a:pPr>
            <a:endParaRPr lang="en-US" dirty="0"/>
          </a:p>
          <a:p>
            <a:pPr marL="285750" indent="-285750">
              <a:spcAft>
                <a:spcPts val="600"/>
              </a:spcAft>
              <a:buFont typeface="Arial" panose="020B0604020202020204" pitchFamily="34" charset="0"/>
              <a:buChar char="•"/>
            </a:pPr>
            <a:r>
              <a:rPr lang="en-US" dirty="0"/>
              <a:t>Each quarter will hold a summative design project where you’ll be assessed on most, or all, of these criteria</a:t>
            </a:r>
          </a:p>
          <a:p>
            <a:pPr marL="285750" indent="-285750">
              <a:spcAft>
                <a:spcPts val="600"/>
              </a:spcAft>
              <a:buFont typeface="Arial" panose="020B0604020202020204" pitchFamily="34" charset="0"/>
              <a:buChar char="•"/>
            </a:pPr>
            <a:r>
              <a:rPr lang="en-US" dirty="0"/>
              <a:t>In-between those projects, we’ll be developing skills formatively, doing lessons, labs, and activities</a:t>
            </a:r>
          </a:p>
          <a:p>
            <a:pPr marL="285750" indent="-285750">
              <a:spcAft>
                <a:spcPts val="600"/>
              </a:spcAft>
              <a:buFont typeface="Arial" panose="020B0604020202020204" pitchFamily="34" charset="0"/>
              <a:buChar char="•"/>
            </a:pPr>
            <a:r>
              <a:rPr lang="en-US" dirty="0"/>
              <a:t>This means that your projects are each very large components of your grade</a:t>
            </a:r>
          </a:p>
          <a:p>
            <a:pPr>
              <a:spcAft>
                <a:spcPts val="600"/>
              </a:spcAft>
            </a:pPr>
            <a:endParaRPr lang="en-US" dirty="0"/>
          </a:p>
        </p:txBody>
      </p:sp>
      <p:cxnSp>
        <p:nvCxnSpPr>
          <p:cNvPr id="3" name="Straight Connector 2">
            <a:extLst>
              <a:ext uri="{FF2B5EF4-FFF2-40B4-BE49-F238E27FC236}">
                <a16:creationId xmlns:a16="http://schemas.microsoft.com/office/drawing/2014/main" id="{4BB1CA66-151F-C0B8-CC82-C11B30DCD141}"/>
              </a:ext>
            </a:extLst>
          </p:cNvPr>
          <p:cNvCxnSpPr>
            <a:cxnSpLocks/>
          </p:cNvCxnSpPr>
          <p:nvPr/>
        </p:nvCxnSpPr>
        <p:spPr>
          <a:xfrm>
            <a:off x="12057283" y="-1425440"/>
            <a:ext cx="0" cy="3320915"/>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pic>
        <p:nvPicPr>
          <p:cNvPr id="4" name="Picture 3" descr="MYP Design Basics - One Perspective - VistaThink">
            <a:extLst>
              <a:ext uri="{FF2B5EF4-FFF2-40B4-BE49-F238E27FC236}">
                <a16:creationId xmlns:a16="http://schemas.microsoft.com/office/drawing/2014/main" id="{26606171-9017-F8F8-0DDE-51ED3F5FCCE3}"/>
              </a:ext>
            </a:extLst>
          </p:cNvPr>
          <p:cNvPicPr>
            <a:picLocks noChangeAspect="1"/>
          </p:cNvPicPr>
          <p:nvPr/>
        </p:nvPicPr>
        <p:blipFill>
          <a:blip r:embed="rId2"/>
          <a:stretch>
            <a:fillRect/>
          </a:stretch>
        </p:blipFill>
        <p:spPr>
          <a:xfrm>
            <a:off x="5842219" y="234477"/>
            <a:ext cx="6215064" cy="6215064"/>
          </a:xfrm>
          <a:prstGeom prst="rect">
            <a:avLst/>
          </a:prstGeom>
        </p:spPr>
      </p:pic>
    </p:spTree>
    <p:extLst>
      <p:ext uri="{BB962C8B-B14F-4D97-AF65-F5344CB8AC3E}">
        <p14:creationId xmlns:p14="http://schemas.microsoft.com/office/powerpoint/2010/main" val="2225635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withEffect">
                                  <p:stCondLst>
                                    <p:cond delay="0"/>
                                  </p:stCondLst>
                                  <p:childTnLst>
                                    <p:animRot by="21600000">
                                      <p:cBhvr>
                                        <p:cTn id="6" dur="10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
          <a:extLst>
            <a:ext uri="{FF2B5EF4-FFF2-40B4-BE49-F238E27FC236}">
              <a16:creationId xmlns:a16="http://schemas.microsoft.com/office/drawing/2014/main" id="{7EC419E3-39B9-5976-AB39-C1A4C2377885}"/>
            </a:ext>
          </a:extLst>
        </p:cNvPr>
        <p:cNvGrpSpPr/>
        <p:nvPr/>
      </p:nvGrpSpPr>
      <p:grpSpPr>
        <a:xfrm>
          <a:off x="0" y="0"/>
          <a:ext cx="0" cy="0"/>
          <a:chOff x="0" y="0"/>
          <a:chExt cx="0" cy="0"/>
        </a:xfrm>
      </p:grpSpPr>
      <p:sp>
        <p:nvSpPr>
          <p:cNvPr id="14" name="Oval 13">
            <a:extLst>
              <a:ext uri="{FF2B5EF4-FFF2-40B4-BE49-F238E27FC236}">
                <a16:creationId xmlns:a16="http://schemas.microsoft.com/office/drawing/2014/main" id="{77652548-D623-255E-53DB-8CBB39143AC5}"/>
              </a:ext>
            </a:extLst>
          </p:cNvPr>
          <p:cNvSpPr/>
          <p:nvPr/>
        </p:nvSpPr>
        <p:spPr>
          <a:xfrm>
            <a:off x="6541059" y="-243893"/>
            <a:ext cx="1586378" cy="1586378"/>
          </a:xfrm>
          <a:prstGeom prst="ellipse">
            <a:avLst/>
          </a:prstGeom>
          <a:noFill/>
          <a:ln w="57150">
            <a:solidFill>
              <a:schemeClr val="accent2">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6ED64EF8-9A97-614C-B08D-0142CCE3EDF0}"/>
              </a:ext>
            </a:extLst>
          </p:cNvPr>
          <p:cNvCxnSpPr>
            <a:cxnSpLocks/>
          </p:cNvCxnSpPr>
          <p:nvPr/>
        </p:nvCxnSpPr>
        <p:spPr>
          <a:xfrm>
            <a:off x="-363907" y="1175192"/>
            <a:ext cx="2926132"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6BCB1A83-B106-A690-C638-C3BC78D8F8C4}"/>
              </a:ext>
            </a:extLst>
          </p:cNvPr>
          <p:cNvCxnSpPr/>
          <p:nvPr/>
        </p:nvCxnSpPr>
        <p:spPr>
          <a:xfrm>
            <a:off x="8630196" y="6714818"/>
            <a:ext cx="3805083"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4EC0C053-62C6-4F9F-35DE-1CF4DC8F790A}"/>
              </a:ext>
            </a:extLst>
          </p:cNvPr>
          <p:cNvSpPr/>
          <p:nvPr/>
        </p:nvSpPr>
        <p:spPr>
          <a:xfrm>
            <a:off x="112343" y="93525"/>
            <a:ext cx="7221905" cy="911542"/>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t>ASSESSMENT THIS YEAR</a:t>
            </a:r>
          </a:p>
        </p:txBody>
      </p:sp>
      <p:sp>
        <p:nvSpPr>
          <p:cNvPr id="16" name="Rectangle 15">
            <a:extLst>
              <a:ext uri="{FF2B5EF4-FFF2-40B4-BE49-F238E27FC236}">
                <a16:creationId xmlns:a16="http://schemas.microsoft.com/office/drawing/2014/main" id="{DEE01703-5F8D-A8BF-6C24-3FCAFBE1237B}"/>
              </a:ext>
            </a:extLst>
          </p:cNvPr>
          <p:cNvSpPr/>
          <p:nvPr/>
        </p:nvSpPr>
        <p:spPr>
          <a:xfrm>
            <a:off x="526943" y="1695457"/>
            <a:ext cx="5315275" cy="4835840"/>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spcAft>
                <a:spcPts val="600"/>
              </a:spcAft>
              <a:buFont typeface="Arial" panose="020B0604020202020204" pitchFamily="34" charset="0"/>
              <a:buChar char="•"/>
            </a:pPr>
            <a:r>
              <a:rPr lang="en-US" dirty="0"/>
              <a:t>We’ll get more into the specifics on assessments when we actually have some, but if you have any questions, please don’t hesitate to reach out to me</a:t>
            </a:r>
          </a:p>
        </p:txBody>
      </p:sp>
      <p:cxnSp>
        <p:nvCxnSpPr>
          <p:cNvPr id="3" name="Straight Connector 2">
            <a:extLst>
              <a:ext uri="{FF2B5EF4-FFF2-40B4-BE49-F238E27FC236}">
                <a16:creationId xmlns:a16="http://schemas.microsoft.com/office/drawing/2014/main" id="{9E6A6306-DDCC-E728-666C-AD917413EE15}"/>
              </a:ext>
            </a:extLst>
          </p:cNvPr>
          <p:cNvCxnSpPr>
            <a:cxnSpLocks/>
          </p:cNvCxnSpPr>
          <p:nvPr/>
        </p:nvCxnSpPr>
        <p:spPr>
          <a:xfrm>
            <a:off x="12057283" y="-1425440"/>
            <a:ext cx="0" cy="3320915"/>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pic>
        <p:nvPicPr>
          <p:cNvPr id="4" name="Picture 3" descr="MYP Design Basics - One Perspective - VistaThink">
            <a:extLst>
              <a:ext uri="{FF2B5EF4-FFF2-40B4-BE49-F238E27FC236}">
                <a16:creationId xmlns:a16="http://schemas.microsoft.com/office/drawing/2014/main" id="{AAD033D7-A61C-D314-E402-CCAF02BF3732}"/>
              </a:ext>
            </a:extLst>
          </p:cNvPr>
          <p:cNvPicPr>
            <a:picLocks noChangeAspect="1"/>
          </p:cNvPicPr>
          <p:nvPr/>
        </p:nvPicPr>
        <p:blipFill>
          <a:blip r:embed="rId2"/>
          <a:stretch>
            <a:fillRect/>
          </a:stretch>
        </p:blipFill>
        <p:spPr>
          <a:xfrm>
            <a:off x="5842219" y="234477"/>
            <a:ext cx="6215064" cy="6215064"/>
          </a:xfrm>
          <a:prstGeom prst="rect">
            <a:avLst/>
          </a:prstGeom>
        </p:spPr>
      </p:pic>
    </p:spTree>
    <p:extLst>
      <p:ext uri="{BB962C8B-B14F-4D97-AF65-F5344CB8AC3E}">
        <p14:creationId xmlns:p14="http://schemas.microsoft.com/office/powerpoint/2010/main" val="1460444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withEffect">
                                  <p:stCondLst>
                                    <p:cond delay="0"/>
                                  </p:stCondLst>
                                  <p:childTnLst>
                                    <p:animRot by="21600000">
                                      <p:cBhvr>
                                        <p:cTn id="6" dur="10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
          <a:extLst>
            <a:ext uri="{FF2B5EF4-FFF2-40B4-BE49-F238E27FC236}">
              <a16:creationId xmlns:a16="http://schemas.microsoft.com/office/drawing/2014/main" id="{2879449D-A41F-6EA0-45D2-49FCC629D65C}"/>
            </a:ext>
          </a:extLst>
        </p:cNvPr>
        <p:cNvGrpSpPr/>
        <p:nvPr/>
      </p:nvGrpSpPr>
      <p:grpSpPr>
        <a:xfrm>
          <a:off x="0" y="0"/>
          <a:ext cx="0" cy="0"/>
          <a:chOff x="0" y="0"/>
          <a:chExt cx="0" cy="0"/>
        </a:xfrm>
      </p:grpSpPr>
      <p:sp>
        <p:nvSpPr>
          <p:cNvPr id="14" name="Oval 13">
            <a:extLst>
              <a:ext uri="{FF2B5EF4-FFF2-40B4-BE49-F238E27FC236}">
                <a16:creationId xmlns:a16="http://schemas.microsoft.com/office/drawing/2014/main" id="{3342406F-9EA8-C130-604D-5E8831413E31}"/>
              </a:ext>
            </a:extLst>
          </p:cNvPr>
          <p:cNvSpPr/>
          <p:nvPr/>
        </p:nvSpPr>
        <p:spPr>
          <a:xfrm>
            <a:off x="7334247" y="-243893"/>
            <a:ext cx="1586378" cy="1586378"/>
          </a:xfrm>
          <a:prstGeom prst="ellipse">
            <a:avLst/>
          </a:prstGeom>
          <a:noFill/>
          <a:ln w="57150">
            <a:solidFill>
              <a:schemeClr val="accent2">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5F6F2579-3B41-9330-C717-A03AEA2EB785}"/>
              </a:ext>
            </a:extLst>
          </p:cNvPr>
          <p:cNvCxnSpPr>
            <a:cxnSpLocks/>
          </p:cNvCxnSpPr>
          <p:nvPr/>
        </p:nvCxnSpPr>
        <p:spPr>
          <a:xfrm>
            <a:off x="-363907" y="1175192"/>
            <a:ext cx="2926132"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1EA7FB93-C49B-2DFB-E33A-DAF27CD57803}"/>
              </a:ext>
            </a:extLst>
          </p:cNvPr>
          <p:cNvCxnSpPr/>
          <p:nvPr/>
        </p:nvCxnSpPr>
        <p:spPr>
          <a:xfrm>
            <a:off x="8630196" y="6714818"/>
            <a:ext cx="3805083"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661B557E-362A-18D2-B471-77F3931D76F4}"/>
              </a:ext>
            </a:extLst>
          </p:cNvPr>
          <p:cNvSpPr/>
          <p:nvPr/>
        </p:nvSpPr>
        <p:spPr>
          <a:xfrm>
            <a:off x="112343" y="93525"/>
            <a:ext cx="8015093" cy="911542"/>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t>CLASSROOM EXPECTATIONS</a:t>
            </a:r>
          </a:p>
        </p:txBody>
      </p:sp>
      <p:sp>
        <p:nvSpPr>
          <p:cNvPr id="16" name="Rectangle 15">
            <a:extLst>
              <a:ext uri="{FF2B5EF4-FFF2-40B4-BE49-F238E27FC236}">
                <a16:creationId xmlns:a16="http://schemas.microsoft.com/office/drawing/2014/main" id="{DF22418D-4207-9019-1A19-B91179236D4D}"/>
              </a:ext>
            </a:extLst>
          </p:cNvPr>
          <p:cNvSpPr/>
          <p:nvPr/>
        </p:nvSpPr>
        <p:spPr>
          <a:xfrm>
            <a:off x="526943" y="1695457"/>
            <a:ext cx="5315275" cy="4835840"/>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spcAft>
                <a:spcPts val="600"/>
              </a:spcAft>
              <a:buFont typeface="Arial" panose="020B0604020202020204" pitchFamily="34" charset="0"/>
              <a:buChar char="•"/>
            </a:pPr>
            <a:r>
              <a:rPr lang="en-US" sz="6000" dirty="0"/>
              <a:t>NO PHONES!</a:t>
            </a:r>
          </a:p>
        </p:txBody>
      </p:sp>
      <p:cxnSp>
        <p:nvCxnSpPr>
          <p:cNvPr id="3" name="Straight Connector 2">
            <a:extLst>
              <a:ext uri="{FF2B5EF4-FFF2-40B4-BE49-F238E27FC236}">
                <a16:creationId xmlns:a16="http://schemas.microsoft.com/office/drawing/2014/main" id="{F6A2888D-B869-E778-58E8-6F0BFB3FBB53}"/>
              </a:ext>
            </a:extLst>
          </p:cNvPr>
          <p:cNvCxnSpPr>
            <a:cxnSpLocks/>
          </p:cNvCxnSpPr>
          <p:nvPr/>
        </p:nvCxnSpPr>
        <p:spPr>
          <a:xfrm>
            <a:off x="12057283" y="-1425440"/>
            <a:ext cx="0" cy="3320915"/>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pic>
        <p:nvPicPr>
          <p:cNvPr id="2" name="Picture 1" descr="Mobile Phone Png">
            <a:extLst>
              <a:ext uri="{FF2B5EF4-FFF2-40B4-BE49-F238E27FC236}">
                <a16:creationId xmlns:a16="http://schemas.microsoft.com/office/drawing/2014/main" id="{DCB8AFD9-76F6-7742-7B41-896B3F030F23}"/>
              </a:ext>
            </a:extLst>
          </p:cNvPr>
          <p:cNvPicPr>
            <a:picLocks noChangeAspect="1"/>
          </p:cNvPicPr>
          <p:nvPr/>
        </p:nvPicPr>
        <p:blipFill>
          <a:blip r:embed="rId2"/>
          <a:stretch>
            <a:fillRect/>
          </a:stretch>
        </p:blipFill>
        <p:spPr>
          <a:xfrm>
            <a:off x="7837250" y="2637444"/>
            <a:ext cx="3335406" cy="3335406"/>
          </a:xfrm>
          <a:prstGeom prst="rect">
            <a:avLst/>
          </a:prstGeom>
        </p:spPr>
      </p:pic>
      <p:pic>
        <p:nvPicPr>
          <p:cNvPr id="8" name="Picture 7">
            <a:extLst>
              <a:ext uri="{FF2B5EF4-FFF2-40B4-BE49-F238E27FC236}">
                <a16:creationId xmlns:a16="http://schemas.microsoft.com/office/drawing/2014/main" id="{890DB319-7DC6-2915-C2BD-2E1B4B229BC0}"/>
              </a:ext>
            </a:extLst>
          </p:cNvPr>
          <p:cNvPicPr>
            <a:picLocks noChangeAspect="1"/>
          </p:cNvPicPr>
          <p:nvPr/>
        </p:nvPicPr>
        <p:blipFill>
          <a:blip r:embed="rId3">
            <a:extLst>
              <a:ext uri="{28A0092B-C50C-407E-A947-70E740481C1C}">
                <a14:useLocalDpi xmlns:a14="http://schemas.microsoft.com/office/drawing/2010/main" val="0"/>
              </a:ext>
            </a:extLst>
          </a:blip>
          <a:srcRect b="10875"/>
          <a:stretch>
            <a:fillRect/>
          </a:stretch>
        </p:blipFill>
        <p:spPr>
          <a:xfrm>
            <a:off x="5110357" y="2143666"/>
            <a:ext cx="8015093" cy="4018162"/>
          </a:xfrm>
          <a:prstGeom prst="rect">
            <a:avLst/>
          </a:prstGeom>
        </p:spPr>
      </p:pic>
    </p:spTree>
    <p:extLst>
      <p:ext uri="{BB962C8B-B14F-4D97-AF65-F5344CB8AC3E}">
        <p14:creationId xmlns:p14="http://schemas.microsoft.com/office/powerpoint/2010/main" val="517235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withEffect">
                                  <p:stCondLst>
                                    <p:cond delay="0"/>
                                  </p:stCondLst>
                                  <p:childTnLst>
                                    <p:animRot by="21600000">
                                      <p:cBhvr>
                                        <p:cTn id="6" dur="10000" fill="hold"/>
                                        <p:tgtEl>
                                          <p:spTgt spid="14"/>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
          <a:extLst>
            <a:ext uri="{FF2B5EF4-FFF2-40B4-BE49-F238E27FC236}">
              <a16:creationId xmlns:a16="http://schemas.microsoft.com/office/drawing/2014/main" id="{24D94354-A9F4-20E7-6B3D-B70254D5C603}"/>
            </a:ext>
          </a:extLst>
        </p:cNvPr>
        <p:cNvGrpSpPr/>
        <p:nvPr/>
      </p:nvGrpSpPr>
      <p:grpSpPr>
        <a:xfrm>
          <a:off x="0" y="0"/>
          <a:ext cx="0" cy="0"/>
          <a:chOff x="0" y="0"/>
          <a:chExt cx="0" cy="0"/>
        </a:xfrm>
      </p:grpSpPr>
      <p:sp>
        <p:nvSpPr>
          <p:cNvPr id="14" name="Oval 13">
            <a:extLst>
              <a:ext uri="{FF2B5EF4-FFF2-40B4-BE49-F238E27FC236}">
                <a16:creationId xmlns:a16="http://schemas.microsoft.com/office/drawing/2014/main" id="{9F1E1B01-EE97-40AB-8115-91C4D0662455}"/>
              </a:ext>
            </a:extLst>
          </p:cNvPr>
          <p:cNvSpPr/>
          <p:nvPr/>
        </p:nvSpPr>
        <p:spPr>
          <a:xfrm>
            <a:off x="7334247" y="-243893"/>
            <a:ext cx="1586378" cy="1586378"/>
          </a:xfrm>
          <a:prstGeom prst="ellipse">
            <a:avLst/>
          </a:prstGeom>
          <a:noFill/>
          <a:ln w="57150">
            <a:solidFill>
              <a:schemeClr val="accent2">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3246FFD4-A909-E76B-10F8-A895A7E346B4}"/>
              </a:ext>
            </a:extLst>
          </p:cNvPr>
          <p:cNvCxnSpPr>
            <a:cxnSpLocks/>
          </p:cNvCxnSpPr>
          <p:nvPr/>
        </p:nvCxnSpPr>
        <p:spPr>
          <a:xfrm>
            <a:off x="-363907" y="1175192"/>
            <a:ext cx="2926132"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0E50AD2-F112-78CA-92B9-67C0C82A0D41}"/>
              </a:ext>
            </a:extLst>
          </p:cNvPr>
          <p:cNvCxnSpPr/>
          <p:nvPr/>
        </p:nvCxnSpPr>
        <p:spPr>
          <a:xfrm>
            <a:off x="8630196" y="6714818"/>
            <a:ext cx="3805083"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08ECCEA7-A9DA-4EAC-ECE9-79D6B5835CA7}"/>
              </a:ext>
            </a:extLst>
          </p:cNvPr>
          <p:cNvSpPr/>
          <p:nvPr/>
        </p:nvSpPr>
        <p:spPr>
          <a:xfrm>
            <a:off x="112343" y="93525"/>
            <a:ext cx="8015093" cy="911542"/>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t>CLASSROOM EXPECTATIONS</a:t>
            </a:r>
          </a:p>
        </p:txBody>
      </p:sp>
      <p:sp>
        <p:nvSpPr>
          <p:cNvPr id="16" name="Rectangle 15">
            <a:extLst>
              <a:ext uri="{FF2B5EF4-FFF2-40B4-BE49-F238E27FC236}">
                <a16:creationId xmlns:a16="http://schemas.microsoft.com/office/drawing/2014/main" id="{5927E495-B1E6-C674-7019-D6180A632AAE}"/>
              </a:ext>
            </a:extLst>
          </p:cNvPr>
          <p:cNvSpPr/>
          <p:nvPr/>
        </p:nvSpPr>
        <p:spPr>
          <a:xfrm>
            <a:off x="526943" y="1695457"/>
            <a:ext cx="5315275" cy="4835840"/>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spcAft>
                <a:spcPts val="600"/>
              </a:spcAft>
              <a:buFont typeface="Arial" panose="020B0604020202020204" pitchFamily="34" charset="0"/>
              <a:buChar char="•"/>
            </a:pPr>
            <a:r>
              <a:rPr lang="en-US" dirty="0"/>
              <a:t>Phones are to be kept in the </a:t>
            </a:r>
            <a:r>
              <a:rPr lang="en-US" b="1" i="1" dirty="0" err="1">
                <a:latin typeface="Chiller" panose="04020404031007020602" pitchFamily="82" charset="0"/>
              </a:rPr>
              <a:t>The</a:t>
            </a:r>
            <a:r>
              <a:rPr lang="en-US" b="1" i="1" dirty="0">
                <a:latin typeface="Chiller" panose="04020404031007020602" pitchFamily="82" charset="0"/>
              </a:rPr>
              <a:t> </a:t>
            </a:r>
            <a:r>
              <a:rPr lang="en-US" b="1" i="1" u="sng" dirty="0">
                <a:latin typeface="Chiller" panose="04020404031007020602" pitchFamily="82" charset="0"/>
              </a:rPr>
              <a:t>Holding</a:t>
            </a:r>
            <a:r>
              <a:rPr lang="en-US" b="1" i="1" dirty="0">
                <a:latin typeface="Chiller" panose="04020404031007020602" pitchFamily="82" charset="0"/>
              </a:rPr>
              <a:t> Cell </a:t>
            </a:r>
            <a:r>
              <a:rPr lang="en-US" dirty="0">
                <a:latin typeface="Bahnschrift" panose="020B0502040204020203" pitchFamily="34" charset="0"/>
              </a:rPr>
              <a:t>unless explicitly directed, or permission is asked for and given</a:t>
            </a:r>
          </a:p>
          <a:p>
            <a:pPr marL="742950" lvl="1" indent="-285750">
              <a:spcAft>
                <a:spcPts val="600"/>
              </a:spcAft>
              <a:buFont typeface="Arial" panose="020B0604020202020204" pitchFamily="34" charset="0"/>
              <a:buChar char="•"/>
            </a:pPr>
            <a:r>
              <a:rPr lang="en-US" dirty="0">
                <a:latin typeface="Bahnschrift" panose="020B0502040204020203" pitchFamily="34" charset="0"/>
              </a:rPr>
              <a:t>You may listen to music using your phone during independent work time, but it might be easier for you if you link your earbuds to your PC instead fwiw</a:t>
            </a:r>
          </a:p>
          <a:p>
            <a:pPr marL="285750" indent="-285750">
              <a:spcAft>
                <a:spcPts val="600"/>
              </a:spcAft>
              <a:buFont typeface="Arial" panose="020B0604020202020204" pitchFamily="34" charset="0"/>
              <a:buChar char="•"/>
            </a:pPr>
            <a:r>
              <a:rPr lang="en-US" dirty="0">
                <a:latin typeface="Bahnschrift" panose="020B0502040204020203" pitchFamily="34" charset="0"/>
              </a:rPr>
              <a:t>No playing games on your laptops</a:t>
            </a:r>
          </a:p>
          <a:p>
            <a:pPr marL="285750" indent="-285750">
              <a:spcAft>
                <a:spcPts val="600"/>
              </a:spcAft>
              <a:buFont typeface="Arial" panose="020B0604020202020204" pitchFamily="34" charset="0"/>
              <a:buChar char="•"/>
            </a:pPr>
            <a:r>
              <a:rPr lang="en-US" dirty="0">
                <a:latin typeface="Bahnschrift" panose="020B0502040204020203" pitchFamily="34" charset="0"/>
              </a:rPr>
              <a:t>You can go to the restroom at any time, just ask</a:t>
            </a:r>
          </a:p>
          <a:p>
            <a:pPr marL="285750" indent="-285750">
              <a:spcAft>
                <a:spcPts val="600"/>
              </a:spcAft>
              <a:buFont typeface="Arial" panose="020B0604020202020204" pitchFamily="34" charset="0"/>
              <a:buChar char="•"/>
            </a:pPr>
            <a:r>
              <a:rPr lang="en-US" dirty="0">
                <a:latin typeface="Bahnschrift" panose="020B0502040204020203" pitchFamily="34" charset="0"/>
              </a:rPr>
              <a:t>Active engagement, collaboration, discussion with classmates</a:t>
            </a:r>
          </a:p>
          <a:p>
            <a:pPr marL="285750" indent="-285750">
              <a:spcAft>
                <a:spcPts val="600"/>
              </a:spcAft>
              <a:buFont typeface="Arial" panose="020B0604020202020204" pitchFamily="34" charset="0"/>
              <a:buChar char="•"/>
            </a:pPr>
            <a:endParaRPr lang="en-US" dirty="0">
              <a:latin typeface="Bahnschrift" panose="020B0502040204020203" pitchFamily="34" charset="0"/>
            </a:endParaRPr>
          </a:p>
        </p:txBody>
      </p:sp>
      <p:cxnSp>
        <p:nvCxnSpPr>
          <p:cNvPr id="3" name="Straight Connector 2">
            <a:extLst>
              <a:ext uri="{FF2B5EF4-FFF2-40B4-BE49-F238E27FC236}">
                <a16:creationId xmlns:a16="http://schemas.microsoft.com/office/drawing/2014/main" id="{5397D92C-01CA-01C1-F44E-318A63286C72}"/>
              </a:ext>
            </a:extLst>
          </p:cNvPr>
          <p:cNvCxnSpPr>
            <a:cxnSpLocks/>
          </p:cNvCxnSpPr>
          <p:nvPr/>
        </p:nvCxnSpPr>
        <p:spPr>
          <a:xfrm>
            <a:off x="12057283" y="-1425440"/>
            <a:ext cx="0" cy="3320915"/>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pic>
        <p:nvPicPr>
          <p:cNvPr id="7" name="Picture 6">
            <a:extLst>
              <a:ext uri="{FF2B5EF4-FFF2-40B4-BE49-F238E27FC236}">
                <a16:creationId xmlns:a16="http://schemas.microsoft.com/office/drawing/2014/main" id="{96AE8B86-2753-D04C-43B9-AA6301B37989}"/>
              </a:ext>
            </a:extLst>
          </p:cNvPr>
          <p:cNvPicPr>
            <a:picLocks noChangeAspect="1"/>
          </p:cNvPicPr>
          <p:nvPr/>
        </p:nvPicPr>
        <p:blipFill>
          <a:blip r:embed="rId2"/>
          <a:stretch>
            <a:fillRect/>
          </a:stretch>
        </p:blipFill>
        <p:spPr>
          <a:xfrm>
            <a:off x="7486651" y="2339593"/>
            <a:ext cx="4705349" cy="3547567"/>
          </a:xfrm>
          <a:prstGeom prst="rect">
            <a:avLst/>
          </a:prstGeom>
        </p:spPr>
      </p:pic>
    </p:spTree>
    <p:extLst>
      <p:ext uri="{BB962C8B-B14F-4D97-AF65-F5344CB8AC3E}">
        <p14:creationId xmlns:p14="http://schemas.microsoft.com/office/powerpoint/2010/main" val="3048685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withEffect">
                                  <p:stCondLst>
                                    <p:cond delay="0"/>
                                  </p:stCondLst>
                                  <p:childTnLst>
                                    <p:animRot by="21600000">
                                      <p:cBhvr>
                                        <p:cTn id="6" dur="10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
          <a:extLst>
            <a:ext uri="{FF2B5EF4-FFF2-40B4-BE49-F238E27FC236}">
              <a16:creationId xmlns:a16="http://schemas.microsoft.com/office/drawing/2014/main" id="{B1522977-F227-8AE5-6CC0-AEED99A4D249}"/>
            </a:ext>
          </a:extLst>
        </p:cNvPr>
        <p:cNvGrpSpPr/>
        <p:nvPr/>
      </p:nvGrpSpPr>
      <p:grpSpPr>
        <a:xfrm>
          <a:off x="0" y="0"/>
          <a:ext cx="0" cy="0"/>
          <a:chOff x="0" y="0"/>
          <a:chExt cx="0" cy="0"/>
        </a:xfrm>
      </p:grpSpPr>
      <p:sp>
        <p:nvSpPr>
          <p:cNvPr id="14" name="Oval 13">
            <a:extLst>
              <a:ext uri="{FF2B5EF4-FFF2-40B4-BE49-F238E27FC236}">
                <a16:creationId xmlns:a16="http://schemas.microsoft.com/office/drawing/2014/main" id="{22DE8041-0FEE-950F-3338-32CE15A18E34}"/>
              </a:ext>
            </a:extLst>
          </p:cNvPr>
          <p:cNvSpPr/>
          <p:nvPr/>
        </p:nvSpPr>
        <p:spPr>
          <a:xfrm>
            <a:off x="6245787" y="-243893"/>
            <a:ext cx="1586378" cy="1586378"/>
          </a:xfrm>
          <a:prstGeom prst="ellipse">
            <a:avLst/>
          </a:prstGeom>
          <a:noFill/>
          <a:ln w="57150">
            <a:solidFill>
              <a:schemeClr val="accent2">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3AF4705E-BF1C-B943-D04F-E71BE5227141}"/>
              </a:ext>
            </a:extLst>
          </p:cNvPr>
          <p:cNvCxnSpPr>
            <a:cxnSpLocks/>
          </p:cNvCxnSpPr>
          <p:nvPr/>
        </p:nvCxnSpPr>
        <p:spPr>
          <a:xfrm>
            <a:off x="-363907" y="1175192"/>
            <a:ext cx="2926132"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9D5D9B1-1CEA-5EDE-B75D-479166BE3FD7}"/>
              </a:ext>
            </a:extLst>
          </p:cNvPr>
          <p:cNvCxnSpPr/>
          <p:nvPr/>
        </p:nvCxnSpPr>
        <p:spPr>
          <a:xfrm>
            <a:off x="8630196" y="6714818"/>
            <a:ext cx="3805083"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0ADF88EC-4F66-49FD-CD1E-8293CD8E6542}"/>
              </a:ext>
            </a:extLst>
          </p:cNvPr>
          <p:cNvSpPr/>
          <p:nvPr/>
        </p:nvSpPr>
        <p:spPr>
          <a:xfrm>
            <a:off x="112344" y="93525"/>
            <a:ext cx="6926632" cy="911542"/>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t>AI &amp; LATE WORK POLICY</a:t>
            </a:r>
          </a:p>
        </p:txBody>
      </p:sp>
      <p:sp>
        <p:nvSpPr>
          <p:cNvPr id="16" name="Rectangle 15">
            <a:extLst>
              <a:ext uri="{FF2B5EF4-FFF2-40B4-BE49-F238E27FC236}">
                <a16:creationId xmlns:a16="http://schemas.microsoft.com/office/drawing/2014/main" id="{76043FC6-1181-3D9C-1101-1B764B27F4A0}"/>
              </a:ext>
            </a:extLst>
          </p:cNvPr>
          <p:cNvSpPr/>
          <p:nvPr/>
        </p:nvSpPr>
        <p:spPr>
          <a:xfrm>
            <a:off x="526943" y="1695457"/>
            <a:ext cx="6607281" cy="4835840"/>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spcAft>
                <a:spcPts val="600"/>
              </a:spcAft>
              <a:buFont typeface="Arial" panose="020B0604020202020204" pitchFamily="34" charset="0"/>
              <a:buChar char="•"/>
            </a:pPr>
            <a:r>
              <a:rPr lang="en-US" dirty="0"/>
              <a:t>AI usage and plagiarism:</a:t>
            </a:r>
          </a:p>
          <a:p>
            <a:pPr marL="742950" lvl="1" indent="-285750">
              <a:spcAft>
                <a:spcPts val="600"/>
              </a:spcAft>
              <a:buFont typeface="Arial" panose="020B0604020202020204" pitchFamily="34" charset="0"/>
              <a:buChar char="•"/>
            </a:pPr>
            <a:r>
              <a:rPr lang="en-US" dirty="0">
                <a:latin typeface="Bahnschrift" panose="020B0502040204020203" pitchFamily="34" charset="0"/>
              </a:rPr>
              <a:t>AI Generation or plagiarism of any work submitted directly to me or the IB is prohibited</a:t>
            </a:r>
          </a:p>
          <a:p>
            <a:pPr marL="742950" lvl="1" indent="-285750">
              <a:spcAft>
                <a:spcPts val="600"/>
              </a:spcAft>
              <a:buFont typeface="Arial" panose="020B0604020202020204" pitchFamily="34" charset="0"/>
              <a:buChar char="•"/>
            </a:pPr>
            <a:r>
              <a:rPr lang="en-US" dirty="0">
                <a:latin typeface="Bahnschrift" panose="020B0502040204020203" pitchFamily="34" charset="0"/>
              </a:rPr>
              <a:t>AI can be used sparingly for research and thought organization</a:t>
            </a:r>
          </a:p>
          <a:p>
            <a:pPr marL="1200150" lvl="2" indent="-285750">
              <a:spcAft>
                <a:spcPts val="600"/>
              </a:spcAft>
              <a:buFont typeface="Arial" panose="020B0604020202020204" pitchFamily="34" charset="0"/>
              <a:buChar char="•"/>
            </a:pPr>
            <a:r>
              <a:rPr lang="en-US" dirty="0">
                <a:latin typeface="Bahnschrift" panose="020B0502040204020203" pitchFamily="34" charset="0"/>
              </a:rPr>
              <a:t>I would encourage you to avoid this as much as possible, given that we are trying to develop these skills as part of the design process</a:t>
            </a:r>
          </a:p>
          <a:p>
            <a:pPr marL="742950" lvl="1" indent="-285750">
              <a:spcAft>
                <a:spcPts val="600"/>
              </a:spcAft>
              <a:buFont typeface="Arial" panose="020B0604020202020204" pitchFamily="34" charset="0"/>
              <a:buChar char="•"/>
            </a:pPr>
            <a:r>
              <a:rPr lang="en-US" dirty="0">
                <a:latin typeface="Bahnschrift" panose="020B0502040204020203" pitchFamily="34" charset="0"/>
              </a:rPr>
              <a:t>Work will be analyzed carefully by me, and if I suspect it is AI generated or plagiarized, we will have a ‘chat’</a:t>
            </a:r>
          </a:p>
          <a:p>
            <a:pPr marL="1200150" lvl="2" indent="-285750">
              <a:spcAft>
                <a:spcPts val="600"/>
              </a:spcAft>
              <a:buFont typeface="Arial" panose="020B0604020202020204" pitchFamily="34" charset="0"/>
              <a:buChar char="•"/>
            </a:pPr>
            <a:r>
              <a:rPr lang="en-US" dirty="0">
                <a:latin typeface="Bahnschrift" panose="020B0502040204020203" pitchFamily="34" charset="0"/>
              </a:rPr>
              <a:t>Possible consequences include</a:t>
            </a:r>
          </a:p>
          <a:p>
            <a:pPr marL="1657350" lvl="3" indent="-285750">
              <a:spcAft>
                <a:spcPts val="600"/>
              </a:spcAft>
              <a:buFont typeface="Arial" panose="020B0604020202020204" pitchFamily="34" charset="0"/>
              <a:buChar char="•"/>
            </a:pPr>
            <a:r>
              <a:rPr lang="en-US" dirty="0">
                <a:latin typeface="Bahnschrift" panose="020B0502040204020203" pitchFamily="34" charset="0"/>
              </a:rPr>
              <a:t>Being asked to entirely re-do your work</a:t>
            </a:r>
          </a:p>
          <a:p>
            <a:pPr marL="1657350" lvl="3" indent="-285750">
              <a:spcAft>
                <a:spcPts val="600"/>
              </a:spcAft>
              <a:buFont typeface="Arial" panose="020B0604020202020204" pitchFamily="34" charset="0"/>
              <a:buChar char="•"/>
            </a:pPr>
            <a:r>
              <a:rPr lang="en-US" dirty="0">
                <a:latin typeface="Bahnschrift" panose="020B0502040204020203" pitchFamily="34" charset="0"/>
              </a:rPr>
              <a:t>A whole, full fat 0</a:t>
            </a:r>
          </a:p>
          <a:p>
            <a:pPr marL="1657350" lvl="3" indent="-285750">
              <a:spcAft>
                <a:spcPts val="600"/>
              </a:spcAft>
              <a:buFont typeface="Arial" panose="020B0604020202020204" pitchFamily="34" charset="0"/>
              <a:buChar char="•"/>
            </a:pPr>
            <a:r>
              <a:rPr lang="en-US" dirty="0">
                <a:latin typeface="Bahnschrift" panose="020B0502040204020203" pitchFamily="34" charset="0"/>
              </a:rPr>
              <a:t>A chat with the higher-ups</a:t>
            </a:r>
          </a:p>
        </p:txBody>
      </p:sp>
      <p:cxnSp>
        <p:nvCxnSpPr>
          <p:cNvPr id="3" name="Straight Connector 2">
            <a:extLst>
              <a:ext uri="{FF2B5EF4-FFF2-40B4-BE49-F238E27FC236}">
                <a16:creationId xmlns:a16="http://schemas.microsoft.com/office/drawing/2014/main" id="{E5BC0F44-575D-AE9C-8253-5E5EB41F7FFA}"/>
              </a:ext>
            </a:extLst>
          </p:cNvPr>
          <p:cNvCxnSpPr>
            <a:cxnSpLocks/>
          </p:cNvCxnSpPr>
          <p:nvPr/>
        </p:nvCxnSpPr>
        <p:spPr>
          <a:xfrm>
            <a:off x="12057283" y="-1425440"/>
            <a:ext cx="0" cy="3320915"/>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pic>
        <p:nvPicPr>
          <p:cNvPr id="2" name="Picture 1" descr="AI Slop, l’arte (assurda) dei video artificiali: creativita o spam ...">
            <a:extLst>
              <a:ext uri="{FF2B5EF4-FFF2-40B4-BE49-F238E27FC236}">
                <a16:creationId xmlns:a16="http://schemas.microsoft.com/office/drawing/2014/main" id="{12F064CF-A8A0-A502-A1FC-19321DB478CB}"/>
              </a:ext>
            </a:extLst>
          </p:cNvPr>
          <p:cNvPicPr>
            <a:picLocks noChangeAspect="1"/>
          </p:cNvPicPr>
          <p:nvPr/>
        </p:nvPicPr>
        <p:blipFill>
          <a:blip r:embed="rId2"/>
          <a:srcRect l="15512" r="15633"/>
          <a:stretch>
            <a:fillRect/>
          </a:stretch>
        </p:blipFill>
        <p:spPr>
          <a:xfrm>
            <a:off x="8029575" y="2505074"/>
            <a:ext cx="3724275" cy="3042447"/>
          </a:xfrm>
          <a:prstGeom prst="rect">
            <a:avLst/>
          </a:prstGeom>
        </p:spPr>
      </p:pic>
      <p:pic>
        <p:nvPicPr>
          <p:cNvPr id="5" name="Picture 4">
            <a:extLst>
              <a:ext uri="{FF2B5EF4-FFF2-40B4-BE49-F238E27FC236}">
                <a16:creationId xmlns:a16="http://schemas.microsoft.com/office/drawing/2014/main" id="{7536086E-069B-C7DD-E05E-B41DC7239FFA}"/>
              </a:ext>
            </a:extLst>
          </p:cNvPr>
          <p:cNvPicPr>
            <a:picLocks noChangeAspect="1"/>
          </p:cNvPicPr>
          <p:nvPr/>
        </p:nvPicPr>
        <p:blipFill>
          <a:blip r:embed="rId3"/>
          <a:stretch>
            <a:fillRect/>
          </a:stretch>
        </p:blipFill>
        <p:spPr>
          <a:xfrm>
            <a:off x="8401052" y="338137"/>
            <a:ext cx="3114675" cy="3114675"/>
          </a:xfrm>
          <a:prstGeom prst="rect">
            <a:avLst/>
          </a:prstGeom>
        </p:spPr>
      </p:pic>
    </p:spTree>
    <p:extLst>
      <p:ext uri="{BB962C8B-B14F-4D97-AF65-F5344CB8AC3E}">
        <p14:creationId xmlns:p14="http://schemas.microsoft.com/office/powerpoint/2010/main" val="60564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withEffect">
                                  <p:stCondLst>
                                    <p:cond delay="0"/>
                                  </p:stCondLst>
                                  <p:childTnLst>
                                    <p:animRot by="21600000">
                                      <p:cBhvr>
                                        <p:cTn id="6" dur="10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
          <a:extLst>
            <a:ext uri="{FF2B5EF4-FFF2-40B4-BE49-F238E27FC236}">
              <a16:creationId xmlns:a16="http://schemas.microsoft.com/office/drawing/2014/main" id="{63157669-650D-5729-79AC-FFB20940CA8F}"/>
            </a:ext>
          </a:extLst>
        </p:cNvPr>
        <p:cNvGrpSpPr/>
        <p:nvPr/>
      </p:nvGrpSpPr>
      <p:grpSpPr>
        <a:xfrm>
          <a:off x="0" y="0"/>
          <a:ext cx="0" cy="0"/>
          <a:chOff x="0" y="0"/>
          <a:chExt cx="0" cy="0"/>
        </a:xfrm>
      </p:grpSpPr>
      <p:sp>
        <p:nvSpPr>
          <p:cNvPr id="14" name="Oval 13">
            <a:extLst>
              <a:ext uri="{FF2B5EF4-FFF2-40B4-BE49-F238E27FC236}">
                <a16:creationId xmlns:a16="http://schemas.microsoft.com/office/drawing/2014/main" id="{5D23DE8B-47DB-E2D9-A47C-F4CADAEB180F}"/>
              </a:ext>
            </a:extLst>
          </p:cNvPr>
          <p:cNvSpPr/>
          <p:nvPr/>
        </p:nvSpPr>
        <p:spPr>
          <a:xfrm>
            <a:off x="6245787" y="-243893"/>
            <a:ext cx="1586378" cy="1586378"/>
          </a:xfrm>
          <a:prstGeom prst="ellipse">
            <a:avLst/>
          </a:prstGeom>
          <a:noFill/>
          <a:ln w="57150">
            <a:solidFill>
              <a:schemeClr val="accent2">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B623B103-86E4-2AF0-FBC3-7A282F23009E}"/>
              </a:ext>
            </a:extLst>
          </p:cNvPr>
          <p:cNvCxnSpPr>
            <a:cxnSpLocks/>
          </p:cNvCxnSpPr>
          <p:nvPr/>
        </p:nvCxnSpPr>
        <p:spPr>
          <a:xfrm>
            <a:off x="-363907" y="1175192"/>
            <a:ext cx="2926132"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57ADD13F-6D2C-64D5-EEE6-736A9C9370E6}"/>
              </a:ext>
            </a:extLst>
          </p:cNvPr>
          <p:cNvCxnSpPr/>
          <p:nvPr/>
        </p:nvCxnSpPr>
        <p:spPr>
          <a:xfrm>
            <a:off x="8630196" y="6714818"/>
            <a:ext cx="3805083"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180AA04C-DC43-321A-7553-50711AAFCB59}"/>
              </a:ext>
            </a:extLst>
          </p:cNvPr>
          <p:cNvSpPr/>
          <p:nvPr/>
        </p:nvSpPr>
        <p:spPr>
          <a:xfrm>
            <a:off x="112344" y="93525"/>
            <a:ext cx="6926632" cy="911542"/>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t>AI &amp; LATE WORK POLICY</a:t>
            </a:r>
          </a:p>
        </p:txBody>
      </p:sp>
      <p:sp>
        <p:nvSpPr>
          <p:cNvPr id="16" name="Rectangle 15">
            <a:extLst>
              <a:ext uri="{FF2B5EF4-FFF2-40B4-BE49-F238E27FC236}">
                <a16:creationId xmlns:a16="http://schemas.microsoft.com/office/drawing/2014/main" id="{5C759CB4-1A7B-2280-5044-5CB672E73E20}"/>
              </a:ext>
            </a:extLst>
          </p:cNvPr>
          <p:cNvSpPr/>
          <p:nvPr/>
        </p:nvSpPr>
        <p:spPr>
          <a:xfrm>
            <a:off x="526943" y="1695457"/>
            <a:ext cx="6607281" cy="4835840"/>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spcAft>
                <a:spcPts val="600"/>
              </a:spcAft>
              <a:buFont typeface="Arial" panose="020B0604020202020204" pitchFamily="34" charset="0"/>
              <a:buChar char="•"/>
            </a:pPr>
            <a:r>
              <a:rPr lang="en-US" dirty="0"/>
              <a:t>AI usage and plagiarism:</a:t>
            </a:r>
          </a:p>
          <a:p>
            <a:pPr marL="742950" lvl="1" indent="-285750">
              <a:spcAft>
                <a:spcPts val="600"/>
              </a:spcAft>
              <a:buFont typeface="Arial" panose="020B0604020202020204" pitchFamily="34" charset="0"/>
              <a:buChar char="•"/>
            </a:pPr>
            <a:r>
              <a:rPr lang="en-US" dirty="0"/>
              <a:t>We all know that AI is an incredibly useful tool</a:t>
            </a:r>
          </a:p>
          <a:p>
            <a:pPr marL="742950" lvl="1" indent="-285750">
              <a:spcAft>
                <a:spcPts val="600"/>
              </a:spcAft>
              <a:buFont typeface="Arial" panose="020B0604020202020204" pitchFamily="34" charset="0"/>
              <a:buChar char="•"/>
            </a:pPr>
            <a:r>
              <a:rPr lang="en-US" dirty="0">
                <a:latin typeface="Bahnschrift" panose="020B0502040204020203" pitchFamily="34" charset="0"/>
              </a:rPr>
              <a:t>Our goal is to use AI to deepen our knowledge and skills, not to offload them</a:t>
            </a:r>
          </a:p>
          <a:p>
            <a:pPr marL="742950" lvl="1" indent="-285750">
              <a:spcAft>
                <a:spcPts val="600"/>
              </a:spcAft>
              <a:buFont typeface="Arial" panose="020B0604020202020204" pitchFamily="34" charset="0"/>
              <a:buChar char="•"/>
            </a:pPr>
            <a:r>
              <a:rPr lang="en-US" dirty="0">
                <a:latin typeface="Bahnschrift" panose="020B0502040204020203" pitchFamily="34" charset="0"/>
              </a:rPr>
              <a:t>If you want to use AI, and have a question about if your usage of AI will be allowed or not, please email me or speak with me directly</a:t>
            </a:r>
          </a:p>
        </p:txBody>
      </p:sp>
      <p:cxnSp>
        <p:nvCxnSpPr>
          <p:cNvPr id="3" name="Straight Connector 2">
            <a:extLst>
              <a:ext uri="{FF2B5EF4-FFF2-40B4-BE49-F238E27FC236}">
                <a16:creationId xmlns:a16="http://schemas.microsoft.com/office/drawing/2014/main" id="{1D57AF8B-3833-D60E-43A7-D4DE7599E607}"/>
              </a:ext>
            </a:extLst>
          </p:cNvPr>
          <p:cNvCxnSpPr>
            <a:cxnSpLocks/>
          </p:cNvCxnSpPr>
          <p:nvPr/>
        </p:nvCxnSpPr>
        <p:spPr>
          <a:xfrm>
            <a:off x="12057283" y="-1425440"/>
            <a:ext cx="0" cy="3320915"/>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pic>
        <p:nvPicPr>
          <p:cNvPr id="2" name="Picture 1" descr="AI Slop, l’arte (assurda) dei video artificiali: creativita o spam ...">
            <a:extLst>
              <a:ext uri="{FF2B5EF4-FFF2-40B4-BE49-F238E27FC236}">
                <a16:creationId xmlns:a16="http://schemas.microsoft.com/office/drawing/2014/main" id="{EB69F113-38EA-8118-DEBB-2BD8D62635D5}"/>
              </a:ext>
            </a:extLst>
          </p:cNvPr>
          <p:cNvPicPr>
            <a:picLocks noChangeAspect="1"/>
          </p:cNvPicPr>
          <p:nvPr/>
        </p:nvPicPr>
        <p:blipFill>
          <a:blip r:embed="rId2"/>
          <a:srcRect l="15512" r="15633"/>
          <a:stretch>
            <a:fillRect/>
          </a:stretch>
        </p:blipFill>
        <p:spPr>
          <a:xfrm>
            <a:off x="8029575" y="2505074"/>
            <a:ext cx="3724275" cy="3042447"/>
          </a:xfrm>
          <a:prstGeom prst="rect">
            <a:avLst/>
          </a:prstGeom>
        </p:spPr>
      </p:pic>
      <p:pic>
        <p:nvPicPr>
          <p:cNvPr id="5" name="Picture 4">
            <a:extLst>
              <a:ext uri="{FF2B5EF4-FFF2-40B4-BE49-F238E27FC236}">
                <a16:creationId xmlns:a16="http://schemas.microsoft.com/office/drawing/2014/main" id="{8B37B063-2676-121C-0279-4CB0EEC8ADEA}"/>
              </a:ext>
            </a:extLst>
          </p:cNvPr>
          <p:cNvPicPr>
            <a:picLocks noChangeAspect="1"/>
          </p:cNvPicPr>
          <p:nvPr/>
        </p:nvPicPr>
        <p:blipFill>
          <a:blip r:embed="rId3"/>
          <a:stretch>
            <a:fillRect/>
          </a:stretch>
        </p:blipFill>
        <p:spPr>
          <a:xfrm>
            <a:off x="9365223" y="523875"/>
            <a:ext cx="2905125" cy="2905125"/>
          </a:xfrm>
          <a:prstGeom prst="rect">
            <a:avLst/>
          </a:prstGeom>
        </p:spPr>
      </p:pic>
    </p:spTree>
    <p:extLst>
      <p:ext uri="{BB962C8B-B14F-4D97-AF65-F5344CB8AC3E}">
        <p14:creationId xmlns:p14="http://schemas.microsoft.com/office/powerpoint/2010/main" val="2700412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withEffect">
                                  <p:stCondLst>
                                    <p:cond delay="0"/>
                                  </p:stCondLst>
                                  <p:childTnLst>
                                    <p:animRot by="21600000">
                                      <p:cBhvr>
                                        <p:cTn id="6" dur="10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
          <a:extLst>
            <a:ext uri="{FF2B5EF4-FFF2-40B4-BE49-F238E27FC236}">
              <a16:creationId xmlns:a16="http://schemas.microsoft.com/office/drawing/2014/main" id="{27A747A5-A066-CF90-D073-6DDFD003C1F1}"/>
            </a:ext>
          </a:extLst>
        </p:cNvPr>
        <p:cNvGrpSpPr/>
        <p:nvPr/>
      </p:nvGrpSpPr>
      <p:grpSpPr>
        <a:xfrm>
          <a:off x="0" y="0"/>
          <a:ext cx="0" cy="0"/>
          <a:chOff x="0" y="0"/>
          <a:chExt cx="0" cy="0"/>
        </a:xfrm>
      </p:grpSpPr>
      <p:sp>
        <p:nvSpPr>
          <p:cNvPr id="14" name="Oval 13">
            <a:extLst>
              <a:ext uri="{FF2B5EF4-FFF2-40B4-BE49-F238E27FC236}">
                <a16:creationId xmlns:a16="http://schemas.microsoft.com/office/drawing/2014/main" id="{82D4CDC6-012C-2908-89AE-903AA94C14DB}"/>
              </a:ext>
            </a:extLst>
          </p:cNvPr>
          <p:cNvSpPr/>
          <p:nvPr/>
        </p:nvSpPr>
        <p:spPr>
          <a:xfrm>
            <a:off x="6245787" y="-243893"/>
            <a:ext cx="1586378" cy="1586378"/>
          </a:xfrm>
          <a:prstGeom prst="ellipse">
            <a:avLst/>
          </a:prstGeom>
          <a:noFill/>
          <a:ln w="57150">
            <a:solidFill>
              <a:schemeClr val="accent2">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6A0FE37A-DB0F-DF96-8E2F-1C5216E78DA9}"/>
              </a:ext>
            </a:extLst>
          </p:cNvPr>
          <p:cNvCxnSpPr>
            <a:cxnSpLocks/>
          </p:cNvCxnSpPr>
          <p:nvPr/>
        </p:nvCxnSpPr>
        <p:spPr>
          <a:xfrm>
            <a:off x="-363907" y="1175192"/>
            <a:ext cx="2926132"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8C81DBBA-280A-4887-94CD-60ED1AA06E86}"/>
              </a:ext>
            </a:extLst>
          </p:cNvPr>
          <p:cNvCxnSpPr/>
          <p:nvPr/>
        </p:nvCxnSpPr>
        <p:spPr>
          <a:xfrm>
            <a:off x="8630196" y="6714818"/>
            <a:ext cx="3805083"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55FDDB5C-64CF-F8BA-03D3-4B1EFACD1FEF}"/>
              </a:ext>
            </a:extLst>
          </p:cNvPr>
          <p:cNvSpPr/>
          <p:nvPr/>
        </p:nvSpPr>
        <p:spPr>
          <a:xfrm>
            <a:off x="112344" y="93525"/>
            <a:ext cx="6926632" cy="911542"/>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t>AI &amp; LATE WORK POLICY</a:t>
            </a:r>
          </a:p>
        </p:txBody>
      </p:sp>
      <p:sp>
        <p:nvSpPr>
          <p:cNvPr id="16" name="Rectangle 15">
            <a:extLst>
              <a:ext uri="{FF2B5EF4-FFF2-40B4-BE49-F238E27FC236}">
                <a16:creationId xmlns:a16="http://schemas.microsoft.com/office/drawing/2014/main" id="{38268EBF-D3BB-1EC3-0DD4-091D5A4146CA}"/>
              </a:ext>
            </a:extLst>
          </p:cNvPr>
          <p:cNvSpPr/>
          <p:nvPr/>
        </p:nvSpPr>
        <p:spPr>
          <a:xfrm>
            <a:off x="526943" y="1695457"/>
            <a:ext cx="6607281" cy="4835840"/>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spcAft>
                <a:spcPts val="600"/>
              </a:spcAft>
              <a:buFont typeface="Arial" panose="020B0604020202020204" pitchFamily="34" charset="0"/>
              <a:buChar char="•"/>
            </a:pPr>
            <a:r>
              <a:rPr lang="en-US" dirty="0"/>
              <a:t>Late work:</a:t>
            </a:r>
          </a:p>
          <a:p>
            <a:pPr marL="742950" lvl="1" indent="-285750">
              <a:spcAft>
                <a:spcPts val="600"/>
              </a:spcAft>
              <a:buFont typeface="Arial" panose="020B0604020202020204" pitchFamily="34" charset="0"/>
              <a:buChar char="•"/>
            </a:pPr>
            <a:r>
              <a:rPr lang="en-US" dirty="0">
                <a:latin typeface="Bahnschrift" panose="020B0502040204020203" pitchFamily="34" charset="0"/>
              </a:rPr>
              <a:t>Late work suffers a full mark deduction of 1 every day that an assignment is failed to be submitted</a:t>
            </a:r>
          </a:p>
          <a:p>
            <a:pPr marL="1200150" lvl="2" indent="-285750">
              <a:spcAft>
                <a:spcPts val="600"/>
              </a:spcAft>
              <a:buFont typeface="Arial" panose="020B0604020202020204" pitchFamily="34" charset="0"/>
              <a:buChar char="•"/>
            </a:pPr>
            <a:r>
              <a:rPr lang="en-US" dirty="0">
                <a:latin typeface="Bahnschrift" panose="020B0502040204020203" pitchFamily="34" charset="0"/>
              </a:rPr>
              <a:t>Note: if your work is incomplete, but has some complete criteria, submit the complete part for me to grade as ‘not late’ and the rest whenever you finish it</a:t>
            </a:r>
          </a:p>
          <a:p>
            <a:pPr marL="1200150" lvl="2" indent="-285750">
              <a:spcAft>
                <a:spcPts val="600"/>
              </a:spcAft>
              <a:buFont typeface="Arial" panose="020B0604020202020204" pitchFamily="34" charset="0"/>
              <a:buChar char="•"/>
            </a:pPr>
            <a:r>
              <a:rPr lang="en-US" dirty="0">
                <a:latin typeface="Bahnschrift" panose="020B0502040204020203" pitchFamily="34" charset="0"/>
              </a:rPr>
              <a:t>This means that after a week, you won’t get any credit</a:t>
            </a:r>
          </a:p>
          <a:p>
            <a:pPr marL="1200150" lvl="2" indent="-285750">
              <a:spcAft>
                <a:spcPts val="600"/>
              </a:spcAft>
              <a:buFont typeface="Arial" panose="020B0604020202020204" pitchFamily="34" charset="0"/>
              <a:buChar char="•"/>
            </a:pPr>
            <a:r>
              <a:rPr lang="en-US" dirty="0">
                <a:latin typeface="Bahnschrift" panose="020B0502040204020203" pitchFamily="34" charset="0"/>
              </a:rPr>
              <a:t>You will be given ample time in class to complete your work</a:t>
            </a:r>
          </a:p>
          <a:p>
            <a:pPr marL="742950" lvl="1" indent="-285750">
              <a:spcAft>
                <a:spcPts val="600"/>
              </a:spcAft>
              <a:buFont typeface="Arial" panose="020B0604020202020204" pitchFamily="34" charset="0"/>
              <a:buChar char="•"/>
            </a:pPr>
            <a:r>
              <a:rPr lang="en-US" dirty="0">
                <a:latin typeface="Bahnschrift" panose="020B0502040204020203" pitchFamily="34" charset="0"/>
              </a:rPr>
              <a:t>If there is some circumstance where you need additional time, speak with me at least </a:t>
            </a:r>
            <a:r>
              <a:rPr lang="en-US" sz="3200" b="1" i="1" u="sng" dirty="0">
                <a:latin typeface="Bahnschrift" panose="020B0502040204020203" pitchFamily="34" charset="0"/>
              </a:rPr>
              <a:t>48</a:t>
            </a:r>
            <a:r>
              <a:rPr lang="en-US" dirty="0">
                <a:latin typeface="Bahnschrift" panose="020B0502040204020203" pitchFamily="34" charset="0"/>
              </a:rPr>
              <a:t> hours or more before the deadline to be considered for an extension</a:t>
            </a:r>
          </a:p>
        </p:txBody>
      </p:sp>
      <p:cxnSp>
        <p:nvCxnSpPr>
          <p:cNvPr id="3" name="Straight Connector 2">
            <a:extLst>
              <a:ext uri="{FF2B5EF4-FFF2-40B4-BE49-F238E27FC236}">
                <a16:creationId xmlns:a16="http://schemas.microsoft.com/office/drawing/2014/main" id="{1135AE99-248F-80E2-5BFF-FE6F5080AF1A}"/>
              </a:ext>
            </a:extLst>
          </p:cNvPr>
          <p:cNvCxnSpPr>
            <a:cxnSpLocks/>
          </p:cNvCxnSpPr>
          <p:nvPr/>
        </p:nvCxnSpPr>
        <p:spPr>
          <a:xfrm>
            <a:off x="12057283" y="-1425440"/>
            <a:ext cx="0" cy="3320915"/>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pic>
        <p:nvPicPr>
          <p:cNvPr id="4" name="Picture 3" descr="50 Funny Late Memes About Procrastination And Being Tardy | Memes, Late ...">
            <a:extLst>
              <a:ext uri="{FF2B5EF4-FFF2-40B4-BE49-F238E27FC236}">
                <a16:creationId xmlns:a16="http://schemas.microsoft.com/office/drawing/2014/main" id="{18722731-C1E0-51AC-276D-D660611582CE}"/>
              </a:ext>
            </a:extLst>
          </p:cNvPr>
          <p:cNvPicPr>
            <a:picLocks noChangeAspect="1"/>
          </p:cNvPicPr>
          <p:nvPr/>
        </p:nvPicPr>
        <p:blipFill>
          <a:blip r:embed="rId2"/>
          <a:stretch>
            <a:fillRect/>
          </a:stretch>
        </p:blipFill>
        <p:spPr>
          <a:xfrm>
            <a:off x="7832165" y="2619375"/>
            <a:ext cx="3646716" cy="1914526"/>
          </a:xfrm>
          <a:prstGeom prst="rect">
            <a:avLst/>
          </a:prstGeom>
        </p:spPr>
      </p:pic>
    </p:spTree>
    <p:extLst>
      <p:ext uri="{BB962C8B-B14F-4D97-AF65-F5344CB8AC3E}">
        <p14:creationId xmlns:p14="http://schemas.microsoft.com/office/powerpoint/2010/main" val="1193994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withEffect">
                                  <p:stCondLst>
                                    <p:cond delay="0"/>
                                  </p:stCondLst>
                                  <p:childTnLst>
                                    <p:animRot by="21600000">
                                      <p:cBhvr>
                                        <p:cTn id="6" dur="10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
          <a:extLst>
            <a:ext uri="{FF2B5EF4-FFF2-40B4-BE49-F238E27FC236}">
              <a16:creationId xmlns:a16="http://schemas.microsoft.com/office/drawing/2014/main" id="{DA0C8475-8F7A-FA5A-0789-EA9D87EE38F1}"/>
            </a:ext>
          </a:extLst>
        </p:cNvPr>
        <p:cNvGrpSpPr/>
        <p:nvPr/>
      </p:nvGrpSpPr>
      <p:grpSpPr>
        <a:xfrm>
          <a:off x="0" y="0"/>
          <a:ext cx="0" cy="0"/>
          <a:chOff x="0" y="0"/>
          <a:chExt cx="0" cy="0"/>
        </a:xfrm>
      </p:grpSpPr>
      <p:sp>
        <p:nvSpPr>
          <p:cNvPr id="14" name="Oval 13">
            <a:extLst>
              <a:ext uri="{FF2B5EF4-FFF2-40B4-BE49-F238E27FC236}">
                <a16:creationId xmlns:a16="http://schemas.microsoft.com/office/drawing/2014/main" id="{FED2D642-175B-E63F-772F-93BD7CDC9260}"/>
              </a:ext>
            </a:extLst>
          </p:cNvPr>
          <p:cNvSpPr/>
          <p:nvPr/>
        </p:nvSpPr>
        <p:spPr>
          <a:xfrm>
            <a:off x="6245787" y="-243893"/>
            <a:ext cx="1586378" cy="1586378"/>
          </a:xfrm>
          <a:prstGeom prst="ellipse">
            <a:avLst/>
          </a:prstGeom>
          <a:noFill/>
          <a:ln w="57150">
            <a:solidFill>
              <a:schemeClr val="accent2">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BE4AFC37-C2CC-85CD-BCB0-947E22F9E3F5}"/>
              </a:ext>
            </a:extLst>
          </p:cNvPr>
          <p:cNvCxnSpPr>
            <a:cxnSpLocks/>
          </p:cNvCxnSpPr>
          <p:nvPr/>
        </p:nvCxnSpPr>
        <p:spPr>
          <a:xfrm>
            <a:off x="-363907" y="1175192"/>
            <a:ext cx="2926132"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A11C85A3-0876-C840-A641-54F078565967}"/>
              </a:ext>
            </a:extLst>
          </p:cNvPr>
          <p:cNvCxnSpPr/>
          <p:nvPr/>
        </p:nvCxnSpPr>
        <p:spPr>
          <a:xfrm>
            <a:off x="8630196" y="6714818"/>
            <a:ext cx="3805083"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89962C66-2E60-7EBE-041C-3D94C277A424}"/>
              </a:ext>
            </a:extLst>
          </p:cNvPr>
          <p:cNvSpPr/>
          <p:nvPr/>
        </p:nvSpPr>
        <p:spPr>
          <a:xfrm>
            <a:off x="112344" y="93525"/>
            <a:ext cx="6926632" cy="911542"/>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t>AI &amp; LATE WORK POLICY</a:t>
            </a:r>
          </a:p>
        </p:txBody>
      </p:sp>
      <p:sp>
        <p:nvSpPr>
          <p:cNvPr id="16" name="Rectangle 15">
            <a:extLst>
              <a:ext uri="{FF2B5EF4-FFF2-40B4-BE49-F238E27FC236}">
                <a16:creationId xmlns:a16="http://schemas.microsoft.com/office/drawing/2014/main" id="{050B6866-939B-781F-3756-5466C9677F91}"/>
              </a:ext>
            </a:extLst>
          </p:cNvPr>
          <p:cNvSpPr/>
          <p:nvPr/>
        </p:nvSpPr>
        <p:spPr>
          <a:xfrm>
            <a:off x="526943" y="1695457"/>
            <a:ext cx="6607281" cy="4835840"/>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spcAft>
                <a:spcPts val="600"/>
              </a:spcAft>
              <a:buFont typeface="Arial" panose="020B0604020202020204" pitchFamily="34" charset="0"/>
              <a:buChar char="•"/>
            </a:pPr>
            <a:r>
              <a:rPr lang="en-US" dirty="0"/>
              <a:t>Late work:</a:t>
            </a:r>
          </a:p>
          <a:p>
            <a:pPr marL="742950" lvl="1" indent="-285750">
              <a:spcAft>
                <a:spcPts val="600"/>
              </a:spcAft>
              <a:buFont typeface="Arial" panose="020B0604020202020204" pitchFamily="34" charset="0"/>
              <a:buChar char="•"/>
            </a:pPr>
            <a:r>
              <a:rPr lang="en-US" dirty="0">
                <a:latin typeface="Bahnschrift" panose="020B0502040204020203" pitchFamily="34" charset="0"/>
              </a:rPr>
              <a:t>In the event of an emergency-emergency (family, health), please let me know as soon as you can and I will likely grant you an extension</a:t>
            </a:r>
          </a:p>
          <a:p>
            <a:pPr marL="1200150" lvl="2" indent="-285750">
              <a:spcAft>
                <a:spcPts val="600"/>
              </a:spcAft>
              <a:buFont typeface="Arial" panose="020B0604020202020204" pitchFamily="34" charset="0"/>
              <a:buChar char="•"/>
            </a:pPr>
            <a:r>
              <a:rPr lang="en-US" dirty="0">
                <a:latin typeface="Bahnschrift" panose="020B0502040204020203" pitchFamily="34" charset="0"/>
              </a:rPr>
              <a:t>These are the things in life that matter much more than computers lol</a:t>
            </a:r>
          </a:p>
          <a:p>
            <a:pPr marL="742950" lvl="1" indent="-285750">
              <a:spcAft>
                <a:spcPts val="600"/>
              </a:spcAft>
              <a:buFont typeface="Arial" panose="020B0604020202020204" pitchFamily="34" charset="0"/>
              <a:buChar char="•"/>
            </a:pPr>
            <a:r>
              <a:rPr lang="en-US" dirty="0">
                <a:latin typeface="Bahnschrift" panose="020B0502040204020203" pitchFamily="34" charset="0"/>
              </a:rPr>
              <a:t>If you are out sick on a presentation day, please let me know so you can present during the next period</a:t>
            </a:r>
          </a:p>
          <a:p>
            <a:pPr marL="742950" lvl="1" indent="-285750">
              <a:spcAft>
                <a:spcPts val="600"/>
              </a:spcAft>
              <a:buFont typeface="Arial" panose="020B0604020202020204" pitchFamily="34" charset="0"/>
              <a:buChar char="•"/>
            </a:pPr>
            <a:r>
              <a:rPr lang="en-US" dirty="0">
                <a:latin typeface="Bahnschrift" panose="020B0502040204020203" pitchFamily="34" charset="0"/>
              </a:rPr>
              <a:t>If you are going on a trip during our working period, please let me know as soon as you can so I can let you know how to be prepared for when you get back</a:t>
            </a:r>
          </a:p>
        </p:txBody>
      </p:sp>
      <p:cxnSp>
        <p:nvCxnSpPr>
          <p:cNvPr id="3" name="Straight Connector 2">
            <a:extLst>
              <a:ext uri="{FF2B5EF4-FFF2-40B4-BE49-F238E27FC236}">
                <a16:creationId xmlns:a16="http://schemas.microsoft.com/office/drawing/2014/main" id="{9ED4DA3D-011A-FB2F-CE50-AC3AF32E0E4E}"/>
              </a:ext>
            </a:extLst>
          </p:cNvPr>
          <p:cNvCxnSpPr>
            <a:cxnSpLocks/>
          </p:cNvCxnSpPr>
          <p:nvPr/>
        </p:nvCxnSpPr>
        <p:spPr>
          <a:xfrm>
            <a:off x="12057283" y="-1425440"/>
            <a:ext cx="0" cy="3320915"/>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pic>
        <p:nvPicPr>
          <p:cNvPr id="4" name="Picture 3" descr="50 Funny Late Memes About Procrastination And Being Tardy | Memes, Late ...">
            <a:extLst>
              <a:ext uri="{FF2B5EF4-FFF2-40B4-BE49-F238E27FC236}">
                <a16:creationId xmlns:a16="http://schemas.microsoft.com/office/drawing/2014/main" id="{C17F4AE7-4AA5-ECAC-6C19-1F1174F1760D}"/>
              </a:ext>
            </a:extLst>
          </p:cNvPr>
          <p:cNvPicPr>
            <a:picLocks noChangeAspect="1"/>
          </p:cNvPicPr>
          <p:nvPr/>
        </p:nvPicPr>
        <p:blipFill>
          <a:blip r:embed="rId2"/>
          <a:stretch>
            <a:fillRect/>
          </a:stretch>
        </p:blipFill>
        <p:spPr>
          <a:xfrm>
            <a:off x="7832165" y="2619375"/>
            <a:ext cx="3646716" cy="1914526"/>
          </a:xfrm>
          <a:prstGeom prst="rect">
            <a:avLst/>
          </a:prstGeom>
        </p:spPr>
      </p:pic>
      <p:pic>
        <p:nvPicPr>
          <p:cNvPr id="2" name="Picture 2" descr="Download Fierce Lightning Strike Png Ths6 | Wallpapers.com">
            <a:extLst>
              <a:ext uri="{FF2B5EF4-FFF2-40B4-BE49-F238E27FC236}">
                <a16:creationId xmlns:a16="http://schemas.microsoft.com/office/drawing/2014/main" id="{F96566B6-4EE4-BAA6-A578-EF9087FABB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482" y="-4486275"/>
            <a:ext cx="12763500" cy="127635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890B0CC-DE4C-ADED-DCB7-7890A9D28A4C}"/>
              </a:ext>
            </a:extLst>
          </p:cNvPr>
          <p:cNvSpPr txBox="1"/>
          <p:nvPr/>
        </p:nvSpPr>
        <p:spPr>
          <a:xfrm>
            <a:off x="-271832" y="-1926312"/>
            <a:ext cx="12522200" cy="10710624"/>
          </a:xfrm>
          <a:prstGeom prst="rect">
            <a:avLst/>
          </a:prstGeom>
          <a:solidFill>
            <a:srgbClr val="000000">
              <a:alpha val="45098"/>
            </a:srgbClr>
          </a:solidFill>
        </p:spPr>
        <p:txBody>
          <a:bodyPr wrap="square" rtlCol="0">
            <a:spAutoFit/>
          </a:bodyPr>
          <a:lstStyle/>
          <a:p>
            <a:pPr algn="ctr"/>
            <a:endParaRPr lang="en-US" sz="13800" b="1" dirty="0">
              <a:solidFill>
                <a:schemeClr val="bg1"/>
              </a:solidFill>
              <a:latin typeface="Bahnschrift" panose="020B0502040204020203" pitchFamily="34" charset="0"/>
            </a:endParaRPr>
          </a:p>
          <a:p>
            <a:pPr algn="ctr"/>
            <a:r>
              <a:rPr lang="en-US" sz="13800" b="1" dirty="0">
                <a:solidFill>
                  <a:schemeClr val="bg1"/>
                </a:solidFill>
                <a:latin typeface="Bahnschrift" panose="020B0502040204020203" pitchFamily="34" charset="0"/>
              </a:rPr>
              <a:t>FIVE LAWS </a:t>
            </a:r>
          </a:p>
          <a:p>
            <a:pPr algn="ctr"/>
            <a:r>
              <a:rPr lang="en-US" sz="13800" b="1" dirty="0">
                <a:solidFill>
                  <a:schemeClr val="bg1"/>
                </a:solidFill>
                <a:latin typeface="Bahnschrift" panose="020B0502040204020203" pitchFamily="34" charset="0"/>
              </a:rPr>
              <a:t>OF </a:t>
            </a:r>
          </a:p>
          <a:p>
            <a:pPr algn="ctr"/>
            <a:r>
              <a:rPr lang="en-US" sz="13800" b="1" dirty="0">
                <a:solidFill>
                  <a:schemeClr val="bg1"/>
                </a:solidFill>
                <a:latin typeface="Bahnschrift" panose="020B0502040204020203" pitchFamily="34" charset="0"/>
              </a:rPr>
              <a:t>CODECRAFT</a:t>
            </a:r>
          </a:p>
          <a:p>
            <a:pPr algn="ctr"/>
            <a:endParaRPr lang="en-US" sz="13800" b="1" dirty="0">
              <a:solidFill>
                <a:schemeClr val="bg1"/>
              </a:solidFill>
              <a:latin typeface="Bahnschrift" panose="020B0502040204020203" pitchFamily="34" charset="0"/>
            </a:endParaRPr>
          </a:p>
        </p:txBody>
      </p:sp>
    </p:spTree>
    <p:extLst>
      <p:ext uri="{BB962C8B-B14F-4D97-AF65-F5344CB8AC3E}">
        <p14:creationId xmlns:p14="http://schemas.microsoft.com/office/powerpoint/2010/main" val="3239607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withEffect">
                                  <p:stCondLst>
                                    <p:cond delay="0"/>
                                  </p:stCondLst>
                                  <p:childTnLst>
                                    <p:animRot by="21600000">
                                      <p:cBhvr>
                                        <p:cTn id="6" dur="10000" fill="hold"/>
                                        <p:tgtEl>
                                          <p:spTgt spid="14"/>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2" presetClass="entr" presetSubtype="1"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
          <a:extLst>
            <a:ext uri="{FF2B5EF4-FFF2-40B4-BE49-F238E27FC236}">
              <a16:creationId xmlns:a16="http://schemas.microsoft.com/office/drawing/2014/main" id="{6EB75A23-F352-54AC-FA56-CC600AE51146}"/>
            </a:ext>
          </a:extLst>
        </p:cNvPr>
        <p:cNvGrpSpPr/>
        <p:nvPr/>
      </p:nvGrpSpPr>
      <p:grpSpPr>
        <a:xfrm>
          <a:off x="0" y="0"/>
          <a:ext cx="0" cy="0"/>
          <a:chOff x="0" y="0"/>
          <a:chExt cx="0" cy="0"/>
        </a:xfrm>
      </p:grpSpPr>
      <p:sp>
        <p:nvSpPr>
          <p:cNvPr id="14" name="Oval 13">
            <a:extLst>
              <a:ext uri="{FF2B5EF4-FFF2-40B4-BE49-F238E27FC236}">
                <a16:creationId xmlns:a16="http://schemas.microsoft.com/office/drawing/2014/main" id="{0538F2EC-AA42-A481-463A-E7E080C1666F}"/>
              </a:ext>
            </a:extLst>
          </p:cNvPr>
          <p:cNvSpPr/>
          <p:nvPr/>
        </p:nvSpPr>
        <p:spPr>
          <a:xfrm>
            <a:off x="8293659" y="-243893"/>
            <a:ext cx="1586378" cy="1586378"/>
          </a:xfrm>
          <a:prstGeom prst="ellipse">
            <a:avLst/>
          </a:prstGeom>
          <a:noFill/>
          <a:ln w="57150">
            <a:solidFill>
              <a:schemeClr val="accent2">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61C87160-2349-DDA1-13AB-77B3F9FAA74C}"/>
              </a:ext>
            </a:extLst>
          </p:cNvPr>
          <p:cNvCxnSpPr>
            <a:cxnSpLocks/>
          </p:cNvCxnSpPr>
          <p:nvPr/>
        </p:nvCxnSpPr>
        <p:spPr>
          <a:xfrm>
            <a:off x="-363907" y="1175192"/>
            <a:ext cx="2926132"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13027347-7039-9FD0-7F76-3CE950132BF2}"/>
              </a:ext>
            </a:extLst>
          </p:cNvPr>
          <p:cNvCxnSpPr/>
          <p:nvPr/>
        </p:nvCxnSpPr>
        <p:spPr>
          <a:xfrm>
            <a:off x="8630196" y="6714818"/>
            <a:ext cx="3805083"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5ACE8B68-32DA-8B6F-C545-B45D8F18741B}"/>
              </a:ext>
            </a:extLst>
          </p:cNvPr>
          <p:cNvSpPr/>
          <p:nvPr/>
        </p:nvSpPr>
        <p:spPr>
          <a:xfrm>
            <a:off x="112343" y="93525"/>
            <a:ext cx="8974505" cy="911542"/>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t>THE FIVE LAWS OF CODECRAFT</a:t>
            </a:r>
          </a:p>
        </p:txBody>
      </p:sp>
      <p:sp>
        <p:nvSpPr>
          <p:cNvPr id="16" name="Rectangle 15">
            <a:extLst>
              <a:ext uri="{FF2B5EF4-FFF2-40B4-BE49-F238E27FC236}">
                <a16:creationId xmlns:a16="http://schemas.microsoft.com/office/drawing/2014/main" id="{90A38BA4-0D1A-00A4-96D0-382B8B37B734}"/>
              </a:ext>
            </a:extLst>
          </p:cNvPr>
          <p:cNvSpPr/>
          <p:nvPr/>
        </p:nvSpPr>
        <p:spPr>
          <a:xfrm>
            <a:off x="526943" y="1695457"/>
            <a:ext cx="11074506" cy="4835840"/>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spcAft>
                <a:spcPts val="600"/>
              </a:spcAft>
              <a:buFont typeface="Arial" panose="020B0604020202020204" pitchFamily="34" charset="0"/>
              <a:buChar char="•"/>
            </a:pPr>
            <a:r>
              <a:rPr lang="en-US" dirty="0">
                <a:latin typeface="Bahnschrift" panose="020B0502040204020203" pitchFamily="34" charset="0"/>
              </a:rPr>
              <a:t>The Five Laws of </a:t>
            </a:r>
            <a:r>
              <a:rPr lang="en-US" dirty="0" err="1">
                <a:latin typeface="Bahnschrift" panose="020B0502040204020203" pitchFamily="34" charset="0"/>
              </a:rPr>
              <a:t>Codecraft</a:t>
            </a:r>
            <a:r>
              <a:rPr lang="en-US" dirty="0">
                <a:latin typeface="Bahnschrift" panose="020B0502040204020203" pitchFamily="34" charset="0"/>
              </a:rPr>
              <a:t> are a set of laws governing the good authorship of code. Failure to adhere to the great Five Laws of </a:t>
            </a:r>
            <a:r>
              <a:rPr lang="en-US" dirty="0" err="1">
                <a:latin typeface="Bahnschrift" panose="020B0502040204020203" pitchFamily="34" charset="0"/>
              </a:rPr>
              <a:t>Codecraft</a:t>
            </a:r>
            <a:r>
              <a:rPr lang="en-US" dirty="0">
                <a:latin typeface="Bahnschrift" panose="020B0502040204020203" pitchFamily="34" charset="0"/>
              </a:rPr>
              <a:t> </a:t>
            </a:r>
            <a:r>
              <a:rPr lang="en-US" dirty="0" err="1">
                <a:latin typeface="Bahnschrift" panose="020B0502040204020203" pitchFamily="34" charset="0"/>
              </a:rPr>
              <a:t>wil</a:t>
            </a:r>
            <a:r>
              <a:rPr lang="en-US" dirty="0">
                <a:latin typeface="Bahnschrift" panose="020B0502040204020203" pitchFamily="34" charset="0"/>
              </a:rPr>
              <a:t> result in marks deductions (specifically on criteria C – generally)</a:t>
            </a:r>
          </a:p>
          <a:p>
            <a:pPr marL="285750" indent="-285750">
              <a:spcAft>
                <a:spcPts val="600"/>
              </a:spcAft>
              <a:buFont typeface="Arial" panose="020B0604020202020204" pitchFamily="34" charset="0"/>
              <a:buChar char="•"/>
            </a:pPr>
            <a:endParaRPr lang="en-US" dirty="0">
              <a:latin typeface="Bahnschrift" panose="020B0502040204020203" pitchFamily="34" charset="0"/>
            </a:endParaRPr>
          </a:p>
          <a:p>
            <a:pPr marL="285750" indent="-285750">
              <a:spcAft>
                <a:spcPts val="600"/>
              </a:spcAft>
              <a:buFont typeface="Arial" panose="020B0604020202020204" pitchFamily="34" charset="0"/>
              <a:buChar char="•"/>
            </a:pPr>
            <a:r>
              <a:rPr lang="en-US" dirty="0">
                <a:latin typeface="Bahnschrift" panose="020B0502040204020203" pitchFamily="34" charset="0"/>
              </a:rPr>
              <a:t>Now, just what are these laws you may be wondering?</a:t>
            </a:r>
          </a:p>
        </p:txBody>
      </p:sp>
      <p:cxnSp>
        <p:nvCxnSpPr>
          <p:cNvPr id="3" name="Straight Connector 2">
            <a:extLst>
              <a:ext uri="{FF2B5EF4-FFF2-40B4-BE49-F238E27FC236}">
                <a16:creationId xmlns:a16="http://schemas.microsoft.com/office/drawing/2014/main" id="{2B8BD42A-F4EA-7009-5128-2D388F017B01}"/>
              </a:ext>
            </a:extLst>
          </p:cNvPr>
          <p:cNvCxnSpPr>
            <a:cxnSpLocks/>
          </p:cNvCxnSpPr>
          <p:nvPr/>
        </p:nvCxnSpPr>
        <p:spPr>
          <a:xfrm>
            <a:off x="12057283" y="-1425440"/>
            <a:ext cx="0" cy="3320915"/>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56379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withEffect">
                                  <p:stCondLst>
                                    <p:cond delay="0"/>
                                  </p:stCondLst>
                                  <p:childTnLst>
                                    <p:animRot by="21600000">
                                      <p:cBhvr>
                                        <p:cTn id="6" dur="10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
          <a:extLst>
            <a:ext uri="{FF2B5EF4-FFF2-40B4-BE49-F238E27FC236}">
              <a16:creationId xmlns:a16="http://schemas.microsoft.com/office/drawing/2014/main" id="{00E69D1F-4356-B758-B68C-F5C2200763D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EA71DC3-BE11-79BD-1BA5-64C58B526DBE}"/>
              </a:ext>
            </a:extLst>
          </p:cNvPr>
          <p:cNvSpPr txBox="1"/>
          <p:nvPr/>
        </p:nvSpPr>
        <p:spPr>
          <a:xfrm>
            <a:off x="179694" y="-906069"/>
            <a:ext cx="3136900" cy="2646878"/>
          </a:xfrm>
          <a:prstGeom prst="rect">
            <a:avLst/>
          </a:prstGeom>
          <a:noFill/>
        </p:spPr>
        <p:txBody>
          <a:bodyPr wrap="square" rtlCol="0">
            <a:spAutoFit/>
          </a:bodyPr>
          <a:lstStyle/>
          <a:p>
            <a:r>
              <a:rPr lang="en-US" sz="16600" dirty="0">
                <a:solidFill>
                  <a:schemeClr val="bg1"/>
                </a:solidFill>
                <a:latin typeface="Palace Script MT" panose="030303020206070C0B05" pitchFamily="66" charset="0"/>
              </a:rPr>
              <a:t>1.</a:t>
            </a:r>
          </a:p>
        </p:txBody>
      </p:sp>
      <p:sp>
        <p:nvSpPr>
          <p:cNvPr id="14" name="Oval 13">
            <a:extLst>
              <a:ext uri="{FF2B5EF4-FFF2-40B4-BE49-F238E27FC236}">
                <a16:creationId xmlns:a16="http://schemas.microsoft.com/office/drawing/2014/main" id="{4C480902-0E83-8A25-2078-A0CA9B2BDDCB}"/>
              </a:ext>
            </a:extLst>
          </p:cNvPr>
          <p:cNvSpPr/>
          <p:nvPr/>
        </p:nvSpPr>
        <p:spPr>
          <a:xfrm>
            <a:off x="8293659" y="-243893"/>
            <a:ext cx="1586378" cy="1586378"/>
          </a:xfrm>
          <a:prstGeom prst="ellipse">
            <a:avLst/>
          </a:prstGeom>
          <a:noFill/>
          <a:ln w="57150">
            <a:solidFill>
              <a:schemeClr val="accent2">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F9B17B88-0AD4-4ED4-BB2A-B08D0B1E6DBC}"/>
              </a:ext>
            </a:extLst>
          </p:cNvPr>
          <p:cNvCxnSpPr>
            <a:cxnSpLocks/>
          </p:cNvCxnSpPr>
          <p:nvPr/>
        </p:nvCxnSpPr>
        <p:spPr>
          <a:xfrm>
            <a:off x="-363907" y="1175192"/>
            <a:ext cx="2926132"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7E583165-3744-C214-9980-3A0DBE555002}"/>
              </a:ext>
            </a:extLst>
          </p:cNvPr>
          <p:cNvCxnSpPr/>
          <p:nvPr/>
        </p:nvCxnSpPr>
        <p:spPr>
          <a:xfrm>
            <a:off x="8630196" y="6714818"/>
            <a:ext cx="3805083"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B65F3417-F43D-00C1-DA9B-57ADF3E8119B}"/>
              </a:ext>
            </a:extLst>
          </p:cNvPr>
          <p:cNvSpPr/>
          <p:nvPr/>
        </p:nvSpPr>
        <p:spPr>
          <a:xfrm>
            <a:off x="1636341" y="93525"/>
            <a:ext cx="7450507" cy="911542"/>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t>COMMENT WITH PURPOSE</a:t>
            </a:r>
          </a:p>
        </p:txBody>
      </p:sp>
      <p:sp>
        <p:nvSpPr>
          <p:cNvPr id="16" name="Rectangle 15">
            <a:extLst>
              <a:ext uri="{FF2B5EF4-FFF2-40B4-BE49-F238E27FC236}">
                <a16:creationId xmlns:a16="http://schemas.microsoft.com/office/drawing/2014/main" id="{EE38EB47-31DF-AD6B-49D5-60BCCA57C1E6}"/>
              </a:ext>
            </a:extLst>
          </p:cNvPr>
          <p:cNvSpPr/>
          <p:nvPr/>
        </p:nvSpPr>
        <p:spPr>
          <a:xfrm>
            <a:off x="2370746" y="2511337"/>
            <a:ext cx="7450508" cy="1903696"/>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sz="2800" dirty="0">
                <a:latin typeface="Bahnschrift" panose="020B0502040204020203" pitchFamily="34" charset="0"/>
              </a:rPr>
              <a:t>Thy must comment your code. Let your comments illuminate, not obscure, the journey of your logic.</a:t>
            </a:r>
          </a:p>
        </p:txBody>
      </p:sp>
      <p:cxnSp>
        <p:nvCxnSpPr>
          <p:cNvPr id="3" name="Straight Connector 2">
            <a:extLst>
              <a:ext uri="{FF2B5EF4-FFF2-40B4-BE49-F238E27FC236}">
                <a16:creationId xmlns:a16="http://schemas.microsoft.com/office/drawing/2014/main" id="{9AD77636-396B-F8C5-62A2-7DC08537A995}"/>
              </a:ext>
            </a:extLst>
          </p:cNvPr>
          <p:cNvCxnSpPr>
            <a:cxnSpLocks/>
          </p:cNvCxnSpPr>
          <p:nvPr/>
        </p:nvCxnSpPr>
        <p:spPr>
          <a:xfrm>
            <a:off x="12057283" y="-1425440"/>
            <a:ext cx="0" cy="3320915"/>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pic>
        <p:nvPicPr>
          <p:cNvPr id="2" name="Picture 1" descr="Download Fierce Lightning Strike Png Ths6 | Wallpapers.com">
            <a:extLst>
              <a:ext uri="{FF2B5EF4-FFF2-40B4-BE49-F238E27FC236}">
                <a16:creationId xmlns:a16="http://schemas.microsoft.com/office/drawing/2014/main" id="{8832B471-74F4-BCC9-EA9E-7E06159FFF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444" y="-1044524"/>
            <a:ext cx="3555861" cy="355586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D5EDC11-1D3F-4B40-8082-08FB7CA2697E}"/>
              </a:ext>
            </a:extLst>
          </p:cNvPr>
          <p:cNvSpPr txBox="1"/>
          <p:nvPr/>
        </p:nvSpPr>
        <p:spPr>
          <a:xfrm>
            <a:off x="332094" y="-753669"/>
            <a:ext cx="3136900" cy="2646878"/>
          </a:xfrm>
          <a:prstGeom prst="rect">
            <a:avLst/>
          </a:prstGeom>
          <a:noFill/>
        </p:spPr>
        <p:txBody>
          <a:bodyPr wrap="square" rtlCol="0">
            <a:spAutoFit/>
          </a:bodyPr>
          <a:lstStyle/>
          <a:p>
            <a:r>
              <a:rPr lang="en-US" sz="16600" dirty="0">
                <a:solidFill>
                  <a:schemeClr val="bg1"/>
                </a:solidFill>
                <a:latin typeface="Palace Script MT" panose="030303020206070C0B05" pitchFamily="66" charset="0"/>
              </a:rPr>
              <a:t>1.</a:t>
            </a:r>
          </a:p>
        </p:txBody>
      </p:sp>
    </p:spTree>
    <p:extLst>
      <p:ext uri="{BB962C8B-B14F-4D97-AF65-F5344CB8AC3E}">
        <p14:creationId xmlns:p14="http://schemas.microsoft.com/office/powerpoint/2010/main" val="4271647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withEffect">
                                  <p:stCondLst>
                                    <p:cond delay="0"/>
                                  </p:stCondLst>
                                  <p:childTnLst>
                                    <p:animRot by="21600000">
                                      <p:cBhvr>
                                        <p:cTn id="6" dur="10000" fill="hold"/>
                                        <p:tgtEl>
                                          <p:spTgt spid="14"/>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2" presetClass="entr" presetSubtype="1"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4" grpId="0" animBg="1"/>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
          <a:extLst>
            <a:ext uri="{FF2B5EF4-FFF2-40B4-BE49-F238E27FC236}">
              <a16:creationId xmlns:a16="http://schemas.microsoft.com/office/drawing/2014/main" id="{22AF51C3-CF63-5AEE-1A4C-828AAF960889}"/>
            </a:ext>
          </a:extLst>
        </p:cNvPr>
        <p:cNvGrpSpPr/>
        <p:nvPr/>
      </p:nvGrpSpPr>
      <p:grpSpPr>
        <a:xfrm>
          <a:off x="0" y="0"/>
          <a:ext cx="0" cy="0"/>
          <a:chOff x="0" y="0"/>
          <a:chExt cx="0" cy="0"/>
        </a:xfrm>
      </p:grpSpPr>
      <p:pic>
        <p:nvPicPr>
          <p:cNvPr id="2" name="Picture 1" descr="Download Fierce Lightning Strike Png Ths6 | Wallpapers.com">
            <a:extLst>
              <a:ext uri="{FF2B5EF4-FFF2-40B4-BE49-F238E27FC236}">
                <a16:creationId xmlns:a16="http://schemas.microsoft.com/office/drawing/2014/main" id="{5894A016-D668-11A1-3640-27EAEC7AFC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4196" y="-1044524"/>
            <a:ext cx="4380790" cy="4380790"/>
          </a:xfrm>
          <a:prstGeom prst="rect">
            <a:avLst/>
          </a:prstGeom>
          <a:noFill/>
          <a:extLst>
            <a:ext uri="{909E8E84-426E-40DD-AFC4-6F175D3DCCD1}">
              <a14:hiddenFill xmlns:a14="http://schemas.microsoft.com/office/drawing/2010/main">
                <a:solidFill>
                  <a:srgbClr val="FFFFFF"/>
                </a:solidFill>
              </a14:hiddenFill>
            </a:ext>
          </a:extLst>
        </p:spPr>
      </p:pic>
      <p:sp>
        <p:nvSpPr>
          <p:cNvPr id="14" name="Oval 13">
            <a:extLst>
              <a:ext uri="{FF2B5EF4-FFF2-40B4-BE49-F238E27FC236}">
                <a16:creationId xmlns:a16="http://schemas.microsoft.com/office/drawing/2014/main" id="{937D4FF0-9732-8E3F-A084-A73F69478E57}"/>
              </a:ext>
            </a:extLst>
          </p:cNvPr>
          <p:cNvSpPr/>
          <p:nvPr/>
        </p:nvSpPr>
        <p:spPr>
          <a:xfrm>
            <a:off x="11219116" y="-243893"/>
            <a:ext cx="1586378" cy="1586378"/>
          </a:xfrm>
          <a:prstGeom prst="ellipse">
            <a:avLst/>
          </a:prstGeom>
          <a:noFill/>
          <a:ln w="57150">
            <a:solidFill>
              <a:schemeClr val="accent2">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FB6177B0-D1E1-4B07-CDF8-AC45A48B3DEA}"/>
              </a:ext>
            </a:extLst>
          </p:cNvPr>
          <p:cNvCxnSpPr>
            <a:cxnSpLocks/>
          </p:cNvCxnSpPr>
          <p:nvPr/>
        </p:nvCxnSpPr>
        <p:spPr>
          <a:xfrm>
            <a:off x="-363907" y="1175192"/>
            <a:ext cx="2926132"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E2DDEB2-3C05-4881-9870-307F5EB95A9E}"/>
              </a:ext>
            </a:extLst>
          </p:cNvPr>
          <p:cNvCxnSpPr/>
          <p:nvPr/>
        </p:nvCxnSpPr>
        <p:spPr>
          <a:xfrm>
            <a:off x="8630196" y="6714818"/>
            <a:ext cx="3805083"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F6341F06-0EE1-0D6E-AD16-6996ED22591D}"/>
              </a:ext>
            </a:extLst>
          </p:cNvPr>
          <p:cNvSpPr/>
          <p:nvPr/>
        </p:nvSpPr>
        <p:spPr>
          <a:xfrm>
            <a:off x="1247775" y="93525"/>
            <a:ext cx="10764530" cy="911542"/>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t>RESPECT THE NAMING OF VARIABLES</a:t>
            </a:r>
          </a:p>
        </p:txBody>
      </p:sp>
      <p:sp>
        <p:nvSpPr>
          <p:cNvPr id="16" name="Rectangle 15">
            <a:extLst>
              <a:ext uri="{FF2B5EF4-FFF2-40B4-BE49-F238E27FC236}">
                <a16:creationId xmlns:a16="http://schemas.microsoft.com/office/drawing/2014/main" id="{59C65D42-74E4-6FB7-8D5F-803188A94738}"/>
              </a:ext>
            </a:extLst>
          </p:cNvPr>
          <p:cNvSpPr/>
          <p:nvPr/>
        </p:nvSpPr>
        <p:spPr>
          <a:xfrm>
            <a:off x="2370746" y="2443225"/>
            <a:ext cx="7450508" cy="1786082"/>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sz="2800" dirty="0">
                <a:latin typeface="Bahnschrift" panose="020B0502040204020203" pitchFamily="34" charset="0"/>
              </a:rPr>
              <a:t>Let the names of variables reflect the nature of variables, so others may follow with ease.</a:t>
            </a:r>
          </a:p>
        </p:txBody>
      </p:sp>
      <p:cxnSp>
        <p:nvCxnSpPr>
          <p:cNvPr id="3" name="Straight Connector 2">
            <a:extLst>
              <a:ext uri="{FF2B5EF4-FFF2-40B4-BE49-F238E27FC236}">
                <a16:creationId xmlns:a16="http://schemas.microsoft.com/office/drawing/2014/main" id="{E217B05A-ACF8-389D-58D5-004A79F8F68D}"/>
              </a:ext>
            </a:extLst>
          </p:cNvPr>
          <p:cNvCxnSpPr>
            <a:cxnSpLocks/>
          </p:cNvCxnSpPr>
          <p:nvPr/>
        </p:nvCxnSpPr>
        <p:spPr>
          <a:xfrm>
            <a:off x="12057283" y="-1425440"/>
            <a:ext cx="0" cy="3320915"/>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829406C5-EFDD-4B44-C503-4AD3A6F124ED}"/>
              </a:ext>
            </a:extLst>
          </p:cNvPr>
          <p:cNvSpPr txBox="1"/>
          <p:nvPr/>
        </p:nvSpPr>
        <p:spPr>
          <a:xfrm>
            <a:off x="179694" y="-906069"/>
            <a:ext cx="3136900" cy="2646878"/>
          </a:xfrm>
          <a:prstGeom prst="rect">
            <a:avLst/>
          </a:prstGeom>
          <a:noFill/>
        </p:spPr>
        <p:txBody>
          <a:bodyPr wrap="square" rtlCol="0">
            <a:spAutoFit/>
          </a:bodyPr>
          <a:lstStyle/>
          <a:p>
            <a:r>
              <a:rPr lang="en-US" sz="16600" dirty="0">
                <a:solidFill>
                  <a:schemeClr val="bg1"/>
                </a:solidFill>
                <a:latin typeface="Palace Script MT" panose="030303020206070C0B05" pitchFamily="66" charset="0"/>
              </a:rPr>
              <a:t>2.</a:t>
            </a:r>
          </a:p>
        </p:txBody>
      </p:sp>
    </p:spTree>
    <p:extLst>
      <p:ext uri="{BB962C8B-B14F-4D97-AF65-F5344CB8AC3E}">
        <p14:creationId xmlns:p14="http://schemas.microsoft.com/office/powerpoint/2010/main" val="4082878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withEffect">
                                  <p:stCondLst>
                                    <p:cond delay="0"/>
                                  </p:stCondLst>
                                  <p:childTnLst>
                                    <p:animRot by="21600000">
                                      <p:cBhvr>
                                        <p:cTn id="6" dur="10000" fill="hold"/>
                                        <p:tgtEl>
                                          <p:spTgt spid="14"/>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2" presetClass="entr" presetSubtype="1"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
          <a:extLst>
            <a:ext uri="{FF2B5EF4-FFF2-40B4-BE49-F238E27FC236}">
              <a16:creationId xmlns:a16="http://schemas.microsoft.com/office/drawing/2014/main" id="{916D6B59-5441-0D7A-F097-32FD180DF07B}"/>
            </a:ext>
          </a:extLst>
        </p:cNvPr>
        <p:cNvGrpSpPr/>
        <p:nvPr/>
      </p:nvGrpSpPr>
      <p:grpSpPr>
        <a:xfrm>
          <a:off x="0" y="0"/>
          <a:ext cx="0" cy="0"/>
          <a:chOff x="0" y="0"/>
          <a:chExt cx="0" cy="0"/>
        </a:xfrm>
      </p:grpSpPr>
      <p:pic>
        <p:nvPicPr>
          <p:cNvPr id="2" name="Picture 1" descr="Download Fierce Lightning Strike Png Ths6 | Wallpapers.com">
            <a:extLst>
              <a:ext uri="{FF2B5EF4-FFF2-40B4-BE49-F238E27FC236}">
                <a16:creationId xmlns:a16="http://schemas.microsoft.com/office/drawing/2014/main" id="{6F7344CE-6E2A-2FB3-5242-E94F1F64A7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119" y="-1038838"/>
            <a:ext cx="5559293" cy="5559293"/>
          </a:xfrm>
          <a:prstGeom prst="rect">
            <a:avLst/>
          </a:prstGeom>
          <a:noFill/>
          <a:extLst>
            <a:ext uri="{909E8E84-426E-40DD-AFC4-6F175D3DCCD1}">
              <a14:hiddenFill xmlns:a14="http://schemas.microsoft.com/office/drawing/2010/main">
                <a:solidFill>
                  <a:srgbClr val="FFFFFF"/>
                </a:solidFill>
              </a14:hiddenFill>
            </a:ext>
          </a:extLst>
        </p:spPr>
      </p:pic>
      <p:sp>
        <p:nvSpPr>
          <p:cNvPr id="14" name="Oval 13">
            <a:extLst>
              <a:ext uri="{FF2B5EF4-FFF2-40B4-BE49-F238E27FC236}">
                <a16:creationId xmlns:a16="http://schemas.microsoft.com/office/drawing/2014/main" id="{28ABF74F-C5BD-7C12-4F2C-F5CAF0406E7C}"/>
              </a:ext>
            </a:extLst>
          </p:cNvPr>
          <p:cNvSpPr/>
          <p:nvPr/>
        </p:nvSpPr>
        <p:spPr>
          <a:xfrm>
            <a:off x="8455586" y="-243893"/>
            <a:ext cx="1586378" cy="1586378"/>
          </a:xfrm>
          <a:prstGeom prst="ellipse">
            <a:avLst/>
          </a:prstGeom>
          <a:noFill/>
          <a:ln w="57150">
            <a:solidFill>
              <a:schemeClr val="accent2">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4C742B5D-AD25-2882-2570-B30773848453}"/>
              </a:ext>
            </a:extLst>
          </p:cNvPr>
          <p:cNvCxnSpPr>
            <a:cxnSpLocks/>
          </p:cNvCxnSpPr>
          <p:nvPr/>
        </p:nvCxnSpPr>
        <p:spPr>
          <a:xfrm>
            <a:off x="-363907" y="1175192"/>
            <a:ext cx="2926132"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3CE338DB-0340-7DAB-C307-4BE7D1166F93}"/>
              </a:ext>
            </a:extLst>
          </p:cNvPr>
          <p:cNvCxnSpPr/>
          <p:nvPr/>
        </p:nvCxnSpPr>
        <p:spPr>
          <a:xfrm>
            <a:off x="8630196" y="6714818"/>
            <a:ext cx="3805083"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6BCE87DB-7E82-35B7-D46F-AD01118AE5A1}"/>
              </a:ext>
            </a:extLst>
          </p:cNvPr>
          <p:cNvSpPr/>
          <p:nvPr/>
        </p:nvSpPr>
        <p:spPr>
          <a:xfrm>
            <a:off x="1247775" y="93525"/>
            <a:ext cx="8001000" cy="911542"/>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t>REFRAIN FROM REPETITION</a:t>
            </a:r>
          </a:p>
        </p:txBody>
      </p:sp>
      <p:sp>
        <p:nvSpPr>
          <p:cNvPr id="16" name="Rectangle 15">
            <a:extLst>
              <a:ext uri="{FF2B5EF4-FFF2-40B4-BE49-F238E27FC236}">
                <a16:creationId xmlns:a16="http://schemas.microsoft.com/office/drawing/2014/main" id="{EDBAFAC3-40B7-0925-AD90-0DE6AAB6A17D}"/>
              </a:ext>
            </a:extLst>
          </p:cNvPr>
          <p:cNvSpPr/>
          <p:nvPr/>
        </p:nvSpPr>
        <p:spPr>
          <a:xfrm>
            <a:off x="2370746" y="2519065"/>
            <a:ext cx="7450508" cy="1786082"/>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sz="2800" dirty="0">
                <a:latin typeface="Bahnschrift" panose="020B0502040204020203" pitchFamily="34" charset="0"/>
              </a:rPr>
              <a:t>Code once, reuse endlessly. Loops, functions, and objects are your allies in the field.</a:t>
            </a:r>
          </a:p>
        </p:txBody>
      </p:sp>
      <p:cxnSp>
        <p:nvCxnSpPr>
          <p:cNvPr id="3" name="Straight Connector 2">
            <a:extLst>
              <a:ext uri="{FF2B5EF4-FFF2-40B4-BE49-F238E27FC236}">
                <a16:creationId xmlns:a16="http://schemas.microsoft.com/office/drawing/2014/main" id="{74B35126-EA4A-14CF-FD51-9770AEE6D05F}"/>
              </a:ext>
            </a:extLst>
          </p:cNvPr>
          <p:cNvCxnSpPr>
            <a:cxnSpLocks/>
          </p:cNvCxnSpPr>
          <p:nvPr/>
        </p:nvCxnSpPr>
        <p:spPr>
          <a:xfrm>
            <a:off x="12057283" y="-1425440"/>
            <a:ext cx="0" cy="3320915"/>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9A61B66A-D3C7-B01D-7FA4-766B2DC929F5}"/>
              </a:ext>
            </a:extLst>
          </p:cNvPr>
          <p:cNvSpPr txBox="1"/>
          <p:nvPr/>
        </p:nvSpPr>
        <p:spPr>
          <a:xfrm>
            <a:off x="179694" y="-906069"/>
            <a:ext cx="3136900" cy="2646878"/>
          </a:xfrm>
          <a:prstGeom prst="rect">
            <a:avLst/>
          </a:prstGeom>
          <a:noFill/>
        </p:spPr>
        <p:txBody>
          <a:bodyPr wrap="square" rtlCol="0">
            <a:spAutoFit/>
          </a:bodyPr>
          <a:lstStyle/>
          <a:p>
            <a:r>
              <a:rPr lang="en-US" sz="16600" dirty="0">
                <a:solidFill>
                  <a:schemeClr val="bg1"/>
                </a:solidFill>
                <a:latin typeface="Palace Script MT" panose="030303020206070C0B05" pitchFamily="66" charset="0"/>
              </a:rPr>
              <a:t>3.</a:t>
            </a:r>
          </a:p>
        </p:txBody>
      </p:sp>
    </p:spTree>
    <p:extLst>
      <p:ext uri="{BB962C8B-B14F-4D97-AF65-F5344CB8AC3E}">
        <p14:creationId xmlns:p14="http://schemas.microsoft.com/office/powerpoint/2010/main" val="3179096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withEffect">
                                  <p:stCondLst>
                                    <p:cond delay="0"/>
                                  </p:stCondLst>
                                  <p:childTnLst>
                                    <p:animRot by="21600000">
                                      <p:cBhvr>
                                        <p:cTn id="6" dur="10000" fill="hold"/>
                                        <p:tgtEl>
                                          <p:spTgt spid="14"/>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2" presetClass="entr" presetSubtype="1"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
          <a:extLst>
            <a:ext uri="{FF2B5EF4-FFF2-40B4-BE49-F238E27FC236}">
              <a16:creationId xmlns:a16="http://schemas.microsoft.com/office/drawing/2014/main" id="{E1788843-B973-6842-292A-E7AF2A4EEA79}"/>
            </a:ext>
          </a:extLst>
        </p:cNvPr>
        <p:cNvGrpSpPr/>
        <p:nvPr/>
      </p:nvGrpSpPr>
      <p:grpSpPr>
        <a:xfrm>
          <a:off x="0" y="0"/>
          <a:ext cx="0" cy="0"/>
          <a:chOff x="0" y="0"/>
          <a:chExt cx="0" cy="0"/>
        </a:xfrm>
      </p:grpSpPr>
      <p:pic>
        <p:nvPicPr>
          <p:cNvPr id="2" name="Picture 1" descr="Download Fierce Lightning Strike Png Ths6 | Wallpapers.com">
            <a:extLst>
              <a:ext uri="{FF2B5EF4-FFF2-40B4-BE49-F238E27FC236}">
                <a16:creationId xmlns:a16="http://schemas.microsoft.com/office/drawing/2014/main" id="{C2CC3E0F-6CB7-7D15-8283-9152EFB61E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9652" y="-1039309"/>
            <a:ext cx="6725077" cy="6725077"/>
          </a:xfrm>
          <a:prstGeom prst="rect">
            <a:avLst/>
          </a:prstGeom>
          <a:noFill/>
          <a:extLst>
            <a:ext uri="{909E8E84-426E-40DD-AFC4-6F175D3DCCD1}">
              <a14:hiddenFill xmlns:a14="http://schemas.microsoft.com/office/drawing/2010/main">
                <a:solidFill>
                  <a:srgbClr val="FFFFFF"/>
                </a:solidFill>
              </a14:hiddenFill>
            </a:ext>
          </a:extLst>
        </p:spPr>
      </p:pic>
      <p:sp>
        <p:nvSpPr>
          <p:cNvPr id="14" name="Oval 13">
            <a:extLst>
              <a:ext uri="{FF2B5EF4-FFF2-40B4-BE49-F238E27FC236}">
                <a16:creationId xmlns:a16="http://schemas.microsoft.com/office/drawing/2014/main" id="{074819C7-B69B-6929-1CFA-2928F54BE8B2}"/>
              </a:ext>
            </a:extLst>
          </p:cNvPr>
          <p:cNvSpPr/>
          <p:nvPr/>
        </p:nvSpPr>
        <p:spPr>
          <a:xfrm>
            <a:off x="8455586" y="-243893"/>
            <a:ext cx="1586378" cy="1586378"/>
          </a:xfrm>
          <a:prstGeom prst="ellipse">
            <a:avLst/>
          </a:prstGeom>
          <a:noFill/>
          <a:ln w="57150">
            <a:solidFill>
              <a:schemeClr val="accent2">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1D102BF8-D25F-0088-3D78-0A992258D73C}"/>
              </a:ext>
            </a:extLst>
          </p:cNvPr>
          <p:cNvCxnSpPr>
            <a:cxnSpLocks/>
          </p:cNvCxnSpPr>
          <p:nvPr/>
        </p:nvCxnSpPr>
        <p:spPr>
          <a:xfrm>
            <a:off x="-363907" y="1175192"/>
            <a:ext cx="2926132"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2B09FEC0-D38D-443A-C23C-9680409849CB}"/>
              </a:ext>
            </a:extLst>
          </p:cNvPr>
          <p:cNvCxnSpPr/>
          <p:nvPr/>
        </p:nvCxnSpPr>
        <p:spPr>
          <a:xfrm>
            <a:off x="8630196" y="6714818"/>
            <a:ext cx="3805083"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03FA01A1-FAFC-89DF-3D14-947C66B01FFE}"/>
              </a:ext>
            </a:extLst>
          </p:cNvPr>
          <p:cNvSpPr/>
          <p:nvPr/>
        </p:nvSpPr>
        <p:spPr>
          <a:xfrm>
            <a:off x="1247774" y="93525"/>
            <a:ext cx="9239249" cy="911542"/>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t>CITE THY SOURCES WITH HONOR</a:t>
            </a:r>
          </a:p>
        </p:txBody>
      </p:sp>
      <p:sp>
        <p:nvSpPr>
          <p:cNvPr id="16" name="Rectangle 15">
            <a:extLst>
              <a:ext uri="{FF2B5EF4-FFF2-40B4-BE49-F238E27FC236}">
                <a16:creationId xmlns:a16="http://schemas.microsoft.com/office/drawing/2014/main" id="{DDB49B7F-D4B6-19DA-F1E5-8660C611AB8E}"/>
              </a:ext>
            </a:extLst>
          </p:cNvPr>
          <p:cNvSpPr/>
          <p:nvPr/>
        </p:nvSpPr>
        <p:spPr>
          <a:xfrm>
            <a:off x="2370746" y="2357742"/>
            <a:ext cx="7450508" cy="2132007"/>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sz="2800" dirty="0">
                <a:latin typeface="Bahnschrift" panose="020B0502040204020203" pitchFamily="34" charset="0"/>
              </a:rPr>
              <a:t>If thou borrows from the knowledge of others, give credit where it is due, for integrity in code reflects integrity in character.</a:t>
            </a:r>
          </a:p>
        </p:txBody>
      </p:sp>
      <p:cxnSp>
        <p:nvCxnSpPr>
          <p:cNvPr id="3" name="Straight Connector 2">
            <a:extLst>
              <a:ext uri="{FF2B5EF4-FFF2-40B4-BE49-F238E27FC236}">
                <a16:creationId xmlns:a16="http://schemas.microsoft.com/office/drawing/2014/main" id="{9CE054E8-B2B4-CFA0-741A-7BFD1B81A41C}"/>
              </a:ext>
            </a:extLst>
          </p:cNvPr>
          <p:cNvCxnSpPr>
            <a:cxnSpLocks/>
          </p:cNvCxnSpPr>
          <p:nvPr/>
        </p:nvCxnSpPr>
        <p:spPr>
          <a:xfrm>
            <a:off x="12057283" y="-1425440"/>
            <a:ext cx="0" cy="3320915"/>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9E0DA2FF-3C8E-754C-C158-07D9AC8590A8}"/>
              </a:ext>
            </a:extLst>
          </p:cNvPr>
          <p:cNvSpPr txBox="1"/>
          <p:nvPr/>
        </p:nvSpPr>
        <p:spPr>
          <a:xfrm>
            <a:off x="179694" y="-906069"/>
            <a:ext cx="3136900" cy="2646878"/>
          </a:xfrm>
          <a:prstGeom prst="rect">
            <a:avLst/>
          </a:prstGeom>
          <a:noFill/>
        </p:spPr>
        <p:txBody>
          <a:bodyPr wrap="square" rtlCol="0">
            <a:spAutoFit/>
          </a:bodyPr>
          <a:lstStyle/>
          <a:p>
            <a:r>
              <a:rPr lang="en-US" sz="16600" dirty="0">
                <a:solidFill>
                  <a:schemeClr val="bg1"/>
                </a:solidFill>
                <a:latin typeface="Palace Script MT" panose="030303020206070C0B05" pitchFamily="66" charset="0"/>
              </a:rPr>
              <a:t>4.</a:t>
            </a:r>
          </a:p>
        </p:txBody>
      </p:sp>
    </p:spTree>
    <p:extLst>
      <p:ext uri="{BB962C8B-B14F-4D97-AF65-F5344CB8AC3E}">
        <p14:creationId xmlns:p14="http://schemas.microsoft.com/office/powerpoint/2010/main" val="3944482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withEffect">
                                  <p:stCondLst>
                                    <p:cond delay="0"/>
                                  </p:stCondLst>
                                  <p:childTnLst>
                                    <p:animRot by="21600000">
                                      <p:cBhvr>
                                        <p:cTn id="6" dur="10000" fill="hold"/>
                                        <p:tgtEl>
                                          <p:spTgt spid="14"/>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2" presetClass="entr" presetSubtype="1"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
          <a:extLst>
            <a:ext uri="{FF2B5EF4-FFF2-40B4-BE49-F238E27FC236}">
              <a16:creationId xmlns:a16="http://schemas.microsoft.com/office/drawing/2014/main" id="{01B65384-18F7-31E7-6850-5709A89F61C2}"/>
            </a:ext>
          </a:extLst>
        </p:cNvPr>
        <p:cNvGrpSpPr/>
        <p:nvPr/>
      </p:nvGrpSpPr>
      <p:grpSpPr>
        <a:xfrm>
          <a:off x="0" y="0"/>
          <a:ext cx="0" cy="0"/>
          <a:chOff x="0" y="0"/>
          <a:chExt cx="0" cy="0"/>
        </a:xfrm>
      </p:grpSpPr>
      <p:pic>
        <p:nvPicPr>
          <p:cNvPr id="2" name="Picture 1" descr="Download Fierce Lightning Strike Png Ths6 | Wallpapers.com">
            <a:extLst>
              <a:ext uri="{FF2B5EF4-FFF2-40B4-BE49-F238E27FC236}">
                <a16:creationId xmlns:a16="http://schemas.microsoft.com/office/drawing/2014/main" id="{39DD41C8-8B0A-4013-C48E-1022181439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9543" y="-1425440"/>
            <a:ext cx="8820577" cy="8820577"/>
          </a:xfrm>
          <a:prstGeom prst="rect">
            <a:avLst/>
          </a:prstGeom>
          <a:noFill/>
          <a:extLst>
            <a:ext uri="{909E8E84-426E-40DD-AFC4-6F175D3DCCD1}">
              <a14:hiddenFill xmlns:a14="http://schemas.microsoft.com/office/drawing/2010/main">
                <a:solidFill>
                  <a:srgbClr val="FFFFFF"/>
                </a:solidFill>
              </a14:hiddenFill>
            </a:ext>
          </a:extLst>
        </p:spPr>
      </p:pic>
      <p:sp>
        <p:nvSpPr>
          <p:cNvPr id="14" name="Oval 13">
            <a:extLst>
              <a:ext uri="{FF2B5EF4-FFF2-40B4-BE49-F238E27FC236}">
                <a16:creationId xmlns:a16="http://schemas.microsoft.com/office/drawing/2014/main" id="{F4712CD3-0909-7A69-8DC6-67DE8AC51F9F}"/>
              </a:ext>
            </a:extLst>
          </p:cNvPr>
          <p:cNvSpPr/>
          <p:nvPr/>
        </p:nvSpPr>
        <p:spPr>
          <a:xfrm>
            <a:off x="8455586" y="-243893"/>
            <a:ext cx="1586378" cy="1586378"/>
          </a:xfrm>
          <a:prstGeom prst="ellipse">
            <a:avLst/>
          </a:prstGeom>
          <a:noFill/>
          <a:ln w="57150">
            <a:solidFill>
              <a:schemeClr val="accent2">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B2494EF7-6C25-0076-640D-BEC526C788F6}"/>
              </a:ext>
            </a:extLst>
          </p:cNvPr>
          <p:cNvCxnSpPr>
            <a:cxnSpLocks/>
          </p:cNvCxnSpPr>
          <p:nvPr/>
        </p:nvCxnSpPr>
        <p:spPr>
          <a:xfrm>
            <a:off x="-363907" y="1175192"/>
            <a:ext cx="2926132"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728C797F-9448-7F12-8566-A83546C21303}"/>
              </a:ext>
            </a:extLst>
          </p:cNvPr>
          <p:cNvCxnSpPr/>
          <p:nvPr/>
        </p:nvCxnSpPr>
        <p:spPr>
          <a:xfrm>
            <a:off x="8630196" y="6714818"/>
            <a:ext cx="3805083"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4A9B1EC2-4110-31C3-ECDF-282B19DC8955}"/>
              </a:ext>
            </a:extLst>
          </p:cNvPr>
          <p:cNvSpPr/>
          <p:nvPr/>
        </p:nvSpPr>
        <p:spPr>
          <a:xfrm>
            <a:off x="1247774" y="93525"/>
            <a:ext cx="10239374" cy="911542"/>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t>EMBRACE FAILURE AS KNOWLEDGE</a:t>
            </a:r>
          </a:p>
        </p:txBody>
      </p:sp>
      <p:sp>
        <p:nvSpPr>
          <p:cNvPr id="16" name="Rectangle 15">
            <a:extLst>
              <a:ext uri="{FF2B5EF4-FFF2-40B4-BE49-F238E27FC236}">
                <a16:creationId xmlns:a16="http://schemas.microsoft.com/office/drawing/2014/main" id="{F49B1A18-07BC-A54D-F09B-3DEB505D58E8}"/>
              </a:ext>
            </a:extLst>
          </p:cNvPr>
          <p:cNvSpPr/>
          <p:nvPr/>
        </p:nvSpPr>
        <p:spPr>
          <a:xfrm>
            <a:off x="2370746" y="2765735"/>
            <a:ext cx="7450508" cy="1315424"/>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sz="2800" dirty="0">
                <a:latin typeface="Bahnschrift" panose="020B0502040204020203" pitchFamily="34" charset="0"/>
              </a:rPr>
              <a:t>Errors are teachers in disguise; debug with patience and wisdom.</a:t>
            </a:r>
          </a:p>
        </p:txBody>
      </p:sp>
      <p:cxnSp>
        <p:nvCxnSpPr>
          <p:cNvPr id="3" name="Straight Connector 2">
            <a:extLst>
              <a:ext uri="{FF2B5EF4-FFF2-40B4-BE49-F238E27FC236}">
                <a16:creationId xmlns:a16="http://schemas.microsoft.com/office/drawing/2014/main" id="{4FA398F4-8AED-7579-041F-32A700D8C02D}"/>
              </a:ext>
            </a:extLst>
          </p:cNvPr>
          <p:cNvCxnSpPr>
            <a:cxnSpLocks/>
          </p:cNvCxnSpPr>
          <p:nvPr/>
        </p:nvCxnSpPr>
        <p:spPr>
          <a:xfrm>
            <a:off x="12057283" y="-1425440"/>
            <a:ext cx="0" cy="3320915"/>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2D65AB0A-A60B-A035-70FB-CC26C811A7C8}"/>
              </a:ext>
            </a:extLst>
          </p:cNvPr>
          <p:cNvSpPr txBox="1"/>
          <p:nvPr/>
        </p:nvSpPr>
        <p:spPr>
          <a:xfrm>
            <a:off x="179694" y="-906069"/>
            <a:ext cx="3136900" cy="2646878"/>
          </a:xfrm>
          <a:prstGeom prst="rect">
            <a:avLst/>
          </a:prstGeom>
          <a:noFill/>
        </p:spPr>
        <p:txBody>
          <a:bodyPr wrap="square" rtlCol="0">
            <a:spAutoFit/>
          </a:bodyPr>
          <a:lstStyle/>
          <a:p>
            <a:r>
              <a:rPr lang="en-US" sz="16600" dirty="0">
                <a:solidFill>
                  <a:schemeClr val="bg1"/>
                </a:solidFill>
                <a:latin typeface="Palace Script MT" panose="030303020206070C0B05" pitchFamily="66" charset="0"/>
              </a:rPr>
              <a:t>5.</a:t>
            </a:r>
          </a:p>
        </p:txBody>
      </p:sp>
    </p:spTree>
    <p:extLst>
      <p:ext uri="{BB962C8B-B14F-4D97-AF65-F5344CB8AC3E}">
        <p14:creationId xmlns:p14="http://schemas.microsoft.com/office/powerpoint/2010/main" val="1467386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withEffect">
                                  <p:stCondLst>
                                    <p:cond delay="0"/>
                                  </p:stCondLst>
                                  <p:childTnLst>
                                    <p:animRot by="21600000">
                                      <p:cBhvr>
                                        <p:cTn id="6" dur="10000" fill="hold"/>
                                        <p:tgtEl>
                                          <p:spTgt spid="14"/>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2" presetClass="entr" presetSubtype="1"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
          <a:extLst>
            <a:ext uri="{FF2B5EF4-FFF2-40B4-BE49-F238E27FC236}">
              <a16:creationId xmlns:a16="http://schemas.microsoft.com/office/drawing/2014/main" id="{EFDA4C2A-9F85-1BEA-D645-648E8FB08E1E}"/>
            </a:ext>
          </a:extLst>
        </p:cNvPr>
        <p:cNvGrpSpPr/>
        <p:nvPr/>
      </p:nvGrpSpPr>
      <p:grpSpPr>
        <a:xfrm>
          <a:off x="0" y="0"/>
          <a:ext cx="0" cy="0"/>
          <a:chOff x="0" y="0"/>
          <a:chExt cx="0" cy="0"/>
        </a:xfrm>
      </p:grpSpPr>
      <p:sp>
        <p:nvSpPr>
          <p:cNvPr id="14" name="Oval 13">
            <a:extLst>
              <a:ext uri="{FF2B5EF4-FFF2-40B4-BE49-F238E27FC236}">
                <a16:creationId xmlns:a16="http://schemas.microsoft.com/office/drawing/2014/main" id="{9318AAFB-E714-4273-5BBC-1750CBD52A42}"/>
              </a:ext>
            </a:extLst>
          </p:cNvPr>
          <p:cNvSpPr/>
          <p:nvPr/>
        </p:nvSpPr>
        <p:spPr>
          <a:xfrm>
            <a:off x="5645711" y="-243893"/>
            <a:ext cx="1586378" cy="1586378"/>
          </a:xfrm>
          <a:prstGeom prst="ellipse">
            <a:avLst/>
          </a:prstGeom>
          <a:noFill/>
          <a:ln w="57150">
            <a:solidFill>
              <a:schemeClr val="accent2">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077B38C8-1919-A30B-840E-24994B1B47B3}"/>
              </a:ext>
            </a:extLst>
          </p:cNvPr>
          <p:cNvCxnSpPr>
            <a:cxnSpLocks/>
          </p:cNvCxnSpPr>
          <p:nvPr/>
        </p:nvCxnSpPr>
        <p:spPr>
          <a:xfrm>
            <a:off x="-363907" y="1175192"/>
            <a:ext cx="2926132"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2540066A-34C6-EE74-61F0-08849BC2CC24}"/>
              </a:ext>
            </a:extLst>
          </p:cNvPr>
          <p:cNvCxnSpPr/>
          <p:nvPr/>
        </p:nvCxnSpPr>
        <p:spPr>
          <a:xfrm>
            <a:off x="8630196" y="6714818"/>
            <a:ext cx="3805083"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F006C6D4-9B87-05E7-11BA-79B902F434B9}"/>
              </a:ext>
            </a:extLst>
          </p:cNvPr>
          <p:cNvSpPr/>
          <p:nvPr/>
        </p:nvSpPr>
        <p:spPr>
          <a:xfrm>
            <a:off x="112343" y="93525"/>
            <a:ext cx="6326557" cy="911542"/>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t>UNITS FOR THIS YEAR</a:t>
            </a:r>
          </a:p>
        </p:txBody>
      </p:sp>
      <p:sp>
        <p:nvSpPr>
          <p:cNvPr id="16" name="Rectangle 15">
            <a:extLst>
              <a:ext uri="{FF2B5EF4-FFF2-40B4-BE49-F238E27FC236}">
                <a16:creationId xmlns:a16="http://schemas.microsoft.com/office/drawing/2014/main" id="{F473504E-E28D-55BA-29BD-85776E238A19}"/>
              </a:ext>
            </a:extLst>
          </p:cNvPr>
          <p:cNvSpPr/>
          <p:nvPr/>
        </p:nvSpPr>
        <p:spPr>
          <a:xfrm>
            <a:off x="526943" y="1695457"/>
            <a:ext cx="11074506" cy="4835840"/>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spcAft>
                <a:spcPts val="600"/>
              </a:spcAft>
              <a:buFont typeface="Arial" panose="020B0604020202020204" pitchFamily="34" charset="0"/>
              <a:buChar char="•"/>
            </a:pPr>
            <a:r>
              <a:rPr lang="en-US" dirty="0">
                <a:latin typeface="Bahnschrift" panose="020B0502040204020203" pitchFamily="34" charset="0"/>
              </a:rPr>
              <a:t>These are all tentative, but currently these are the plans</a:t>
            </a:r>
          </a:p>
          <a:p>
            <a:pPr marL="285750" indent="-285750">
              <a:spcAft>
                <a:spcPts val="600"/>
              </a:spcAft>
              <a:buFont typeface="Arial" panose="020B0604020202020204" pitchFamily="34" charset="0"/>
              <a:buChar char="•"/>
            </a:pPr>
            <a:r>
              <a:rPr lang="en-US" dirty="0">
                <a:latin typeface="Bahnschrift" panose="020B0502040204020203" pitchFamily="34" charset="0"/>
              </a:rPr>
              <a:t>UNIT 1: Games of Logic - 8/26-10/13</a:t>
            </a:r>
          </a:p>
          <a:p>
            <a:pPr marL="742950" lvl="1" indent="-285750">
              <a:spcAft>
                <a:spcPts val="600"/>
              </a:spcAft>
              <a:buFont typeface="Arial" panose="020B0604020202020204" pitchFamily="34" charset="0"/>
              <a:buChar char="•"/>
            </a:pPr>
            <a:r>
              <a:rPr lang="en-US" dirty="0">
                <a:latin typeface="Bahnschrift" panose="020B0502040204020203" pitchFamily="34" charset="0"/>
              </a:rPr>
              <a:t>Creating a card/board game based on a fundamental computer science principle</a:t>
            </a:r>
          </a:p>
          <a:p>
            <a:pPr marL="742950" lvl="1" indent="-285750">
              <a:spcAft>
                <a:spcPts val="600"/>
              </a:spcAft>
              <a:buFont typeface="Arial" panose="020B0604020202020204" pitchFamily="34" charset="0"/>
              <a:buChar char="•"/>
            </a:pPr>
            <a:r>
              <a:rPr lang="en-US" dirty="0">
                <a:latin typeface="Bahnschrift" panose="020B0502040204020203" pitchFamily="34" charset="0"/>
              </a:rPr>
              <a:t>Topics include: binary, hexadecimal, logic gates, data representation, truth tables, assembly language</a:t>
            </a:r>
          </a:p>
          <a:p>
            <a:pPr marL="285750" indent="-285750">
              <a:spcAft>
                <a:spcPts val="600"/>
              </a:spcAft>
              <a:buFont typeface="Arial" panose="020B0604020202020204" pitchFamily="34" charset="0"/>
              <a:buChar char="•"/>
            </a:pPr>
            <a:r>
              <a:rPr lang="en-US" dirty="0">
                <a:latin typeface="Bahnschrift" panose="020B0502040204020203" pitchFamily="34" charset="0"/>
              </a:rPr>
              <a:t>UNIT 2: Built to Order - 10/15-1/22</a:t>
            </a:r>
          </a:p>
          <a:p>
            <a:pPr marL="742950" lvl="1" indent="-285750">
              <a:spcAft>
                <a:spcPts val="600"/>
              </a:spcAft>
              <a:buFont typeface="Arial" panose="020B0604020202020204" pitchFamily="34" charset="0"/>
              <a:buChar char="•"/>
            </a:pPr>
            <a:r>
              <a:rPr lang="en-US" dirty="0">
                <a:latin typeface="Bahnschrift" panose="020B0502040204020203" pitchFamily="34" charset="0"/>
              </a:rPr>
              <a:t>Solving a repetitive task of a peer or other client using a Python program</a:t>
            </a:r>
          </a:p>
          <a:p>
            <a:pPr marL="742950" lvl="1" indent="-285750">
              <a:spcAft>
                <a:spcPts val="600"/>
              </a:spcAft>
              <a:buFont typeface="Arial" panose="020B0604020202020204" pitchFamily="34" charset="0"/>
              <a:buChar char="•"/>
            </a:pPr>
            <a:r>
              <a:rPr lang="en-US" dirty="0">
                <a:latin typeface="Bahnschrift" panose="020B0502040204020203" pitchFamily="34" charset="0"/>
              </a:rPr>
              <a:t>Topics include: Python, input/output, data types, variables, operators, arithmetic, casting, conditionals, loops, debugging, strings, lists, dictionaries, functions, file input/output, </a:t>
            </a:r>
            <a:r>
              <a:rPr lang="en-US" dirty="0" err="1">
                <a:latin typeface="Bahnschrift" panose="020B0502040204020203" pitchFamily="34" charset="0"/>
              </a:rPr>
              <a:t>tkinter</a:t>
            </a:r>
            <a:endParaRPr lang="en-US" dirty="0">
              <a:latin typeface="Bahnschrift" panose="020B0502040204020203" pitchFamily="34" charset="0"/>
            </a:endParaRPr>
          </a:p>
        </p:txBody>
      </p:sp>
      <p:cxnSp>
        <p:nvCxnSpPr>
          <p:cNvPr id="3" name="Straight Connector 2">
            <a:extLst>
              <a:ext uri="{FF2B5EF4-FFF2-40B4-BE49-F238E27FC236}">
                <a16:creationId xmlns:a16="http://schemas.microsoft.com/office/drawing/2014/main" id="{186C6E41-0779-34F8-5E19-1E060608819E}"/>
              </a:ext>
            </a:extLst>
          </p:cNvPr>
          <p:cNvCxnSpPr>
            <a:cxnSpLocks/>
          </p:cNvCxnSpPr>
          <p:nvPr/>
        </p:nvCxnSpPr>
        <p:spPr>
          <a:xfrm>
            <a:off x="12057283" y="-1425440"/>
            <a:ext cx="0" cy="3320915"/>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5759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withEffect">
                                  <p:stCondLst>
                                    <p:cond delay="0"/>
                                  </p:stCondLst>
                                  <p:childTnLst>
                                    <p:animRot by="21600000">
                                      <p:cBhvr>
                                        <p:cTn id="6" dur="10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
          <a:extLst>
            <a:ext uri="{FF2B5EF4-FFF2-40B4-BE49-F238E27FC236}">
              <a16:creationId xmlns:a16="http://schemas.microsoft.com/office/drawing/2014/main" id="{46347330-04F7-0C77-1A0E-E9976E83F15D}"/>
            </a:ext>
          </a:extLst>
        </p:cNvPr>
        <p:cNvGrpSpPr/>
        <p:nvPr/>
      </p:nvGrpSpPr>
      <p:grpSpPr>
        <a:xfrm>
          <a:off x="0" y="0"/>
          <a:ext cx="0" cy="0"/>
          <a:chOff x="0" y="0"/>
          <a:chExt cx="0" cy="0"/>
        </a:xfrm>
      </p:grpSpPr>
      <p:sp>
        <p:nvSpPr>
          <p:cNvPr id="14" name="Oval 13">
            <a:extLst>
              <a:ext uri="{FF2B5EF4-FFF2-40B4-BE49-F238E27FC236}">
                <a16:creationId xmlns:a16="http://schemas.microsoft.com/office/drawing/2014/main" id="{EF203C61-29C4-2D22-791D-C7837DA58F94}"/>
              </a:ext>
            </a:extLst>
          </p:cNvPr>
          <p:cNvSpPr/>
          <p:nvPr/>
        </p:nvSpPr>
        <p:spPr>
          <a:xfrm>
            <a:off x="5645711" y="-243893"/>
            <a:ext cx="1586378" cy="1586378"/>
          </a:xfrm>
          <a:prstGeom prst="ellipse">
            <a:avLst/>
          </a:prstGeom>
          <a:noFill/>
          <a:ln w="57150">
            <a:solidFill>
              <a:schemeClr val="accent2">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CC58D277-0038-B4C8-FD77-1499F91F6D8F}"/>
              </a:ext>
            </a:extLst>
          </p:cNvPr>
          <p:cNvCxnSpPr>
            <a:cxnSpLocks/>
          </p:cNvCxnSpPr>
          <p:nvPr/>
        </p:nvCxnSpPr>
        <p:spPr>
          <a:xfrm>
            <a:off x="-363907" y="1175192"/>
            <a:ext cx="2926132"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5AC97809-9ED0-A23F-E98A-BE78FAB9AD0A}"/>
              </a:ext>
            </a:extLst>
          </p:cNvPr>
          <p:cNvCxnSpPr/>
          <p:nvPr/>
        </p:nvCxnSpPr>
        <p:spPr>
          <a:xfrm>
            <a:off x="8630196" y="6714818"/>
            <a:ext cx="3805083"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7C56D0A6-2AD7-6849-84D7-F2AC9E45A43F}"/>
              </a:ext>
            </a:extLst>
          </p:cNvPr>
          <p:cNvSpPr/>
          <p:nvPr/>
        </p:nvSpPr>
        <p:spPr>
          <a:xfrm>
            <a:off x="112343" y="93525"/>
            <a:ext cx="6326557" cy="911542"/>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t>UNITS FOR THIS YEAR</a:t>
            </a:r>
          </a:p>
        </p:txBody>
      </p:sp>
      <p:sp>
        <p:nvSpPr>
          <p:cNvPr id="16" name="Rectangle 15">
            <a:extLst>
              <a:ext uri="{FF2B5EF4-FFF2-40B4-BE49-F238E27FC236}">
                <a16:creationId xmlns:a16="http://schemas.microsoft.com/office/drawing/2014/main" id="{57D951BB-3D74-9158-F816-443D079F1246}"/>
              </a:ext>
            </a:extLst>
          </p:cNvPr>
          <p:cNvSpPr/>
          <p:nvPr/>
        </p:nvSpPr>
        <p:spPr>
          <a:xfrm>
            <a:off x="526943" y="1695457"/>
            <a:ext cx="11074506" cy="4835840"/>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spcAft>
                <a:spcPts val="600"/>
              </a:spcAft>
              <a:buFont typeface="Arial" panose="020B0604020202020204" pitchFamily="34" charset="0"/>
              <a:buChar char="•"/>
            </a:pPr>
            <a:r>
              <a:rPr lang="en-US" dirty="0">
                <a:latin typeface="Bahnschrift" panose="020B0502040204020203" pitchFamily="34" charset="0"/>
              </a:rPr>
              <a:t>UNIT 3: Frame Perfect – 1/28-3/9</a:t>
            </a:r>
          </a:p>
          <a:p>
            <a:pPr marL="742950" lvl="1" indent="-285750">
              <a:spcAft>
                <a:spcPts val="600"/>
              </a:spcAft>
              <a:buFont typeface="Arial" panose="020B0604020202020204" pitchFamily="34" charset="0"/>
              <a:buChar char="•"/>
            </a:pPr>
            <a:r>
              <a:rPr lang="en-US" dirty="0">
                <a:latin typeface="Bahnschrift" panose="020B0502040204020203" pitchFamily="34" charset="0"/>
              </a:rPr>
              <a:t>Your choice between</a:t>
            </a:r>
          </a:p>
          <a:p>
            <a:pPr marL="1200150" lvl="2" indent="-285750">
              <a:spcAft>
                <a:spcPts val="600"/>
              </a:spcAft>
              <a:buFont typeface="Arial" panose="020B0604020202020204" pitchFamily="34" charset="0"/>
              <a:buChar char="•"/>
            </a:pPr>
            <a:r>
              <a:rPr lang="en-US" dirty="0">
                <a:latin typeface="Bahnschrift" panose="020B0502040204020203" pitchFamily="34" charset="0"/>
              </a:rPr>
              <a:t>Sequencing a video-game tool assisted speedrun of at least 60 seconds</a:t>
            </a:r>
          </a:p>
          <a:p>
            <a:pPr marL="1657350" lvl="3" indent="-285750">
              <a:spcAft>
                <a:spcPts val="600"/>
              </a:spcAft>
              <a:buFont typeface="Arial" panose="020B0604020202020204" pitchFamily="34" charset="0"/>
              <a:buChar char="•"/>
            </a:pPr>
            <a:r>
              <a:rPr lang="en-US" dirty="0">
                <a:latin typeface="Bahnschrift" panose="020B0502040204020203" pitchFamily="34" charset="0"/>
              </a:rPr>
              <a:t>OR</a:t>
            </a:r>
          </a:p>
          <a:p>
            <a:pPr marL="1200150" lvl="2" indent="-285750">
              <a:spcAft>
                <a:spcPts val="600"/>
              </a:spcAft>
              <a:buFont typeface="Arial" panose="020B0604020202020204" pitchFamily="34" charset="0"/>
              <a:buChar char="•"/>
            </a:pPr>
            <a:r>
              <a:rPr lang="en-US" dirty="0">
                <a:latin typeface="Bahnschrift" panose="020B0502040204020203" pitchFamily="34" charset="0"/>
              </a:rPr>
              <a:t>Sequencing a song (original or cover) using the original Nintendo’s sound chip</a:t>
            </a:r>
          </a:p>
          <a:p>
            <a:pPr marL="742950" lvl="1" indent="-285750">
              <a:spcAft>
                <a:spcPts val="600"/>
              </a:spcAft>
              <a:buFont typeface="Arial" panose="020B0604020202020204" pitchFamily="34" charset="0"/>
              <a:buChar char="•"/>
            </a:pPr>
            <a:r>
              <a:rPr lang="en-US" dirty="0">
                <a:latin typeface="Bahnschrift" panose="020B0502040204020203" pitchFamily="34" charset="0"/>
              </a:rPr>
              <a:t>Topics include: Constraint identification, scripted playback, sequenced data structures, technical implementation, </a:t>
            </a:r>
            <a:r>
              <a:rPr lang="en-US" dirty="0" err="1">
                <a:latin typeface="Bahnschrift" panose="020B0502040204020203" pitchFamily="34" charset="0"/>
              </a:rPr>
              <a:t>reproducability</a:t>
            </a:r>
            <a:endParaRPr lang="en-US" dirty="0">
              <a:latin typeface="Bahnschrift" panose="020B0502040204020203" pitchFamily="34" charset="0"/>
            </a:endParaRPr>
          </a:p>
          <a:p>
            <a:pPr marL="285750" indent="-285750">
              <a:spcAft>
                <a:spcPts val="600"/>
              </a:spcAft>
              <a:buFont typeface="Arial" panose="020B0604020202020204" pitchFamily="34" charset="0"/>
              <a:buChar char="•"/>
            </a:pPr>
            <a:r>
              <a:rPr lang="en-US" dirty="0">
                <a:latin typeface="Bahnschrift" panose="020B0502040204020203" pitchFamily="34" charset="0"/>
              </a:rPr>
              <a:t>UNIT 4: Open Problem – 3/24-5/12</a:t>
            </a:r>
          </a:p>
          <a:p>
            <a:pPr marL="742950" lvl="1" indent="-285750">
              <a:spcAft>
                <a:spcPts val="600"/>
              </a:spcAft>
              <a:buFont typeface="Arial" panose="020B0604020202020204" pitchFamily="34" charset="0"/>
              <a:buChar char="•"/>
            </a:pPr>
            <a:r>
              <a:rPr lang="en-US" dirty="0">
                <a:latin typeface="Bahnschrift" panose="020B0502040204020203" pitchFamily="34" charset="0"/>
              </a:rPr>
              <a:t>Your capstone project – identify a problem faced by a larger group of people, collect data using a survey, solve it using a Python program, and solicit feedback from a group of testers</a:t>
            </a:r>
          </a:p>
        </p:txBody>
      </p:sp>
      <p:cxnSp>
        <p:nvCxnSpPr>
          <p:cNvPr id="3" name="Straight Connector 2">
            <a:extLst>
              <a:ext uri="{FF2B5EF4-FFF2-40B4-BE49-F238E27FC236}">
                <a16:creationId xmlns:a16="http://schemas.microsoft.com/office/drawing/2014/main" id="{7A24F536-62C1-3010-3112-73EF4C5A1D0B}"/>
              </a:ext>
            </a:extLst>
          </p:cNvPr>
          <p:cNvCxnSpPr>
            <a:cxnSpLocks/>
          </p:cNvCxnSpPr>
          <p:nvPr/>
        </p:nvCxnSpPr>
        <p:spPr>
          <a:xfrm>
            <a:off x="12057283" y="-1425440"/>
            <a:ext cx="0" cy="3320915"/>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46587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withEffect">
                                  <p:stCondLst>
                                    <p:cond delay="0"/>
                                  </p:stCondLst>
                                  <p:childTnLst>
                                    <p:animRot by="21600000">
                                      <p:cBhvr>
                                        <p:cTn id="6" dur="10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
          <a:extLst>
            <a:ext uri="{FF2B5EF4-FFF2-40B4-BE49-F238E27FC236}">
              <a16:creationId xmlns:a16="http://schemas.microsoft.com/office/drawing/2014/main" id="{585AF003-2106-253C-A6B5-5CF716A63507}"/>
            </a:ext>
          </a:extLst>
        </p:cNvPr>
        <p:cNvGrpSpPr/>
        <p:nvPr/>
      </p:nvGrpSpPr>
      <p:grpSpPr>
        <a:xfrm>
          <a:off x="0" y="0"/>
          <a:ext cx="0" cy="0"/>
          <a:chOff x="0" y="0"/>
          <a:chExt cx="0" cy="0"/>
        </a:xfrm>
      </p:grpSpPr>
      <p:sp>
        <p:nvSpPr>
          <p:cNvPr id="14" name="Oval 13">
            <a:extLst>
              <a:ext uri="{FF2B5EF4-FFF2-40B4-BE49-F238E27FC236}">
                <a16:creationId xmlns:a16="http://schemas.microsoft.com/office/drawing/2014/main" id="{07131214-D88B-9ADD-6430-4092324D9863}"/>
              </a:ext>
            </a:extLst>
          </p:cNvPr>
          <p:cNvSpPr/>
          <p:nvPr/>
        </p:nvSpPr>
        <p:spPr>
          <a:xfrm>
            <a:off x="7335825" y="-243893"/>
            <a:ext cx="1586378" cy="1586378"/>
          </a:xfrm>
          <a:prstGeom prst="ellipse">
            <a:avLst/>
          </a:prstGeom>
          <a:noFill/>
          <a:ln w="57150">
            <a:solidFill>
              <a:schemeClr val="accent2">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B65882D6-00E7-E97C-DBD2-FCD8E3819DCB}"/>
              </a:ext>
            </a:extLst>
          </p:cNvPr>
          <p:cNvCxnSpPr>
            <a:cxnSpLocks/>
          </p:cNvCxnSpPr>
          <p:nvPr/>
        </p:nvCxnSpPr>
        <p:spPr>
          <a:xfrm>
            <a:off x="-363907" y="1175192"/>
            <a:ext cx="2926132"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AEE468F2-AC74-3142-BD3B-D8F6EA3C91C5}"/>
              </a:ext>
            </a:extLst>
          </p:cNvPr>
          <p:cNvCxnSpPr/>
          <p:nvPr/>
        </p:nvCxnSpPr>
        <p:spPr>
          <a:xfrm>
            <a:off x="8630196" y="6714818"/>
            <a:ext cx="3805083"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E1E46F3C-9A17-BBAB-0200-A1D8BCB01ABB}"/>
              </a:ext>
            </a:extLst>
          </p:cNvPr>
          <p:cNvSpPr/>
          <p:nvPr/>
        </p:nvSpPr>
        <p:spPr>
          <a:xfrm>
            <a:off x="112343" y="93525"/>
            <a:ext cx="8016671" cy="911542"/>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t>WHERE TO FIND MATERIALS</a:t>
            </a:r>
          </a:p>
        </p:txBody>
      </p:sp>
      <p:sp>
        <p:nvSpPr>
          <p:cNvPr id="16" name="Rectangle 15">
            <a:extLst>
              <a:ext uri="{FF2B5EF4-FFF2-40B4-BE49-F238E27FC236}">
                <a16:creationId xmlns:a16="http://schemas.microsoft.com/office/drawing/2014/main" id="{EB54C2C9-22AC-BD6C-0DA3-FC6F55942231}"/>
              </a:ext>
            </a:extLst>
          </p:cNvPr>
          <p:cNvSpPr/>
          <p:nvPr/>
        </p:nvSpPr>
        <p:spPr>
          <a:xfrm>
            <a:off x="526943" y="1695457"/>
            <a:ext cx="11074506" cy="4835840"/>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spcAft>
                <a:spcPts val="600"/>
              </a:spcAft>
              <a:buFont typeface="Arial" panose="020B0604020202020204" pitchFamily="34" charset="0"/>
              <a:buChar char="•"/>
            </a:pPr>
            <a:r>
              <a:rPr lang="en-US" dirty="0">
                <a:latin typeface="Bahnschrift" panose="020B0502040204020203" pitchFamily="34" charset="0"/>
              </a:rPr>
              <a:t>Pretty much everything you see during this class will be available under the classroom GitHub page</a:t>
            </a:r>
          </a:p>
          <a:p>
            <a:pPr marL="742950" lvl="1" indent="-285750">
              <a:spcAft>
                <a:spcPts val="600"/>
              </a:spcAft>
              <a:buFont typeface="Arial" panose="020B0604020202020204" pitchFamily="34" charset="0"/>
              <a:buChar char="•"/>
            </a:pPr>
            <a:r>
              <a:rPr lang="en-US" dirty="0">
                <a:latin typeface="Bahnschrift" panose="020B0502040204020203" pitchFamily="34" charset="0"/>
              </a:rPr>
              <a:t>GitHub is an industry standard tool used for organizing projects, often called ‘version control’</a:t>
            </a:r>
          </a:p>
          <a:p>
            <a:pPr marL="742950" lvl="1" indent="-285750">
              <a:spcAft>
                <a:spcPts val="600"/>
              </a:spcAft>
              <a:buFont typeface="Arial" panose="020B0604020202020204" pitchFamily="34" charset="0"/>
              <a:buChar char="•"/>
            </a:pPr>
            <a:r>
              <a:rPr lang="en-US" dirty="0">
                <a:latin typeface="Bahnschrift" panose="020B0502040204020203" pitchFamily="34" charset="0"/>
              </a:rPr>
              <a:t>For us, it’s a shared folder I can use so you can go back to lessons, find assignments, etc. at any time</a:t>
            </a:r>
          </a:p>
          <a:p>
            <a:pPr marL="742950" lvl="1" indent="-285750">
              <a:spcAft>
                <a:spcPts val="600"/>
              </a:spcAft>
              <a:buFont typeface="Arial" panose="020B0604020202020204" pitchFamily="34" charset="0"/>
              <a:buChar char="•"/>
            </a:pPr>
            <a:r>
              <a:rPr lang="en-US" dirty="0" err="1">
                <a:hlinkClick r:id="rId2"/>
              </a:rPr>
              <a:t>JAEOStudios</a:t>
            </a:r>
            <a:r>
              <a:rPr lang="en-US" dirty="0">
                <a:hlinkClick r:id="rId2"/>
              </a:rPr>
              <a:t>/MYP-Digital-Design</a:t>
            </a:r>
            <a:endParaRPr lang="en-US" dirty="0">
              <a:latin typeface="Bahnschrift" panose="020B0502040204020203" pitchFamily="34" charset="0"/>
            </a:endParaRPr>
          </a:p>
        </p:txBody>
      </p:sp>
      <p:cxnSp>
        <p:nvCxnSpPr>
          <p:cNvPr id="3" name="Straight Connector 2">
            <a:extLst>
              <a:ext uri="{FF2B5EF4-FFF2-40B4-BE49-F238E27FC236}">
                <a16:creationId xmlns:a16="http://schemas.microsoft.com/office/drawing/2014/main" id="{C9FAB2D3-8018-0C80-76B0-3FD1ACC5620D}"/>
              </a:ext>
            </a:extLst>
          </p:cNvPr>
          <p:cNvCxnSpPr>
            <a:cxnSpLocks/>
          </p:cNvCxnSpPr>
          <p:nvPr/>
        </p:nvCxnSpPr>
        <p:spPr>
          <a:xfrm>
            <a:off x="12057283" y="-1425440"/>
            <a:ext cx="0" cy="3320915"/>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9608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withEffect">
                                  <p:stCondLst>
                                    <p:cond delay="0"/>
                                  </p:stCondLst>
                                  <p:childTnLst>
                                    <p:animRot by="21600000">
                                      <p:cBhvr>
                                        <p:cTn id="6" dur="10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
          <a:extLst>
            <a:ext uri="{FF2B5EF4-FFF2-40B4-BE49-F238E27FC236}">
              <a16:creationId xmlns:a16="http://schemas.microsoft.com/office/drawing/2014/main" id="{F57DA18D-FF11-686D-1A9B-7F19B71DACC4}"/>
            </a:ext>
          </a:extLst>
        </p:cNvPr>
        <p:cNvGrpSpPr/>
        <p:nvPr/>
      </p:nvGrpSpPr>
      <p:grpSpPr>
        <a:xfrm>
          <a:off x="0" y="0"/>
          <a:ext cx="0" cy="0"/>
          <a:chOff x="0" y="0"/>
          <a:chExt cx="0" cy="0"/>
        </a:xfrm>
      </p:grpSpPr>
      <p:sp>
        <p:nvSpPr>
          <p:cNvPr id="14" name="Oval 13">
            <a:extLst>
              <a:ext uri="{FF2B5EF4-FFF2-40B4-BE49-F238E27FC236}">
                <a16:creationId xmlns:a16="http://schemas.microsoft.com/office/drawing/2014/main" id="{3B4B0B4F-E840-B523-D0B3-713BE020CE28}"/>
              </a:ext>
            </a:extLst>
          </p:cNvPr>
          <p:cNvSpPr/>
          <p:nvPr/>
        </p:nvSpPr>
        <p:spPr>
          <a:xfrm>
            <a:off x="4359837" y="-243893"/>
            <a:ext cx="1586378" cy="1586378"/>
          </a:xfrm>
          <a:prstGeom prst="ellipse">
            <a:avLst/>
          </a:prstGeom>
          <a:noFill/>
          <a:ln w="57150">
            <a:solidFill>
              <a:schemeClr val="accent2">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A8C6E9D5-7A39-061B-C523-8064CDD3BE73}"/>
              </a:ext>
            </a:extLst>
          </p:cNvPr>
          <p:cNvCxnSpPr>
            <a:cxnSpLocks/>
          </p:cNvCxnSpPr>
          <p:nvPr/>
        </p:nvCxnSpPr>
        <p:spPr>
          <a:xfrm>
            <a:off x="-363907" y="1175192"/>
            <a:ext cx="2926132"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7C0C918C-BAE6-B21F-BCC6-7E599E5BF53E}"/>
              </a:ext>
            </a:extLst>
          </p:cNvPr>
          <p:cNvCxnSpPr/>
          <p:nvPr/>
        </p:nvCxnSpPr>
        <p:spPr>
          <a:xfrm>
            <a:off x="8630196" y="6714818"/>
            <a:ext cx="3805083" cy="0"/>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131F2EDB-8728-CEF8-D2F6-03E1F7CDFBCC}"/>
              </a:ext>
            </a:extLst>
          </p:cNvPr>
          <p:cNvSpPr/>
          <p:nvPr/>
        </p:nvSpPr>
        <p:spPr>
          <a:xfrm>
            <a:off x="112344" y="93525"/>
            <a:ext cx="5040682" cy="911542"/>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t>CONTACTING ME</a:t>
            </a:r>
          </a:p>
        </p:txBody>
      </p:sp>
      <p:sp>
        <p:nvSpPr>
          <p:cNvPr id="16" name="Rectangle 15">
            <a:extLst>
              <a:ext uri="{FF2B5EF4-FFF2-40B4-BE49-F238E27FC236}">
                <a16:creationId xmlns:a16="http://schemas.microsoft.com/office/drawing/2014/main" id="{BE0BAF32-769C-3B0A-0D1B-541F1D399A82}"/>
              </a:ext>
            </a:extLst>
          </p:cNvPr>
          <p:cNvSpPr/>
          <p:nvPr/>
        </p:nvSpPr>
        <p:spPr>
          <a:xfrm>
            <a:off x="526943" y="1695457"/>
            <a:ext cx="11074506" cy="4835840"/>
          </a:xfrm>
          <a:prstGeom prst="rect">
            <a:avLst/>
          </a:prstGeom>
          <a:solidFill>
            <a:schemeClr val="accent2">
              <a:lumMod val="75000"/>
            </a:schemeClr>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spcAft>
                <a:spcPts val="600"/>
              </a:spcAft>
              <a:buFont typeface="Arial" panose="020B0604020202020204" pitchFamily="34" charset="0"/>
              <a:buChar char="•"/>
            </a:pPr>
            <a:r>
              <a:rPr lang="en-US" dirty="0">
                <a:latin typeface="Bahnschrift" panose="020B0502040204020203" pitchFamily="34" charset="0"/>
              </a:rPr>
              <a:t>You can reach me at </a:t>
            </a:r>
            <a:r>
              <a:rPr lang="en-US" dirty="0">
                <a:latin typeface="Bahnschrift" panose="020B0502040204020203" pitchFamily="34" charset="0"/>
                <a:hlinkClick r:id="rId2"/>
              </a:rPr>
              <a:t>michael.hill@students.alcuinschool.org</a:t>
            </a:r>
            <a:endParaRPr lang="en-US" dirty="0">
              <a:latin typeface="Bahnschrift" panose="020B0502040204020203" pitchFamily="34" charset="0"/>
            </a:endParaRPr>
          </a:p>
          <a:p>
            <a:pPr marL="742950" lvl="1" indent="-285750">
              <a:spcAft>
                <a:spcPts val="600"/>
              </a:spcAft>
              <a:buFont typeface="Arial" panose="020B0604020202020204" pitchFamily="34" charset="0"/>
              <a:buChar char="•"/>
            </a:pPr>
            <a:r>
              <a:rPr lang="en-US" dirty="0">
                <a:latin typeface="Bahnschrift" panose="020B0502040204020203" pitchFamily="34" charset="0"/>
              </a:rPr>
              <a:t>I’m typically available until 10PM, and I’m willing to do my best to answer question until then</a:t>
            </a:r>
          </a:p>
          <a:p>
            <a:pPr marL="1200150" lvl="2" indent="-285750">
              <a:spcAft>
                <a:spcPts val="600"/>
              </a:spcAft>
              <a:buFont typeface="Arial" panose="020B0604020202020204" pitchFamily="34" charset="0"/>
              <a:buChar char="•"/>
            </a:pPr>
            <a:r>
              <a:rPr lang="en-US" dirty="0">
                <a:latin typeface="Bahnschrift" panose="020B0502040204020203" pitchFamily="34" charset="0"/>
              </a:rPr>
              <a:t>If you’ve got a particularly complex problem, I might have to wait for a work day so I can look over it on my computer</a:t>
            </a:r>
          </a:p>
          <a:p>
            <a:pPr marL="742950" lvl="1" indent="-285750">
              <a:spcAft>
                <a:spcPts val="600"/>
              </a:spcAft>
              <a:buFont typeface="Arial" panose="020B0604020202020204" pitchFamily="34" charset="0"/>
              <a:buChar char="•"/>
            </a:pPr>
            <a:r>
              <a:rPr lang="en-US" dirty="0">
                <a:latin typeface="Bahnschrift" panose="020B0502040204020203" pitchFamily="34" charset="0"/>
              </a:rPr>
              <a:t>Please try to research and/or debug before immediately emailing me</a:t>
            </a:r>
          </a:p>
          <a:p>
            <a:pPr marL="1200150" lvl="2" indent="-285750">
              <a:spcAft>
                <a:spcPts val="600"/>
              </a:spcAft>
              <a:buFont typeface="Arial" panose="020B0604020202020204" pitchFamily="34" charset="0"/>
              <a:buChar char="•"/>
            </a:pPr>
            <a:r>
              <a:rPr lang="en-US" dirty="0">
                <a:latin typeface="Bahnschrift" panose="020B0502040204020203" pitchFamily="34" charset="0"/>
              </a:rPr>
              <a:t>This helps both of us, because you’ll be able to learn how to solve your problems better</a:t>
            </a:r>
          </a:p>
          <a:p>
            <a:pPr marL="285750" indent="-285750">
              <a:spcAft>
                <a:spcPts val="600"/>
              </a:spcAft>
              <a:buFont typeface="Arial" panose="020B0604020202020204" pitchFamily="34" charset="0"/>
              <a:buChar char="•"/>
            </a:pPr>
            <a:r>
              <a:rPr lang="en-US" dirty="0">
                <a:latin typeface="Bahnschrift" panose="020B0502040204020203" pitchFamily="34" charset="0"/>
              </a:rPr>
              <a:t>If you’d like in-person help, please email me first to make sure I’m available before coming to get help</a:t>
            </a:r>
          </a:p>
          <a:p>
            <a:pPr marL="742950" lvl="1" indent="-285750">
              <a:spcAft>
                <a:spcPts val="600"/>
              </a:spcAft>
              <a:buFont typeface="Arial" panose="020B0604020202020204" pitchFamily="34" charset="0"/>
              <a:buChar char="•"/>
            </a:pPr>
            <a:r>
              <a:rPr lang="en-US">
                <a:latin typeface="Bahnschrift" panose="020B0502040204020203" pitchFamily="34" charset="0"/>
              </a:rPr>
              <a:t>I’m generally available </a:t>
            </a:r>
            <a:r>
              <a:rPr lang="en-US" dirty="0">
                <a:latin typeface="Bahnschrift" panose="020B0502040204020203" pitchFamily="34" charset="0"/>
              </a:rPr>
              <a:t>M-F from 8:00-8:30, and every day from 1:30-3:00. You can also come ask questions on M/T/W during E-period, and from 4:00-4:30 every day</a:t>
            </a:r>
          </a:p>
        </p:txBody>
      </p:sp>
      <p:cxnSp>
        <p:nvCxnSpPr>
          <p:cNvPr id="3" name="Straight Connector 2">
            <a:extLst>
              <a:ext uri="{FF2B5EF4-FFF2-40B4-BE49-F238E27FC236}">
                <a16:creationId xmlns:a16="http://schemas.microsoft.com/office/drawing/2014/main" id="{30E9CEAF-90AB-FB8D-4D6B-CB16CFD5D252}"/>
              </a:ext>
            </a:extLst>
          </p:cNvPr>
          <p:cNvCxnSpPr>
            <a:cxnSpLocks/>
          </p:cNvCxnSpPr>
          <p:nvPr/>
        </p:nvCxnSpPr>
        <p:spPr>
          <a:xfrm>
            <a:off x="12057283" y="-1425440"/>
            <a:ext cx="0" cy="3320915"/>
          </a:xfrm>
          <a:prstGeom prst="line">
            <a:avLst/>
          </a:prstGeom>
          <a:ln w="57150">
            <a:solidFill>
              <a:schemeClr val="bg1"/>
            </a:solidFill>
            <a:prstDash val="sys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3657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withEffect">
                                  <p:stCondLst>
                                    <p:cond delay="0"/>
                                  </p:stCondLst>
                                  <p:childTnLst>
                                    <p:animRot by="21600000">
                                      <p:cBhvr>
                                        <p:cTn id="6" dur="10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theme/theme1.xml><?xml version="1.0" encoding="utf-8"?>
<a:theme xmlns:a="http://schemas.openxmlformats.org/drawingml/2006/main" name="Office Theme">
  <a:themeElements>
    <a:clrScheme name="MYP Custom">
      <a:dk1>
        <a:srgbClr val="4B5358"/>
      </a:dk1>
      <a:lt1>
        <a:sysClr val="window" lastClr="FFFFFF"/>
      </a:lt1>
      <a:dk2>
        <a:srgbClr val="4B5358"/>
      </a:dk2>
      <a:lt2>
        <a:srgbClr val="E8E8E8"/>
      </a:lt2>
      <a:accent1>
        <a:srgbClr val="60B2E5"/>
      </a:accent1>
      <a:accent2>
        <a:srgbClr val="F49390"/>
      </a:accent2>
      <a:accent3>
        <a:srgbClr val="AEF6C7"/>
      </a:accent3>
      <a:accent4>
        <a:srgbClr val="FFC857"/>
      </a:accent4>
      <a:accent5>
        <a:srgbClr val="96607D"/>
      </a:accent5>
      <a:accent6>
        <a:srgbClr val="467886"/>
      </a:accent6>
      <a:hlink>
        <a:srgbClr val="0070C0"/>
      </a:hlink>
      <a:folHlink>
        <a:srgbClr val="002060"/>
      </a:folHlink>
    </a:clrScheme>
    <a:fontScheme name="Custom 1">
      <a:majorFont>
        <a:latin typeface="Bahnschrift"/>
        <a:ea typeface=""/>
        <a:cs typeface=""/>
      </a:majorFont>
      <a:minorFont>
        <a:latin typeface="Bahnschrif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75000"/>
          </a:schemeClr>
        </a:solidFill>
        <a:ln w="76200">
          <a:solidFill>
            <a:schemeClr val="accent2">
              <a:lumMod val="50000"/>
            </a:schemeClr>
          </a:solid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2755</TotalTime>
  <Words>1478</Words>
  <Application>Microsoft Office PowerPoint</Application>
  <PresentationFormat>Widescreen</PresentationFormat>
  <Paragraphs>134</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Baguet Script</vt:lpstr>
      <vt:lpstr>Bahnschrift</vt:lpstr>
      <vt:lpstr>Chiller</vt:lpstr>
      <vt:lpstr>Palace Script MT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Hill</dc:creator>
  <cp:lastModifiedBy>Michael Hill</cp:lastModifiedBy>
  <cp:revision>2</cp:revision>
  <dcterms:created xsi:type="dcterms:W3CDTF">2026-08-13T18:52:07Z</dcterms:created>
  <dcterms:modified xsi:type="dcterms:W3CDTF">2026-08-26T13:22:00Z</dcterms:modified>
</cp:coreProperties>
</file>