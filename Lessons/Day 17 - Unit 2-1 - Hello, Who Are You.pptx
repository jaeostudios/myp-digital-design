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94" d="100"/>
          <a:sy n="94" d="100"/>
        </p:scale>
        <p:origin x="11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38AE4F-EF52-4E9D-9FB8-919EC6497697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ADDB7A-172D-4097-A132-12C8EB780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1618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They have done this before, on paper, in September. Say 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Partners get named Day 18. Not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machine that refuses: USB stick, back of the room. Do not troubleshoot it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Dictate the project name. Walk the room before anybody types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First working line inside ten minutes or the room goes cold.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Delete a closing bracket on the projector. Let them find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Say the = line twice. It is the sentence they forget.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Run one without catching the answer, so they watch it vanish.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Read the red out loud before you explain a word of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the room from here. Do not sit down.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B7C5-D028-538D-C84B-F4947CA6E1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A18EE4-FBD3-518D-A533-5A7575B505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D29B54-2C06-B521-B17D-DF069278D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5FDB6A-DE1A-8CD7-36E6-9513398D5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18F74D-F917-FC0E-8063-35DE9993D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955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88439-08F5-44E1-22C0-33087F521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5AE85E-1669-EAA4-128D-A6725E334D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7B58B0-4DFA-6A9A-D1B4-BF96071D1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50893E-5088-E7E2-8009-A7FE84A3A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61E31B-B430-476B-4710-0252DB870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239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7F91E-1289-9CFB-7E71-94848C13D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D5F334-0E85-5435-5C19-1CA99F7B3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F2AE98-80AE-D62A-E089-FE49DCBE6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28E38B-44FF-557B-A276-58D60F4CB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F1EAAD-B1C4-28ED-6E49-0D42DD728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952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71961-8DD9-78B4-A9EB-6E7BD8521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44FB85-FD5C-5CEF-4167-5080192405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E35358-0E94-76A9-9AF6-7219BE5FFB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69088F-396E-06B1-953B-F7A916C3E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F87B1-02C7-7241-3B21-39307FE4F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779D4E-1341-8213-B0EA-47AE63A0C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439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EC656-E3BB-087A-B7F4-B11F8C8B8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E94DE0-F7D0-64AF-28E5-7B681CDA0F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1E45B5-9ADF-F7A2-05F2-120A13B781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657BA5-1E45-32F5-A0AA-B7DF5473D3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BDD5A8-A59D-08B9-C81D-4ACB127E08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369CEE-536B-48E8-7B72-F11150977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2A961E-4D7B-9D4F-8C48-91688C565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CE6ED0-E024-5291-9F42-982856D90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936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37624-BBE4-4F43-40BE-1C5DBB86F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FD2DED-744A-331F-EB77-5ABCDB0E6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A3ED02-FD63-DFD0-65D2-7872A7B24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50267F-DE78-6F66-2229-FB1D5B1AA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544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A44833-3305-1116-E9F8-6C5A8378D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378047-5589-1EAF-5067-AD2EF9677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0FE9F-3CAF-0634-2E48-4958A1A03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647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1C86E-6E03-A7F6-C6A1-CDAA5F439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423AF1-9D57-2314-FA9D-80825CC52C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522C80-BCC2-1F0C-1CD6-79899BC991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34490D-FAC8-13CF-211F-402F2A5AC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F733B4-C215-03AA-BCF9-0EBAA8F07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0D49F0-9737-DB9F-776D-A059B8F79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474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F8913-6DB8-652E-3AE8-7E16FF760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F1CDAF-03E1-DF12-A9B1-4FD15D85B9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B973D7-08B5-4E26-635F-62114CE4BF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33F633-B42C-02E8-FBE9-A044D62B2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6AB502-E8A8-9093-8527-B61DE6F02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3A517D-0BB7-84CA-2B04-6D22F0A30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464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57CDB-541D-DAB3-7030-558DA7187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A6EE05-5077-E454-CADA-3C22480500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50635D-85D2-5EC9-9A79-37473989E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6C204C-6DA9-C91E-0CBF-6F7A79A1E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F552A-D248-C906-CAB8-158CCB31F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550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FED4DA-0C79-4922-B6CA-14EB15C603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BDFD1A-D787-85F1-F785-E1CCF23F95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0549BA-E968-319C-D449-763DCC64A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2D76C2-62F9-A98E-4B4E-3F8847C56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35182B-0D0E-6729-A659-0B21D17AE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383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FB70B0-69C1-BACF-E34C-11B8ABB05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86B4FB-0BB3-9404-1631-FB806D1466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88B363-0843-FCC4-75C3-4817B6FC14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BBDEEA-63FC-4B53-82B2-BA556F03A49A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2BD5FE-B811-5B93-5CF9-F7649D0E6D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C1E091-0FFD-BBDC-7AFB-7DC9119E8F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839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84BFF6B-CD7D-43AB-C049-4D6FC7CD133B}"/>
              </a:ext>
            </a:extLst>
          </p:cNvPr>
          <p:cNvCxnSpPr>
            <a:cxnSpLocks/>
          </p:cNvCxnSpPr>
          <p:nvPr/>
        </p:nvCxnSpPr>
        <p:spPr>
          <a:xfrm>
            <a:off x="5094738" y="4911981"/>
            <a:ext cx="2899265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D3EE458-AB78-EACF-6DF0-D50A5EB70F8C}"/>
              </a:ext>
            </a:extLst>
          </p:cNvPr>
          <p:cNvCxnSpPr>
            <a:cxnSpLocks/>
          </p:cNvCxnSpPr>
          <p:nvPr/>
        </p:nvCxnSpPr>
        <p:spPr>
          <a:xfrm>
            <a:off x="3723623" y="746590"/>
            <a:ext cx="2943877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A04EC88-7086-2F59-99EF-DAF347BF7C5A}"/>
              </a:ext>
            </a:extLst>
          </p:cNvPr>
          <p:cNvCxnSpPr/>
          <p:nvPr/>
        </p:nvCxnSpPr>
        <p:spPr>
          <a:xfrm>
            <a:off x="1486446" y="665766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tar: 16 Points 4">
            <a:extLst>
              <a:ext uri="{FF2B5EF4-FFF2-40B4-BE49-F238E27FC236}">
                <a16:creationId xmlns:a16="http://schemas.microsoft.com/office/drawing/2014/main" id="{ADD58C41-DE5A-3F97-1073-80435EAC10E5}"/>
              </a:ext>
            </a:extLst>
          </p:cNvPr>
          <p:cNvSpPr/>
          <p:nvPr/>
        </p:nvSpPr>
        <p:spPr>
          <a:xfrm>
            <a:off x="237236" y="118746"/>
            <a:ext cx="1915160" cy="1915160"/>
          </a:xfrm>
          <a:prstGeom prst="star16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66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4711EC-5C02-3E0D-2684-97CA50D62B24}"/>
              </a:ext>
            </a:extLst>
          </p:cNvPr>
          <p:cNvSpPr txBox="1"/>
          <p:nvPr/>
        </p:nvSpPr>
        <p:spPr>
          <a:xfrm>
            <a:off x="597534" y="356526"/>
            <a:ext cx="1194562" cy="400110"/>
          </a:xfrm>
          <a:prstGeom prst="rect">
            <a:avLst/>
          </a:prstGeom>
          <a:noFill/>
          <a:ln w="571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UNIT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0230C0-C256-6203-A5F6-19223FE071E4}"/>
              </a:ext>
            </a:extLst>
          </p:cNvPr>
          <p:cNvSpPr txBox="1"/>
          <p:nvPr/>
        </p:nvSpPr>
        <p:spPr>
          <a:xfrm>
            <a:off x="572164" y="521583"/>
            <a:ext cx="1194562" cy="1107996"/>
          </a:xfrm>
          <a:prstGeom prst="rect">
            <a:avLst/>
          </a:prstGeom>
          <a:noFill/>
          <a:ln w="571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6600" b="1" dirty="0">
                <a:solidFill>
                  <a:schemeClr val="bg1"/>
                </a:solidFill>
              </a:rPr>
              <a:t>02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19215A8-6C2C-22D9-03C2-41E38104D972}"/>
              </a:ext>
            </a:extLst>
          </p:cNvPr>
          <p:cNvSpPr/>
          <p:nvPr/>
        </p:nvSpPr>
        <p:spPr>
          <a:xfrm>
            <a:off x="3750894" y="865330"/>
            <a:ext cx="7005047" cy="911542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HELLO, WHO ARE YOU?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BE531CC-A060-48E0-AD9D-FE42573EED82}"/>
              </a:ext>
            </a:extLst>
          </p:cNvPr>
          <p:cNvSpPr/>
          <p:nvPr/>
        </p:nvSpPr>
        <p:spPr>
          <a:xfrm>
            <a:off x="-94751" y="-221055"/>
            <a:ext cx="2593271" cy="2593271"/>
          </a:xfrm>
          <a:prstGeom prst="ellipse">
            <a:avLst/>
          </a:prstGeom>
          <a:noFill/>
          <a:ln w="57150">
            <a:solidFill>
              <a:schemeClr val="accent3">
                <a:lumMod val="2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B5E4966-129D-0E9B-593A-7270EC6C0EA0}"/>
              </a:ext>
            </a:extLst>
          </p:cNvPr>
          <p:cNvSpPr/>
          <p:nvPr/>
        </p:nvSpPr>
        <p:spPr>
          <a:xfrm rot="21081993">
            <a:off x="3089443" y="359006"/>
            <a:ext cx="1268361" cy="600752"/>
          </a:xfrm>
          <a:prstGeom prst="rect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DAY 17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7204734-3FD9-9A03-0700-AC2D2E083E4F}"/>
              </a:ext>
            </a:extLst>
          </p:cNvPr>
          <p:cNvSpPr/>
          <p:nvPr/>
        </p:nvSpPr>
        <p:spPr>
          <a:xfrm>
            <a:off x="526944" y="2588561"/>
            <a:ext cx="3929014" cy="3942736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/>
              <a:t>Unit 2 Overview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/>
              <a:t>Installing PyCharm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/>
              <a:t>Getting Started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/>
              <a:t>Print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/>
              <a:t>Variables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/>
              <a:t>Input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/>
              <a:t>Data Types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/>
              <a:t>Type Casting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/>
              <a:t>Your First Tool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/>
              <a:t>Before You Leave</a:t>
            </a:r>
          </a:p>
        </p:txBody>
      </p:sp>
      <p:sp>
        <p:nvSpPr>
          <p:cNvPr id="17" name="Flowchart: Data 16">
            <a:extLst>
              <a:ext uri="{FF2B5EF4-FFF2-40B4-BE49-F238E27FC236}">
                <a16:creationId xmlns:a16="http://schemas.microsoft.com/office/drawing/2014/main" id="{76E17776-D541-80F3-BCFD-CA5A7CCC3A3F}"/>
              </a:ext>
            </a:extLst>
          </p:cNvPr>
          <p:cNvSpPr/>
          <p:nvPr/>
        </p:nvSpPr>
        <p:spPr>
          <a:xfrm>
            <a:off x="2914673" y="2288185"/>
            <a:ext cx="2301362" cy="600752"/>
          </a:xfrm>
          <a:prstGeom prst="flowChartInputOutpu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AGENDA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6BB1E97-9746-97B6-FA11-641333A2EC2E}"/>
              </a:ext>
            </a:extLst>
          </p:cNvPr>
          <p:cNvSpPr/>
          <p:nvPr/>
        </p:nvSpPr>
        <p:spPr>
          <a:xfrm>
            <a:off x="5407742" y="2444655"/>
            <a:ext cx="6016298" cy="2331720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Phones into </a:t>
            </a:r>
            <a:r>
              <a:rPr lang="en-US" sz="2800" b="1" i="1" dirty="0">
                <a:latin typeface="Chiller" panose="04020404031007020602" pitchFamily="82" charset="0"/>
              </a:rPr>
              <a:t>The </a:t>
            </a:r>
            <a:r>
              <a:rPr lang="en-US" sz="2800" b="1" i="1" u="sng" dirty="0">
                <a:latin typeface="Chiller" panose="04020404031007020602" pitchFamily="82" charset="0"/>
              </a:rPr>
              <a:t>Holding</a:t>
            </a:r>
            <a:r>
              <a:rPr lang="en-US" sz="2800" b="1" i="1" dirty="0">
                <a:latin typeface="Chiller" panose="04020404031007020602" pitchFamily="82" charset="0"/>
              </a:rPr>
              <a:t> Cell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Laptop charged and plugged in, today involves a big download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ICA 2-1 downloaded from ManageBac before you start</a:t>
            </a:r>
          </a:p>
        </p:txBody>
      </p:sp>
      <p:sp>
        <p:nvSpPr>
          <p:cNvPr id="26" name="Arrow: Pentagon 25">
            <a:extLst>
              <a:ext uri="{FF2B5EF4-FFF2-40B4-BE49-F238E27FC236}">
                <a16:creationId xmlns:a16="http://schemas.microsoft.com/office/drawing/2014/main" id="{4D20C643-FE77-D5F1-944D-EFA6A4E18384}"/>
              </a:ext>
            </a:extLst>
          </p:cNvPr>
          <p:cNvSpPr/>
          <p:nvPr/>
        </p:nvSpPr>
        <p:spPr>
          <a:xfrm flipH="1">
            <a:off x="9835526" y="2157823"/>
            <a:ext cx="2155485" cy="765223"/>
          </a:xfrm>
          <a:prstGeom prst="homePlate">
            <a:avLst/>
          </a:prstGeom>
          <a:solidFill>
            <a:schemeClr val="accent4">
              <a:lumMod val="75000"/>
            </a:schemeClr>
          </a:solidFill>
          <a:ln w="5715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REMINDERS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42A3F4D-F474-B915-E173-B56E57D3CE69}"/>
              </a:ext>
            </a:extLst>
          </p:cNvPr>
          <p:cNvSpPr txBox="1"/>
          <p:nvPr/>
        </p:nvSpPr>
        <p:spPr>
          <a:xfrm>
            <a:off x="411769" y="1394526"/>
            <a:ext cx="1580232" cy="253916"/>
          </a:xfrm>
          <a:prstGeom prst="rect">
            <a:avLst/>
          </a:prstGeom>
          <a:noFill/>
          <a:ln w="571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1050" b="1" dirty="0">
                <a:solidFill>
                  <a:schemeClr val="bg1"/>
                </a:solidFill>
              </a:rPr>
              <a:t>BUILT TO ORDER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6EB55A-2652-CCF0-91B1-8B395B1FD54C}"/>
              </a:ext>
            </a:extLst>
          </p:cNvPr>
          <p:cNvSpPr/>
          <p:nvPr/>
        </p:nvSpPr>
        <p:spPr>
          <a:xfrm>
            <a:off x="7187005" y="6077879"/>
            <a:ext cx="4437380" cy="583565"/>
          </a:xfrm>
          <a:prstGeom prst="rect">
            <a:avLst/>
          </a:prstGeom>
          <a:gradFill>
            <a:gsLst>
              <a:gs pos="0">
                <a:schemeClr val="accent3">
                  <a:lumMod val="50000"/>
                  <a:alpha val="0"/>
                </a:schemeClr>
              </a:gs>
              <a:gs pos="100000">
                <a:schemeClr val="accent3">
                  <a:lumMod val="5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7" name="Text Box 2">
            <a:extLst>
              <a:ext uri="{FF2B5EF4-FFF2-40B4-BE49-F238E27FC236}">
                <a16:creationId xmlns:a16="http://schemas.microsoft.com/office/drawing/2014/main" id="{028EDC04-C674-08DB-F001-E8BAEBD20F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3800" y="6146299"/>
            <a:ext cx="3790950" cy="5835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0" marR="0" algn="r">
              <a:buNone/>
            </a:pPr>
            <a:r>
              <a:rPr lang="en-US" sz="1400" b="1" dirty="0">
                <a:solidFill>
                  <a:schemeClr val="bg1"/>
                </a:solidFill>
                <a:effectLst/>
                <a:latin typeface="Bahnschrift" panose="020B0502040204020203" pitchFamily="34" charset="0"/>
                <a:ea typeface="Calibri" panose="020F0502020204030204" pitchFamily="34" charset="0"/>
              </a:rPr>
              <a:t>RECOMMENDED LISTENING:</a:t>
            </a:r>
            <a:endParaRPr lang="en-US" sz="1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marR="0" algn="r">
              <a:buNone/>
            </a:pPr>
            <a:r>
              <a:rPr lang="en-US" sz="1200" b="1" dirty="0">
                <a:solidFill>
                  <a:schemeClr val="bg1"/>
                </a:solidFill>
                <a:latin typeface="Bahnschrift" panose="020B0502040204020203" pitchFamily="34" charset="0"/>
                <a:ea typeface="Calibri" panose="020F0502020204030204" pitchFamily="34" charset="0"/>
              </a:rPr>
              <a:t>FLOWER MAN - DELTARUNE</a:t>
            </a:r>
            <a:endParaRPr lang="en-US" sz="1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11" name="Picture 10" descr="Cd Clip Art">
            <a:extLst>
              <a:ext uri="{FF2B5EF4-FFF2-40B4-BE49-F238E27FC236}">
                <a16:creationId xmlns:a16="http://schemas.microsoft.com/office/drawing/2014/main" id="{9AA8D88A-8935-C243-7C92-FEB5E17C707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34750" y="5941036"/>
            <a:ext cx="857250" cy="8572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46394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2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736B0C-A06D-A528-1192-A7867336C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>
            <a:extLst>
              <a:ext uri="{FF2B5EF4-FFF2-40B4-BE49-F238E27FC236}">
                <a16:creationId xmlns:a16="http://schemas.microsoft.com/office/drawing/2014/main" id="{085A45DB-3642-2641-2ABF-8A902B3ADA9B}"/>
              </a:ext>
            </a:extLst>
          </p:cNvPr>
          <p:cNvSpPr/>
          <p:nvPr/>
        </p:nvSpPr>
        <p:spPr>
          <a:xfrm>
            <a:off x="8915057" y="217604"/>
            <a:ext cx="1586378" cy="1586378"/>
          </a:xfrm>
          <a:prstGeom prst="ellipse">
            <a:avLst/>
          </a:prstGeom>
          <a:noFill/>
          <a:ln w="57150">
            <a:solidFill>
              <a:schemeClr val="accent3">
                <a:lumMod val="2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7D23AC3-1E13-8715-EC1A-E04E2C9D8470}"/>
              </a:ext>
            </a:extLst>
          </p:cNvPr>
          <p:cNvCxnSpPr>
            <a:cxnSpLocks/>
          </p:cNvCxnSpPr>
          <p:nvPr/>
        </p:nvCxnSpPr>
        <p:spPr>
          <a:xfrm>
            <a:off x="3806312" y="1521556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37DF90-A476-1B33-DB9A-6D67B11AC9C6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00E900F3-015F-7761-7947-8847E9D1E560}"/>
              </a:ext>
            </a:extLst>
          </p:cNvPr>
          <p:cNvSpPr/>
          <p:nvPr/>
        </p:nvSpPr>
        <p:spPr>
          <a:xfrm>
            <a:off x="2483753" y="453766"/>
            <a:ext cx="7224493" cy="911542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THE WARM UP QUESTION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EEEEA62-E5FD-DE36-D59E-CF3D95E3AD86}"/>
              </a:ext>
            </a:extLst>
          </p:cNvPr>
          <p:cNvSpPr/>
          <p:nvPr/>
        </p:nvSpPr>
        <p:spPr>
          <a:xfrm>
            <a:off x="533634" y="1723987"/>
            <a:ext cx="11124730" cy="4835840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Back on Day 5 we hand-traced the Little Man Computer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It fetched one instruction, did it, then went and got the next one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What happened when we handed it an instruction it did not understand?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163DB81-B172-FD92-7344-0A9DBC440811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Picture 17" descr="url_upload_6a7f3d9e572a4.gif [effects output image]">
            <a:extLst>
              <a:ext uri="{FF2B5EF4-FFF2-40B4-BE49-F238E27FC236}">
                <a16:creationId xmlns:a16="http://schemas.microsoft.com/office/drawing/2014/main" id="{8F628373-9FCF-09F8-A7B6-607C01451397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483753" y="-2120321"/>
            <a:ext cx="4743450" cy="2667000"/>
          </a:xfrm>
          <a:prstGeom prst="rect">
            <a:avLst/>
          </a:prstGeom>
        </p:spPr>
      </p:pic>
      <p:pic>
        <p:nvPicPr>
          <p:cNvPr id="21" name="Picture 20" descr="url_upload_6a7f3d9e572a4.gif [effects output image]">
            <a:extLst>
              <a:ext uri="{FF2B5EF4-FFF2-40B4-BE49-F238E27FC236}">
                <a16:creationId xmlns:a16="http://schemas.microsoft.com/office/drawing/2014/main" id="{0C52FBF9-2C25-8FCB-563A-242A0F1AC274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6939927" y="-2120321"/>
            <a:ext cx="2786643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300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6629B9-CF2C-5C11-7469-ADD4915E2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>
            <a:extLst>
              <a:ext uri="{FF2B5EF4-FFF2-40B4-BE49-F238E27FC236}">
                <a16:creationId xmlns:a16="http://schemas.microsoft.com/office/drawing/2014/main" id="{2D2F265E-120A-FEDA-8C40-62A0BFC0E45D}"/>
              </a:ext>
            </a:extLst>
          </p:cNvPr>
          <p:cNvSpPr/>
          <p:nvPr/>
        </p:nvSpPr>
        <p:spPr>
          <a:xfrm>
            <a:off x="8915057" y="217604"/>
            <a:ext cx="1586378" cy="1586378"/>
          </a:xfrm>
          <a:prstGeom prst="ellipse">
            <a:avLst/>
          </a:prstGeom>
          <a:noFill/>
          <a:ln w="57150">
            <a:solidFill>
              <a:schemeClr val="accent3">
                <a:lumMod val="2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C160A85-F895-FC49-8E36-8197E5B8A98E}"/>
              </a:ext>
            </a:extLst>
          </p:cNvPr>
          <p:cNvCxnSpPr>
            <a:cxnSpLocks/>
          </p:cNvCxnSpPr>
          <p:nvPr/>
        </p:nvCxnSpPr>
        <p:spPr>
          <a:xfrm>
            <a:off x="3806312" y="1521556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21F7D05-D0E2-B437-9792-7B4CC9361CA7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2B23F663-A07C-CE23-B2C6-C4BA17EE7206}"/>
              </a:ext>
            </a:extLst>
          </p:cNvPr>
          <p:cNvSpPr/>
          <p:nvPr/>
        </p:nvSpPr>
        <p:spPr>
          <a:xfrm>
            <a:off x="2483753" y="453766"/>
            <a:ext cx="7224493" cy="911542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THE WARM UP ANSWER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4217569-8B31-98D6-5997-110746733932}"/>
              </a:ext>
            </a:extLst>
          </p:cNvPr>
          <p:cNvSpPr/>
          <p:nvPr/>
        </p:nvSpPr>
        <p:spPr>
          <a:xfrm>
            <a:off x="533634" y="1723987"/>
            <a:ext cx="11124730" cy="4835840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/>
              <a:t>Answer: </a:t>
            </a:r>
            <a:r>
              <a:rPr lang="en-US" sz="2400" dirty="0"/>
              <a:t>it stopped. It didn’t skip the line and it didn’t guess what we meant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We followed those eleven instructions exactly, because we were pretending to be a chip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Python works the same way, with a few hundred more words to it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Everything that breaks today is one of two things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We said it wrong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Or we never said it at all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50C7B7C-76D4-FDAC-7DED-BB7E3B933B5C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Picture 17" descr="url_upload_6a7f3d9e572a4.gif [effects output image]">
            <a:extLst>
              <a:ext uri="{FF2B5EF4-FFF2-40B4-BE49-F238E27FC236}">
                <a16:creationId xmlns:a16="http://schemas.microsoft.com/office/drawing/2014/main" id="{1288AF76-4E7B-FF09-368F-27BF85DB595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483753" y="-2120321"/>
            <a:ext cx="4743450" cy="2667000"/>
          </a:xfrm>
          <a:prstGeom prst="rect">
            <a:avLst/>
          </a:prstGeom>
        </p:spPr>
      </p:pic>
      <p:pic>
        <p:nvPicPr>
          <p:cNvPr id="21" name="Picture 20" descr="url_upload_6a7f3d9e572a4.gif [effects output image]">
            <a:extLst>
              <a:ext uri="{FF2B5EF4-FFF2-40B4-BE49-F238E27FC236}">
                <a16:creationId xmlns:a16="http://schemas.microsoft.com/office/drawing/2014/main" id="{029CD9DD-0177-4886-96FD-4C4444BDA7C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6939927" y="-2120321"/>
            <a:ext cx="2786643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008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4160520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3">
                <a:lumMod val="2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5273472" cy="911542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UNIT 2 OVERVIEW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New unit, new client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In Unit 1, you built a game for a group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But, in Unit 2, you’ll create a specific project for an individual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Man Looking Meme">
            <a:extLst>
              <a:ext uri="{FF2B5EF4-FFF2-40B4-BE49-F238E27FC236}">
                <a16:creationId xmlns:a16="http://schemas.microsoft.com/office/drawing/2014/main" id="{B9D45A4C-26BB-1341-B2A6-84CF6BEDDE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2225" y="-67055"/>
            <a:ext cx="6925055" cy="6925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6064811" y="-236116"/>
            <a:ext cx="1586378" cy="1586378"/>
          </a:xfrm>
          <a:prstGeom prst="ellipse">
            <a:avLst/>
          </a:prstGeom>
          <a:noFill/>
          <a:ln w="57150">
            <a:solidFill>
              <a:schemeClr val="accent3">
                <a:lumMod val="2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6745656" cy="911542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INSTALLING PYCHARM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8891377" cy="4835840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Go to </a:t>
            </a:r>
            <a:r>
              <a:rPr lang="en-US" sz="2400" b="1" dirty="0">
                <a:latin typeface="Cascadia Code" panose="020B0609020000020004" pitchFamily="49" charset="0"/>
                <a:cs typeface="Cascadia Code" panose="020B0609020000020004" pitchFamily="49" charset="0"/>
              </a:rPr>
              <a:t>jetbrains.com/pycharm/download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There is only one PyCharm now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The free Community Edition was retired in 2025, so don’t go hunting for it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Grab the installer that matches your machine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Windows: the .exe, likely x86/x64 unless you’re on an ARM chip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Mac: the .dmg, check whether you’re Apple Silicon or Intel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Start this download NOW, it might take a minute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[PICTURE] the download page with the right button circled, both platforms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B4F6AF45-166A-9843-F719-693171F404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9866" y="2660904"/>
            <a:ext cx="2622363" cy="3093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5753915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3">
                <a:lumMod val="2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6434760" cy="911542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INSTALLING PYCHARM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Windows: run the .exe and take the defaults, but tick two boxes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Create Desktop Shortcut, so you can find it again tomorrow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Associate .</a:t>
            </a:r>
            <a:r>
              <a:rPr lang="en-US" sz="2400" dirty="0" err="1"/>
              <a:t>py</a:t>
            </a:r>
            <a:r>
              <a:rPr lang="en-US" sz="2400" dirty="0"/>
              <a:t> files with PyCharm so they’ll automatically open in PyCharm when clicked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Mac: open the .dmg and drag PyCharm into Applications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First launch asks you to accept the user agreement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Accept it</a:t>
            </a:r>
          </a:p>
          <a:p>
            <a:pPr marL="1200150" lvl="2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You can decline the data sharing if you want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If you get a school security prompt, just close it and it will let you install anyways lol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/>
              <a:t>→ SKILL CHECK 1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5885197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3">
                <a:lumMod val="2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6566042" cy="911542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INSTALLING PYCHARM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PyCharm hands you a free 30-day trial of the Pro features when it installs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Don’t buy anything</a:t>
            </a:r>
          </a:p>
          <a:p>
            <a:pPr marL="1200150" lvl="2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Not for this class, not ever</a:t>
            </a:r>
          </a:p>
          <a:p>
            <a:pPr marL="1657350" lvl="3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Programmers are </a:t>
            </a:r>
            <a:r>
              <a:rPr lang="en-US" sz="2400" dirty="0" err="1"/>
              <a:t>brokies</a:t>
            </a:r>
            <a:endParaRPr lang="en-US" sz="2400" dirty="0"/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Once it downgrades to the free version, that’s fine</a:t>
            </a:r>
          </a:p>
          <a:p>
            <a:pPr marL="1200150" lvl="2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The free version does everything you need it to for this class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If your download is really slow, let me know instead of starting the download again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4 Legged Sonic Blank Template - Imgflip">
            <a:extLst>
              <a:ext uri="{FF2B5EF4-FFF2-40B4-BE49-F238E27FC236}">
                <a16:creationId xmlns:a16="http://schemas.microsoft.com/office/drawing/2014/main" id="{06F83112-0CB9-AB40-E1B9-EFFD9480D1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8377" y="4922753"/>
            <a:ext cx="1611138" cy="1608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5084064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3">
                <a:lumMod val="2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5760720" cy="911542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GETTING STARTED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Once it opens, close the tip of the day if it offers you one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Click File &gt; New Project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Name it </a:t>
            </a:r>
            <a:r>
              <a:rPr lang="en-US" sz="2400" b="1" dirty="0">
                <a:latin typeface="Cascadia Code" panose="020B0609020000020004" pitchFamily="49" charset="0"/>
                <a:cs typeface="Cascadia Code" panose="020B0609020000020004" pitchFamily="49" charset="0"/>
              </a:rPr>
              <a:t>myp_digital_design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Lower case, underscores, no spaces, spelled exactly like mine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Don’t change anything else, then click Create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The default settings should be good enough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This is the only setup we do all year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Every Python lesson lives in this project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5084064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3">
                <a:lumMod val="2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5760720" cy="911542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GETTING STARTED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2478024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Right-click the </a:t>
            </a:r>
            <a:r>
              <a:rPr lang="en-US" sz="2400" b="1" dirty="0">
                <a:latin typeface="Cascadia Code" panose="020B0609020000020004" pitchFamily="49" charset="0"/>
                <a:cs typeface="Cascadia Code" panose="020B0609020000020004" pitchFamily="49" charset="0"/>
              </a:rPr>
              <a:t>myp_digital_design</a:t>
            </a:r>
            <a:r>
              <a:rPr lang="en-US" sz="2400" dirty="0"/>
              <a:t> folder on the left: New, then Python File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Name it </a:t>
            </a:r>
            <a:r>
              <a:rPr lang="en-US" sz="2400" b="1" dirty="0">
                <a:latin typeface="Cascadia Code" panose="020B0609020000020004" pitchFamily="49" charset="0"/>
                <a:cs typeface="Cascadia Code" panose="020B0609020000020004" pitchFamily="49" charset="0"/>
              </a:rPr>
              <a:t>day17 - </a:t>
            </a:r>
            <a:r>
              <a:rPr lang="en-US" sz="2400" dirty="0"/>
              <a:t>PyCharm adds the .py on the end for you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Type this line into the empty file, then right-click and choose Run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Or, click the green play arrow at the top right of the program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9" name="Rectangle 1"/>
          <p:cNvSpPr/>
          <p:nvPr/>
        </p:nvSpPr>
        <p:spPr>
          <a:xfrm>
            <a:off x="594360" y="4306824"/>
            <a:ext cx="11000232" cy="2157984"/>
          </a:xfrm>
          <a:prstGeom prst="rect">
            <a:avLst/>
          </a:prstGeom>
          <a:solidFill>
            <a:schemeClr val="bg2">
              <a:lumMod val="10000"/>
            </a:schemeClr>
          </a:solidFill>
          <a:ln w="762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24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4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"Hello, world"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5084064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3">
                <a:lumMod val="2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5760720" cy="911542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GETTING STARTED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A panel will open at the bottom of the program to give you your output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You might hear me call this the output window, maybe the terminal, or just output, fyi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Red underlines are mistakes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Yellow underlines are called ‘warnings’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Programmers do not listen to so called ‘warnings’ (you can generally ignore them)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If PyCharm asks whether you trust the project, say yes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/>
              <a:t>→ SKILL CHECK 2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huh, i wonder who that's for | Garfield images, Garfield, Garfield pictures">
            <a:extLst>
              <a:ext uri="{FF2B5EF4-FFF2-40B4-BE49-F238E27FC236}">
                <a16:creationId xmlns:a16="http://schemas.microsoft.com/office/drawing/2014/main" id="{6918CD08-4613-E0DF-C4BD-8703981468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7938" y="4382853"/>
            <a:ext cx="2735965" cy="1559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1453896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3">
                <a:lumMod val="2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2130552" cy="911542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PRINT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2478024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print is a </a:t>
            </a:r>
            <a:r>
              <a:rPr lang="en-US" sz="2400" b="1" i="1" dirty="0">
                <a:solidFill>
                  <a:srgbClr val="FF66C4"/>
                </a:solidFill>
              </a:rPr>
              <a:t>function</a:t>
            </a:r>
            <a:r>
              <a:rPr lang="en-US" sz="2400" dirty="0"/>
              <a:t> - a named group of code that does a specific job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The parenthesis hold the </a:t>
            </a:r>
            <a:r>
              <a:rPr lang="en-US" sz="2400" b="1" i="1" dirty="0">
                <a:solidFill>
                  <a:srgbClr val="FF66C4"/>
                </a:solidFill>
              </a:rPr>
              <a:t>argument</a:t>
            </a:r>
            <a:r>
              <a:rPr lang="en-US" sz="2400" dirty="0"/>
              <a:t>, which is what you hand it to work on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The quoted part is a </a:t>
            </a:r>
            <a:r>
              <a:rPr lang="en-US" sz="2400" b="1" i="1" dirty="0">
                <a:solidFill>
                  <a:srgbClr val="FF66C4"/>
                </a:solidFill>
              </a:rPr>
              <a:t>string</a:t>
            </a:r>
            <a:r>
              <a:rPr lang="en-US" sz="2400" dirty="0"/>
              <a:t>, which is just text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That whole line is one </a:t>
            </a:r>
            <a:r>
              <a:rPr lang="en-US" sz="2400" b="1" i="1" dirty="0">
                <a:solidFill>
                  <a:srgbClr val="FF66C4"/>
                </a:solidFill>
              </a:rPr>
              <a:t>statement</a:t>
            </a:r>
            <a:r>
              <a:rPr lang="en-US" sz="2400" dirty="0"/>
              <a:t>, and Python runs them top to bottom, same as LMC did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1" name="Rectangle 1"/>
          <p:cNvSpPr/>
          <p:nvPr/>
        </p:nvSpPr>
        <p:spPr>
          <a:xfrm>
            <a:off x="594360" y="4306824"/>
            <a:ext cx="11000232" cy="2157984"/>
          </a:xfrm>
          <a:prstGeom prst="rect">
            <a:avLst/>
          </a:prstGeom>
          <a:solidFill>
            <a:schemeClr val="bg2">
              <a:lumMod val="10000"/>
            </a:schemeClr>
          </a:solidFill>
          <a:ln w="762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24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4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"Hello, world"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1453896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3">
                <a:lumMod val="2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2130552" cy="911542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PRINT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Quotes come in pairs, as do parenthesis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Miss one and the entire program will crash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Whatever you put inside the quotes comes back out exactly as typed, spaces included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Ensure your quotation marks are STRAIGHT not CURVY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If you type a quotation mark in something like Word it will make it CURVY and that doesn’t work in a program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When Python can’t read a line, that’s a </a:t>
            </a:r>
            <a:r>
              <a:rPr lang="en-US" sz="2400" b="1" i="1" dirty="0">
                <a:solidFill>
                  <a:srgbClr val="FF66C4"/>
                </a:solidFill>
              </a:rPr>
              <a:t>syntax error</a:t>
            </a:r>
            <a:r>
              <a:rPr lang="en-US" sz="2400" dirty="0"/>
              <a:t>, stopping your code from running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/>
              <a:t>→ SKILL CHECK 3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Introduction to Regular Expressions For Indie Publishers (Open Office)">
            <a:extLst>
              <a:ext uri="{FF2B5EF4-FFF2-40B4-BE49-F238E27FC236}">
                <a16:creationId xmlns:a16="http://schemas.microsoft.com/office/drawing/2014/main" id="{FF3418F9-258F-2C70-093B-5705A2F13D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8380" y="5210270"/>
            <a:ext cx="3673249" cy="1412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2779776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3">
                <a:lumMod val="2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3456432" cy="911542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VARIABLES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2478024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 lnSpcReduction="10000"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A </a:t>
            </a:r>
            <a:r>
              <a:rPr lang="en-US" sz="2400" b="1" i="1" dirty="0">
                <a:solidFill>
                  <a:srgbClr val="FF66C4"/>
                </a:solidFill>
              </a:rPr>
              <a:t>variable</a:t>
            </a:r>
            <a:r>
              <a:rPr lang="en-US" sz="2400" dirty="0"/>
              <a:t> is a labelled box you put something into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We don’t need quotation marks to access a created box</a:t>
            </a:r>
          </a:p>
          <a:p>
            <a:pPr marL="1200150" lvl="2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If you used quotes, it would just print the text “name”, not the name stored in that variable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That = is an </a:t>
            </a:r>
            <a:r>
              <a:rPr lang="en-US" sz="2400" b="1" i="1" dirty="0">
                <a:solidFill>
                  <a:srgbClr val="FF66C4"/>
                </a:solidFill>
              </a:rPr>
              <a:t>assignment</a:t>
            </a:r>
            <a:endParaRPr lang="en-US" sz="2400" dirty="0"/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Assignment stores a value, it does NOT mean ‘equal to’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3" name="Rectangle 1"/>
          <p:cNvSpPr/>
          <p:nvPr/>
        </p:nvSpPr>
        <p:spPr>
          <a:xfrm>
            <a:off x="594360" y="4306824"/>
            <a:ext cx="11000232" cy="2157984"/>
          </a:xfrm>
          <a:prstGeom prst="rect">
            <a:avLst/>
          </a:prstGeom>
          <a:solidFill>
            <a:schemeClr val="bg2">
              <a:lumMod val="10000"/>
            </a:schemeClr>
          </a:solidFill>
          <a:ln w="762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name = </a:t>
            </a:r>
            <a:r>
              <a:rPr lang="en-US" sz="24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"Michael"</a:t>
            </a:r>
            <a:b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(name)</a:t>
            </a:r>
          </a:p>
        </p:txBody>
      </p:sp>
      <p:pic>
        <p:nvPicPr>
          <p:cNvPr id="2" name="Picture 1" descr="Box Cardboard Carton - Free vector graphic on Pixabay">
            <a:extLst>
              <a:ext uri="{FF2B5EF4-FFF2-40B4-BE49-F238E27FC236}">
                <a16:creationId xmlns:a16="http://schemas.microsoft.com/office/drawing/2014/main" id="{938A0AE3-C44E-8AB4-4236-0CFA03CEE5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3436" y="4306824"/>
            <a:ext cx="3606760" cy="260644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DA56686-EB82-EF73-3979-FDB740E188A3}"/>
              </a:ext>
            </a:extLst>
          </p:cNvPr>
          <p:cNvSpPr txBox="1"/>
          <p:nvPr/>
        </p:nvSpPr>
        <p:spPr>
          <a:xfrm>
            <a:off x="6085150" y="4443235"/>
            <a:ext cx="13226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“Michael”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BA952F-299F-F33C-268D-575AB2F83068}"/>
              </a:ext>
            </a:extLst>
          </p:cNvPr>
          <p:cNvSpPr txBox="1"/>
          <p:nvPr/>
        </p:nvSpPr>
        <p:spPr>
          <a:xfrm>
            <a:off x="5807850" y="5701604"/>
            <a:ext cx="13226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Name</a:t>
            </a:r>
          </a:p>
        </p:txBody>
      </p: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2779776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3">
                <a:lumMod val="2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3456432" cy="911542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VARIABLES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2478024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 lnSpcReduction="10000"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You can set whatever variable name you want, within reason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Use letters, numbers and underscores</a:t>
            </a:r>
          </a:p>
          <a:p>
            <a:pPr marL="1200150" lvl="2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No spaces, cannot begin with a number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Use effective names: minutes tells us something, x does not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If you put a new value in the variable, it overwrites the old value, deleting it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/>
              <a:t>→ SKILL CHECK 4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4" name="Rectangle 1"/>
          <p:cNvSpPr/>
          <p:nvPr/>
        </p:nvSpPr>
        <p:spPr>
          <a:xfrm>
            <a:off x="594360" y="4306824"/>
            <a:ext cx="11000232" cy="2157984"/>
          </a:xfrm>
          <a:prstGeom prst="rect">
            <a:avLst/>
          </a:prstGeom>
          <a:solidFill>
            <a:schemeClr val="bg2">
              <a:lumMod val="10000"/>
            </a:schemeClr>
          </a:solidFill>
          <a:ln w="762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name = </a:t>
            </a:r>
            <a:r>
              <a:rPr lang="en-US" sz="24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"Somebody else"</a:t>
            </a:r>
            <a:b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(name)</a:t>
            </a:r>
          </a:p>
        </p:txBody>
      </p: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1453896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3">
                <a:lumMod val="2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2130552" cy="911542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INPUT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2478024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 fontScale="92500"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i="1" dirty="0">
                <a:solidFill>
                  <a:srgbClr val="FF66C4"/>
                </a:solidFill>
              </a:rPr>
              <a:t>input</a:t>
            </a:r>
            <a:r>
              <a:rPr lang="en-US" sz="2400" dirty="0"/>
              <a:t> function prints a string, maybe in this case a question, then stops and waits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The program won’t continue until you type a value and hit enter into the terminal or output window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You must use the value, or store it into a variable, or what the user typed will be deleted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Hence the name = before the print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5" name="Rectangle 1"/>
          <p:cNvSpPr/>
          <p:nvPr/>
        </p:nvSpPr>
        <p:spPr>
          <a:xfrm>
            <a:off x="594360" y="4306824"/>
            <a:ext cx="11000232" cy="2157984"/>
          </a:xfrm>
          <a:prstGeom prst="rect">
            <a:avLst/>
          </a:prstGeom>
          <a:solidFill>
            <a:schemeClr val="bg2">
              <a:lumMod val="10000"/>
            </a:schemeClr>
          </a:solidFill>
          <a:ln w="762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name = </a:t>
            </a:r>
            <a:r>
              <a:rPr lang="en-US" sz="24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input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4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"What is your name? "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1453896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3">
                <a:lumMod val="2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2130552" cy="911542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INPUT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2478024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A + between two strings is called </a:t>
            </a:r>
            <a:r>
              <a:rPr lang="en-US" sz="2400" b="1" i="1" dirty="0">
                <a:solidFill>
                  <a:srgbClr val="FF66C4"/>
                </a:solidFill>
              </a:rPr>
              <a:t>concatenation</a:t>
            </a:r>
            <a:r>
              <a:rPr lang="en-US" sz="2400" dirty="0"/>
              <a:t>, a long word for gluing strings together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Python won’t automatically put a space in, so put one inside your quotes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/>
              <a:t>→ SKILL CHECK 5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6" name="Rectangle 1"/>
          <p:cNvSpPr/>
          <p:nvPr/>
        </p:nvSpPr>
        <p:spPr>
          <a:xfrm>
            <a:off x="594360" y="4306824"/>
            <a:ext cx="11000232" cy="2157984"/>
          </a:xfrm>
          <a:prstGeom prst="rect">
            <a:avLst/>
          </a:prstGeom>
          <a:solidFill>
            <a:schemeClr val="bg2">
              <a:lumMod val="10000"/>
            </a:schemeClr>
          </a:solidFill>
          <a:ln w="762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24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4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"Hello, "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+ name)</a:t>
            </a:r>
          </a:p>
        </p:txBody>
      </p: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3374135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3">
                <a:lumMod val="2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4050791" cy="911542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DATA TYPES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2478024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Back on Day 3 we said everything is a number underneath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Python has a few different ways of representing these numbers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i="1" dirty="0">
                <a:solidFill>
                  <a:srgbClr val="FF66C4"/>
                </a:solidFill>
              </a:rPr>
              <a:t>string</a:t>
            </a:r>
            <a:r>
              <a:rPr lang="en-US" sz="2400" dirty="0"/>
              <a:t> - text, always inside quotes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i="1" dirty="0">
                <a:solidFill>
                  <a:srgbClr val="FF66C4"/>
                </a:solidFill>
              </a:rPr>
              <a:t>integer</a:t>
            </a:r>
            <a:r>
              <a:rPr lang="en-US" sz="2400" dirty="0"/>
              <a:t> - a whole number, no decimal point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i="1" dirty="0">
                <a:solidFill>
                  <a:srgbClr val="FF66C4"/>
                </a:solidFill>
              </a:rPr>
              <a:t>float</a:t>
            </a:r>
            <a:r>
              <a:rPr lang="en-US" sz="2400" dirty="0"/>
              <a:t> - a number with a decimal point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7" name="Rectangle 1"/>
          <p:cNvSpPr/>
          <p:nvPr/>
        </p:nvSpPr>
        <p:spPr>
          <a:xfrm>
            <a:off x="594360" y="4306824"/>
            <a:ext cx="11000232" cy="2157984"/>
          </a:xfrm>
          <a:prstGeom prst="rect">
            <a:avLst/>
          </a:prstGeom>
          <a:solidFill>
            <a:schemeClr val="bg2">
              <a:lumMod val="10000"/>
            </a:schemeClr>
          </a:solidFill>
          <a:ln w="762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24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4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type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9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))   </a:t>
            </a:r>
            <a:r>
              <a:rPr lang="en-US" sz="24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# ask Python what it is actually holding</a:t>
            </a:r>
          </a:p>
        </p:txBody>
      </p: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3374135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3">
                <a:lumMod val="2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4050791" cy="911542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DATA TYPES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2478024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Try running these lines and tell me what result you’re given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input ALWAYS hands you back text, even when somebody types a number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A </a:t>
            </a:r>
            <a:r>
              <a:rPr lang="en-US" sz="2400" b="1" i="1" dirty="0">
                <a:solidFill>
                  <a:srgbClr val="FF66C4"/>
                </a:solidFill>
              </a:rPr>
              <a:t>TypeError</a:t>
            </a:r>
            <a:r>
              <a:rPr lang="en-US" sz="2400" dirty="0"/>
              <a:t> means Python is trying to work with a data type that it can’t use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/>
              <a:t>→ SKILL CHECK 6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8" name="Rectangle 1"/>
          <p:cNvSpPr/>
          <p:nvPr/>
        </p:nvSpPr>
        <p:spPr>
          <a:xfrm>
            <a:off x="594360" y="4306824"/>
            <a:ext cx="11000232" cy="2157984"/>
          </a:xfrm>
          <a:prstGeom prst="rect">
            <a:avLst/>
          </a:prstGeom>
          <a:solidFill>
            <a:schemeClr val="bg2">
              <a:lumMod val="10000"/>
            </a:schemeClr>
          </a:solidFill>
          <a:ln w="762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minutes = </a:t>
            </a:r>
            <a:r>
              <a:rPr lang="en-US" sz="24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input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4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"Minutes a week? "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(minutes + </a:t>
            </a:r>
            <a:r>
              <a:rPr lang="en-US" sz="2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5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b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TypeError: can only concatenate str (not "int") to str</a:t>
            </a:r>
          </a:p>
        </p:txBody>
      </p: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3931920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3">
                <a:lumMod val="2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4608576" cy="911542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TYPE CASTING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2478024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i="1" dirty="0">
                <a:solidFill>
                  <a:srgbClr val="FF66C4"/>
                </a:solidFill>
              </a:rPr>
              <a:t>Type casting</a:t>
            </a:r>
            <a:r>
              <a:rPr lang="en-US" sz="2400" dirty="0"/>
              <a:t> turns a value of one type into another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int() turns text into a whole number, IF and ONLY IF it is nothing but digits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float() does the same job for decimals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str() goes the other way, so a number can join a sentence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/>
              <a:t>→ SKILL CHECK 7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9" name="Rectangle 1"/>
          <p:cNvSpPr/>
          <p:nvPr/>
        </p:nvSpPr>
        <p:spPr>
          <a:xfrm>
            <a:off x="594360" y="4306824"/>
            <a:ext cx="11000232" cy="2157984"/>
          </a:xfrm>
          <a:prstGeom prst="rect">
            <a:avLst/>
          </a:prstGeom>
          <a:solidFill>
            <a:schemeClr val="bg2">
              <a:lumMod val="10000"/>
            </a:schemeClr>
          </a:solidFill>
          <a:ln w="762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minutes = </a:t>
            </a:r>
            <a:r>
              <a:rPr lang="en-US" sz="24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int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4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input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4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"Minutes a week? "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))</a:t>
            </a:r>
            <a:b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4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"That is "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+ </a:t>
            </a:r>
            <a:r>
              <a:rPr lang="en-US" sz="24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str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(minutes) + </a:t>
            </a:r>
            <a:r>
              <a:rPr lang="en-US" sz="24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 minutes"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4663440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3">
                <a:lumMod val="2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5340096" cy="911542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YOUR FIRST TOOL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Let’s build our first real tool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Ask for a name, for their salary, and their credit card number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Calculate the monthly salary, and print it alongside the name and the card number in a neatly formatted message.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The salary has to come in as a number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The monthly pay has to be converted back to a string to be printed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931A0FF0-9684-A446-5D34-BC4C80D2AD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386" y="4809338"/>
            <a:ext cx="11413671" cy="154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4663440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3">
                <a:lumMod val="2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5340096" cy="911542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YOUR FIRST TOOL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2478024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If you’re stuck, here’s the shape of it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round() cuts a long decimal down to one place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12 months in year, obviously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/>
              <a:t>→ SKILL CHECK 8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1" name="Rectangle 1"/>
          <p:cNvSpPr/>
          <p:nvPr/>
        </p:nvSpPr>
        <p:spPr>
          <a:xfrm>
            <a:off x="594360" y="4306824"/>
            <a:ext cx="11000232" cy="2157984"/>
          </a:xfrm>
          <a:prstGeom prst="rect">
            <a:avLst/>
          </a:prstGeom>
          <a:solidFill>
            <a:schemeClr val="bg2">
              <a:lumMod val="10000"/>
            </a:schemeClr>
          </a:solidFill>
          <a:ln w="762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salary = </a:t>
            </a:r>
            <a:r>
              <a:rPr lang="en-US" sz="24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int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4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input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4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“Salary? "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))</a:t>
            </a:r>
            <a:b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monthly = </a:t>
            </a:r>
            <a:r>
              <a:rPr lang="en-US" sz="24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round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(salary / 12, 1)</a:t>
            </a:r>
            <a:b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4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"Cost: "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+ </a:t>
            </a:r>
            <a:r>
              <a:rPr lang="en-US" sz="24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str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(hours) + </a:t>
            </a:r>
            <a:r>
              <a:rPr lang="en-US" sz="24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 hours a year"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5257800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3">
                <a:lumMod val="2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5934456" cy="911542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BEFORE YOU LEAVE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Double check that each of your skill checks has your code, and the output pasted underneath it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If you leave the output box empty I’ll assume it never ran!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If it broke, paste the red error message text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Ctrl+S</a:t>
            </a:r>
            <a:r>
              <a:rPr lang="en-US" sz="2400" dirty="0"/>
              <a:t> saves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Hit this constantly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Everything stays in </a:t>
            </a:r>
            <a:r>
              <a:rPr lang="en-US" sz="2400" b="1" dirty="0">
                <a:latin typeface="Cascadia Code" panose="020B0609020000020004" pitchFamily="49" charset="0"/>
                <a:cs typeface="Cascadia Code" panose="020B0609020000020004" pitchFamily="49" charset="0"/>
              </a:rPr>
              <a:t>myp_digital_design</a:t>
            </a:r>
            <a:r>
              <a:rPr lang="en-US" sz="2400" dirty="0"/>
              <a:t> and we open it again next time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Upload your skill check file to </a:t>
            </a:r>
            <a:r>
              <a:rPr lang="en-US" sz="2400" dirty="0" err="1"/>
              <a:t>ManageBac</a:t>
            </a:r>
            <a:r>
              <a:rPr lang="en-US" sz="2400" dirty="0"/>
              <a:t>, named Surname_ICA2-1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/>
              <a:t>→ SKILL CHECK 9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6035039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3">
                <a:lumMod val="2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6711695" cy="911542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VOCAB TO REMEMBER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i="1" dirty="0">
                <a:solidFill>
                  <a:srgbClr val="FF66C4"/>
                </a:solidFill>
              </a:rPr>
              <a:t>Statement</a:t>
            </a:r>
            <a:r>
              <a:rPr lang="en-US" sz="2400" dirty="0"/>
              <a:t> - one instruction. Python runs them top to bottom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i="1" dirty="0">
                <a:solidFill>
                  <a:srgbClr val="FF66C4"/>
                </a:solidFill>
              </a:rPr>
              <a:t>Function</a:t>
            </a:r>
            <a:r>
              <a:rPr lang="en-US" sz="2400" dirty="0"/>
              <a:t> - a named thing that does a job for you, like print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i="1" dirty="0">
                <a:solidFill>
                  <a:srgbClr val="FF66C4"/>
                </a:solidFill>
              </a:rPr>
              <a:t>Argument</a:t>
            </a:r>
            <a:r>
              <a:rPr lang="en-US" sz="2400" dirty="0"/>
              <a:t> - what you hand a function, inside the brackets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i="1" dirty="0">
                <a:solidFill>
                  <a:srgbClr val="FF66C4"/>
                </a:solidFill>
              </a:rPr>
              <a:t>String</a:t>
            </a:r>
            <a:r>
              <a:rPr lang="en-US" sz="2400" dirty="0"/>
              <a:t> - text, always inside quotation marks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i="1" dirty="0">
                <a:solidFill>
                  <a:srgbClr val="FF66C4"/>
                </a:solidFill>
              </a:rPr>
              <a:t>Variable</a:t>
            </a:r>
            <a:r>
              <a:rPr lang="en-US" sz="2400" dirty="0"/>
              <a:t> - a labelled box with something in it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i="1" dirty="0">
                <a:solidFill>
                  <a:srgbClr val="FF66C4"/>
                </a:solidFill>
              </a:rPr>
              <a:t>Assignment</a:t>
            </a:r>
            <a:r>
              <a:rPr lang="en-US" sz="2400" dirty="0"/>
              <a:t> - the = that puts a value into the box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i="1" dirty="0">
                <a:solidFill>
                  <a:srgbClr val="FF66C4"/>
                </a:solidFill>
              </a:rPr>
              <a:t>Input</a:t>
            </a:r>
            <a:r>
              <a:rPr lang="en-US" sz="2400" dirty="0"/>
              <a:t> - the function that stops, asks, and hands back text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6035039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3">
                <a:lumMod val="2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6711695" cy="911542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VOCAB TO REMEMBER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i="1" dirty="0">
                <a:solidFill>
                  <a:srgbClr val="FF66C4"/>
                </a:solidFill>
              </a:rPr>
              <a:t>Concatenation</a:t>
            </a:r>
            <a:r>
              <a:rPr lang="en-US" sz="2400" dirty="0"/>
              <a:t> - gluing strings together with +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i="1" dirty="0">
                <a:solidFill>
                  <a:srgbClr val="FF66C4"/>
                </a:solidFill>
              </a:rPr>
              <a:t>Integer</a:t>
            </a:r>
            <a:r>
              <a:rPr lang="en-US" sz="2400" dirty="0"/>
              <a:t> - a whole number, no decimal point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i="1" dirty="0">
                <a:solidFill>
                  <a:srgbClr val="FF66C4"/>
                </a:solidFill>
              </a:rPr>
              <a:t>Float</a:t>
            </a:r>
            <a:r>
              <a:rPr lang="en-US" sz="2400" dirty="0"/>
              <a:t> - a number with a decimal point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i="1" dirty="0">
                <a:solidFill>
                  <a:srgbClr val="FF66C4"/>
                </a:solidFill>
              </a:rPr>
              <a:t>Type casting</a:t>
            </a:r>
            <a:r>
              <a:rPr lang="en-US" sz="2400" dirty="0"/>
              <a:t> - turning a value of one type into another, like int()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i="1" dirty="0">
                <a:solidFill>
                  <a:srgbClr val="FF66C4"/>
                </a:solidFill>
              </a:rPr>
              <a:t>Syntax error</a:t>
            </a:r>
            <a:r>
              <a:rPr lang="en-US" sz="2400" dirty="0"/>
              <a:t> - Python can’t read your line, so nothing runs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i="1" dirty="0">
                <a:solidFill>
                  <a:srgbClr val="FF66C4"/>
                </a:solidFill>
              </a:rPr>
              <a:t>TypeError</a:t>
            </a:r>
            <a:r>
              <a:rPr lang="en-US" sz="2400" dirty="0"/>
              <a:t> - Python got a type it can’t work with there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MYP Custom">
      <a:dk1>
        <a:srgbClr val="4B5358"/>
      </a:dk1>
      <a:lt1>
        <a:sysClr val="window" lastClr="FFFFFF"/>
      </a:lt1>
      <a:dk2>
        <a:srgbClr val="4B5358"/>
      </a:dk2>
      <a:lt2>
        <a:srgbClr val="E8E8E8"/>
      </a:lt2>
      <a:accent1>
        <a:srgbClr val="60B2E5"/>
      </a:accent1>
      <a:accent2>
        <a:srgbClr val="F49390"/>
      </a:accent2>
      <a:accent3>
        <a:srgbClr val="AEF6C7"/>
      </a:accent3>
      <a:accent4>
        <a:srgbClr val="FFC857"/>
      </a:accent4>
      <a:accent5>
        <a:srgbClr val="96607D"/>
      </a:accent5>
      <a:accent6>
        <a:srgbClr val="467886"/>
      </a:accent6>
      <a:hlink>
        <a:srgbClr val="0070C0"/>
      </a:hlink>
      <a:folHlink>
        <a:srgbClr val="002060"/>
      </a:folHlink>
    </a:clrScheme>
    <a:fontScheme name="Custom 1">
      <a:majorFont>
        <a:latin typeface="Bahnschrift"/>
        <a:ea typeface=""/>
        <a:cs typeface=""/>
      </a:majorFont>
      <a:minorFont>
        <a:latin typeface="Bahnschrif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>
            <a:lumMod val="75000"/>
          </a:schemeClr>
        </a:solidFill>
        <a:ln w="76200">
          <a:solidFill>
            <a:schemeClr val="accent2">
              <a:lumMod val="50000"/>
            </a:schemeClr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2159</TotalTime>
  <Words>1809</Words>
  <Application>Microsoft Office PowerPoint</Application>
  <PresentationFormat>Widescreen</PresentationFormat>
  <Paragraphs>195</Paragraphs>
  <Slides>24</Slides>
  <Notes>11</Notes>
  <HiddenSlides>2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Aptos</vt:lpstr>
      <vt:lpstr>Arial</vt:lpstr>
      <vt:lpstr>Bahnschrift</vt:lpstr>
      <vt:lpstr>Calibri</vt:lpstr>
      <vt:lpstr>Cascadia Code</vt:lpstr>
      <vt:lpstr>Chiller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Hill</dc:creator>
  <cp:lastModifiedBy>Michael Hill</cp:lastModifiedBy>
  <cp:revision>9</cp:revision>
  <dcterms:created xsi:type="dcterms:W3CDTF">2026-08-13T18:52:07Z</dcterms:created>
  <dcterms:modified xsi:type="dcterms:W3CDTF">2026-10-15T14:56:13Z</dcterms:modified>
</cp:coreProperties>
</file>