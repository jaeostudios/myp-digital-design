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S1"/>
    <p:sldId id="257" r:id="rIdS2"/>
    <p:sldId id="258" r:id="rIdS3"/>
    <p:sldId id="259" r:id="rIdS4"/>
    <p:sldId id="260" r:id="rIdS5"/>
    <p:sldId id="261" r:id="rIdS6"/>
    <p:sldId id="262" r:id="rIdS7"/>
    <p:sldId id="263" r:id="rIdS8"/>
    <p:sldId id="264" r:id="rIdS9"/>
    <p:sldId id="265" r:id="rIdS10"/>
    <p:sldId id="266" r:id="rIdS11"/>
    <p:sldId id="267" r:id="rIdS12"/>
    <p:sldId id="268" r:id="rIdS13"/>
    <p:sldId id="269" r:id="rIdS14"/>
    <p:sldId id="270" r:id="rIdS15"/>
    <p:sldId id="271" r:id="rIdS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Relationship Id="rIdS7" Type="http://schemas.openxmlformats.org/officeDocument/2006/relationships/slide" Target="slides/slide7.xml"/><Relationship Id="rIdS8" Type="http://schemas.openxmlformats.org/officeDocument/2006/relationships/slide" Target="slides/slide8.xml"/><Relationship Id="rIdS9" Type="http://schemas.openxmlformats.org/officeDocument/2006/relationships/slide" Target="slides/slide9.xml"/><Relationship Id="rIdS10" Type="http://schemas.openxmlformats.org/officeDocument/2006/relationships/slide" Target="slides/slide10.xml"/><Relationship Id="rIdS11" Type="http://schemas.openxmlformats.org/officeDocument/2006/relationships/slide" Target="slides/slide11.xml"/><Relationship Id="rIdS12" Type="http://schemas.openxmlformats.org/officeDocument/2006/relationships/slide" Target="slides/slide12.xml"/><Relationship Id="rIdS13" Type="http://schemas.openxmlformats.org/officeDocument/2006/relationships/slide" Target="slides/slide13.xml"/><Relationship Id="rIdS14" Type="http://schemas.openxmlformats.org/officeDocument/2006/relationships/slide" Target="slides/slide14.xml"/><Relationship Id="rIdS15" Type="http://schemas.openxmlformats.org/officeDocument/2006/relationships/slide" Target="slides/slide15.xml"/><Relationship Id="rIdS16" Type="http://schemas.openxmlformats.org/officeDocument/2006/relationships/slide" Target="slides/slide16.xml"/><Relationship Id="rIdNM" Type="http://schemas.openxmlformats.org/officeDocument/2006/relationships/notesMaster" Target="notesMasters/notesMaster1.xml"/><Relationship Id="rIdPP" Type="http://schemas.openxmlformats.org/officeDocument/2006/relationships/presProps" Target="presProps.xml"/><Relationship Id="rIdVP" Type="http://schemas.openxmlformats.org/officeDocument/2006/relationships/viewProps" Target="viewProps.xml"/><Relationship Id="rIdTH" Type="http://schemas.openxmlformats.org/officeDocument/2006/relationships/theme" Target="theme/theme1.xml"/><Relationship Id="rIdTS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38AE4F-EF52-4E9D-9FB8-919EC649769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ADDB7A-172D-4097-A132-12C8EB780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16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Do not fix it yet. Make them say the word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Two steps. Say it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Last thing I present today.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Point at the middle label, then stop talking.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Watch for printing age and expecting it to have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Star, not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Read the error out loud, word for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Do not demo. Hand over the list and go sit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Empty file at minute four gets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Collect the swap question. Thursday opener.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B7C5-D028-538D-C84B-F4947CA6E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18EE4-FBD3-518D-A533-5A7575B50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29B54-2C06-B521-B17D-DF069278D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FDB6A-DE1A-8CD7-36E6-9513398D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8F74D-F917-FC0E-8063-35DE9993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5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8439-08F5-44E1-22C0-33087F52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AE85E-1669-EAA4-128D-A6725E334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B58B0-4DFA-6A9A-D1B4-BF96071D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0893E-5088-E7E2-8009-A7FE84A3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1E31B-B430-476B-4710-0252DB870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3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F91E-1289-9CFB-7E71-94848C13D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5F334-0E85-5435-5C19-1CA99F7B3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AE98-80AE-D62A-E089-FE49DCBE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8E38B-44FF-557B-A276-58D60F4C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EAAD-B1C4-28ED-6E49-0D42DD72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5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1961-8DD9-78B4-A9EB-6E7BD8521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4FB85-FD5C-5CEF-4167-508019240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35358-0E94-76A9-9AF6-7219BE5FF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9088F-396E-06B1-953B-F7A916C3E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F87B1-02C7-7241-3B21-39307FE4F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79D4E-1341-8213-B0EA-47AE63A0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3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C656-E3BB-087A-B7F4-B11F8C8B8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94DE0-F7D0-64AF-28E5-7B681CDA0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45B5-9ADF-F7A2-05F2-120A13B78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657BA5-1E45-32F5-A0AA-B7DF5473D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DD5A8-A59D-08B9-C81D-4ACB127E0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369CEE-536B-48E8-7B72-F1115097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A961E-4D7B-9D4F-8C48-91688C56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CE6ED0-E024-5291-9F42-982856D9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3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7624-BBE4-4F43-40BE-1C5DBB86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D2DED-744A-331F-EB77-5ABCDB0E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3ED02-FD63-DFD0-65D2-7872A7B2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0267F-DE78-6F66-2229-FB1D5B1A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4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44833-3305-1116-E9F8-6C5A8378D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78047-5589-1EAF-5067-AD2EF967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0FE9F-3CAF-0634-2E48-4958A1A0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4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C86E-6E03-A7F6-C6A1-CDAA5F43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23AF1-9D57-2314-FA9D-80825CC52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22C80-BCC2-1F0C-1CD6-79899BC99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4490D-FAC8-13CF-211F-402F2A5A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733B4-C215-03AA-BCF9-0EBAA8F07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D49F0-9737-DB9F-776D-A059B8F7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7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8913-6DB8-652E-3AE8-7E16FF76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1CDAF-03E1-DF12-A9B1-4FD15D85B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973D7-08B5-4E26-635F-62114CE4B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3F633-B42C-02E8-FBE9-A044D62B2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AB502-E8A8-9093-8527-B61DE6F0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A517D-0BB7-84CA-2B04-6D22F0A3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6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7CDB-541D-DAB3-7030-558DA718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6EE05-5077-E454-CADA-3C2248050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635D-85D2-5EC9-9A79-37473989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C204C-6DA9-C91E-0CBF-6F7A79A1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552A-D248-C906-CAB8-158CCB31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50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ED4DA-0C79-4922-B6CA-14EB15C60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DFD1A-D787-85F1-F785-E1CCF23F9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549BA-E968-319C-D449-763DCC64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D76C2-62F9-A98E-4B4E-3F8847C5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5182B-0D0E-6729-A659-0B21D17A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83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FB70B0-69C1-BACF-E34C-11B8ABB05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6B4FB-0BB3-9404-1631-FB806D146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8B363-0843-FCC4-75C3-4817B6FC1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BD5FE-B811-5B93-5CF9-F7649D0E6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1E091-0FFD-BBDC-7AFB-7DC9119E8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3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Note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Note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Note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Note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Note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Note" Type="http://schemas.openxmlformats.org/officeDocument/2006/relationships/notesSlide" Target="../notesSlides/notesSlid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Note" Type="http://schemas.openxmlformats.org/officeDocument/2006/relationships/notesSlide" Target="../notesSlides/notesSlid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Note" Type="http://schemas.openxmlformats.org/officeDocument/2006/relationships/notesSlide" Target="../notesSlides/notesSlide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Note" Type="http://schemas.openxmlformats.org/officeDocument/2006/relationships/notesSlide" Target="../notesSlides/notesSlide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Note" Type="http://schemas.openxmlformats.org/officeDocument/2006/relationships/notesSlide" Target="../notesSlides/notesSlide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84BFF6B-CD7D-43AB-C049-4D6FC7CD133B}"/>
              </a:ext>
            </a:extLst>
          </p:cNvPr>
          <p:cNvCxnSpPr>
            <a:cxnSpLocks/>
          </p:cNvCxnSpPr>
          <p:nvPr/>
        </p:nvCxnSpPr>
        <p:spPr>
          <a:xfrm>
            <a:off x="5076449" y="4304752"/>
            <a:ext cx="2899265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3EE458-AB78-EACF-6DF0-D50A5EB70F8C}"/>
              </a:ext>
            </a:extLst>
          </p:cNvPr>
          <p:cNvCxnSpPr>
            <a:cxnSpLocks/>
          </p:cNvCxnSpPr>
          <p:nvPr/>
        </p:nvCxnSpPr>
        <p:spPr>
          <a:xfrm>
            <a:off x="3723623" y="746590"/>
            <a:ext cx="2943877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04EC88-7086-2F59-99EF-DAF347BF7C5A}"/>
              </a:ext>
            </a:extLst>
          </p:cNvPr>
          <p:cNvCxnSpPr/>
          <p:nvPr/>
        </p:nvCxnSpPr>
        <p:spPr>
          <a:xfrm>
            <a:off x="1486446" y="665766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tar: 16 Points 4">
            <a:extLst>
              <a:ext uri="{FF2B5EF4-FFF2-40B4-BE49-F238E27FC236}">
                <a16:creationId xmlns:a16="http://schemas.microsoft.com/office/drawing/2014/main" id="{ADD58C41-DE5A-3F97-1073-80435EAC10E5}"/>
              </a:ext>
            </a:extLst>
          </p:cNvPr>
          <p:cNvSpPr/>
          <p:nvPr/>
        </p:nvSpPr>
        <p:spPr>
          <a:xfrm>
            <a:off x="237236" y="118746"/>
            <a:ext cx="1915160" cy="1915160"/>
          </a:xfrm>
          <a:prstGeom prst="star16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711EC-5C02-3E0D-2684-97CA50D62B24}"/>
              </a:ext>
            </a:extLst>
          </p:cNvPr>
          <p:cNvSpPr txBox="1"/>
          <p:nvPr/>
        </p:nvSpPr>
        <p:spPr>
          <a:xfrm>
            <a:off x="597534" y="356526"/>
            <a:ext cx="1194562" cy="400110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UNIT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230C0-C256-6203-A5F6-19223FE071E4}"/>
              </a:ext>
            </a:extLst>
          </p:cNvPr>
          <p:cNvSpPr txBox="1"/>
          <p:nvPr/>
        </p:nvSpPr>
        <p:spPr>
          <a:xfrm>
            <a:off x="572164" y="521583"/>
            <a:ext cx="1194562" cy="110799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9215A8-6C2C-22D9-03C2-41E38104D972}"/>
              </a:ext>
            </a:extLst>
          </p:cNvPr>
          <p:cNvSpPr/>
          <p:nvPr/>
        </p:nvSpPr>
        <p:spPr>
          <a:xfrm>
            <a:off x="3750893" y="865330"/>
            <a:ext cx="5431536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MAKE IT YOURS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E531CC-A060-48E0-AD9D-FE42573EED82}"/>
              </a:ext>
            </a:extLst>
          </p:cNvPr>
          <p:cNvSpPr/>
          <p:nvPr/>
        </p:nvSpPr>
        <p:spPr>
          <a:xfrm>
            <a:off x="4754880" y="-221055"/>
            <a:ext cx="2593271" cy="2593271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5E4966-129D-0E9B-593A-7270EC6C0EA0}"/>
              </a:ext>
            </a:extLst>
          </p:cNvPr>
          <p:cNvSpPr/>
          <p:nvPr/>
        </p:nvSpPr>
        <p:spPr>
          <a:xfrm rot="21081993">
            <a:off x="3089443" y="359006"/>
            <a:ext cx="1268361" cy="6007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DAY 21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204734-3FD9-9A03-0700-AC2D2E083E4F}"/>
              </a:ext>
            </a:extLst>
          </p:cNvPr>
          <p:cNvSpPr/>
          <p:nvPr/>
        </p:nvSpPr>
        <p:spPr>
          <a:xfrm>
            <a:off x="526944" y="2588561"/>
            <a:ext cx="3929014" cy="3942736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Warm Up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Why 3 + 5 Was 35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Your Skeleton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Doing Math With Answers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Welcome Form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Before You Leave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Vocab To Remember</a:t>
            </a: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76E17776-D541-80F3-BCFD-CA5A7CCC3A3F}"/>
              </a:ext>
            </a:extLst>
          </p:cNvPr>
          <p:cNvSpPr/>
          <p:nvPr/>
        </p:nvSpPr>
        <p:spPr>
          <a:xfrm>
            <a:off x="2914673" y="2288185"/>
            <a:ext cx="2301362" cy="600752"/>
          </a:xfrm>
          <a:prstGeom prst="flowChartInputOutpu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AGENDA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BB1E97-9746-97B6-FA11-641333A2EC2E}"/>
              </a:ext>
            </a:extLst>
          </p:cNvPr>
          <p:cNvSpPr/>
          <p:nvPr/>
        </p:nvSpPr>
        <p:spPr>
          <a:xfrm>
            <a:off x="5407742" y="2444656"/>
            <a:ext cx="6016298" cy="17067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Phones into The Holding Cell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Laptops open, Lab 2-4 downloaded, before I start talking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Friday's Lab 2-3 open too. You will be stealing from it</a:t>
            </a:r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4D20C643-FE77-D5F1-944D-EFA6A4E18384}"/>
              </a:ext>
            </a:extLst>
          </p:cNvPr>
          <p:cNvSpPr/>
          <p:nvPr/>
        </p:nvSpPr>
        <p:spPr>
          <a:xfrm flipH="1">
            <a:off x="9835526" y="2157823"/>
            <a:ext cx="2155485" cy="765223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REMINDERS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A3F4D-F474-B915-E173-B56E57D3CE69}"/>
              </a:ext>
            </a:extLst>
          </p:cNvPr>
          <p:cNvSpPr txBox="1"/>
          <p:nvPr/>
        </p:nvSpPr>
        <p:spPr>
          <a:xfrm>
            <a:off x="411769" y="1394526"/>
            <a:ext cx="1580232" cy="25391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BUILT TO ORDER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EB55A-2652-CCF0-91B1-8B395B1FD54C}"/>
              </a:ext>
            </a:extLst>
          </p:cNvPr>
          <p:cNvSpPr/>
          <p:nvPr/>
        </p:nvSpPr>
        <p:spPr>
          <a:xfrm>
            <a:off x="7187005" y="6077879"/>
            <a:ext cx="4437380" cy="583565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  <a:alpha val="0"/>
                </a:schemeClr>
              </a:gs>
              <a:gs pos="100000">
                <a:schemeClr val="accent3">
                  <a:lumMod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028EDC04-C674-08DB-F001-E8BAEBD20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6146299"/>
            <a:ext cx="3790950" cy="583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algn="r">
              <a:buNone/>
            </a:pPr>
            <a:r>
              <a:rPr lang="en-US" sz="1400" b="1" dirty="0">
                <a:solidFill>
                  <a:schemeClr val="bg1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RECOMMENDED LISTENING:</a:t>
            </a:r>
            <a:endParaRPr lang="en-US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algn="r">
              <a:buNone/>
            </a:pPr>
            <a:r>
              <a:rPr lang="en-US" sz="1200" b="1" dirty="0">
                <a:solidFill>
                  <a:schemeClr val="bg1"/>
                </a:solidFill>
                <a:latin typeface="Bahnschrift" panose="020B0502040204020203" pitchFamily="34" charset="0"/>
                <a:ea typeface="Calibri" panose="020F0502020204030204" pitchFamily="34" charset="0"/>
              </a:rPr>
              <a:t>MII CHANNEL - WII MENU</a:t>
            </a:r>
            <a:endParaRPr lang="en-US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1" name="Picture 10" descr="Cd Clip Art">
            <a:extLst>
              <a:ext uri="{FF2B5EF4-FFF2-40B4-BE49-F238E27FC236}">
                <a16:creationId xmlns:a16="http://schemas.microsoft.com/office/drawing/2014/main" id="{9AA8D88A-8935-C243-7C92-FEB5E17C70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0" y="5941036"/>
            <a:ext cx="857250" cy="857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639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736B0C-A06D-A528-1192-A7867336C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085A45DB-3642-2641-2ABF-8A902B3ADA9B}"/>
              </a:ext>
            </a:extLst>
          </p:cNvPr>
          <p:cNvSpPr/>
          <p:nvPr/>
        </p:nvSpPr>
        <p:spPr>
          <a:xfrm>
            <a:off x="8915057" y="217604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D23AC3-1E13-8715-EC1A-E04E2C9D8470}"/>
              </a:ext>
            </a:extLst>
          </p:cNvPr>
          <p:cNvCxnSpPr>
            <a:cxnSpLocks/>
          </p:cNvCxnSpPr>
          <p:nvPr/>
        </p:nvCxnSpPr>
        <p:spPr>
          <a:xfrm>
            <a:off x="3806312" y="1521556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37DF90-A476-1B33-DB9A-6D67B11AC9C6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0E900F3-015F-7761-7947-8847E9D1E560}"/>
              </a:ext>
            </a:extLst>
          </p:cNvPr>
          <p:cNvSpPr/>
          <p:nvPr/>
        </p:nvSpPr>
        <p:spPr>
          <a:xfrm>
            <a:off x="2483753" y="453766"/>
            <a:ext cx="7224493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WARM UP QUESTION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EEEA62-E5FD-DE36-D59E-CF3D95E3AD86}"/>
              </a:ext>
            </a:extLst>
          </p:cNvPr>
          <p:cNvSpPr/>
          <p:nvPr/>
        </p:nvSpPr>
        <p:spPr>
          <a:xfrm>
            <a:off x="533634" y="1723987"/>
            <a:ext cx="11124730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Friday's last program. Somebody typed 3, then typed 5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first = input("A number: ")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second = input("Another number: ")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print(first + second)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What appeared on screen, and why?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63DB81-B172-FD92-7344-0A9DBC440811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url_upload_6a7f3d9e572a4.gif [effects output image]">
            <a:extLst>
              <a:ext uri="{FF2B5EF4-FFF2-40B4-BE49-F238E27FC236}">
                <a16:creationId xmlns:a16="http://schemas.microsoft.com/office/drawing/2014/main" id="{8F628373-9FCF-09F8-A7B6-607C0145139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83753" y="-2120321"/>
            <a:ext cx="4743450" cy="2667000"/>
          </a:xfrm>
          <a:prstGeom prst="rect">
            <a:avLst/>
          </a:prstGeom>
        </p:spPr>
      </p:pic>
      <p:pic>
        <p:nvPicPr>
          <p:cNvPr id="21" name="Picture 20" descr="url_upload_6a7f3d9e572a4.gif [effects output image]">
            <a:extLst>
              <a:ext uri="{FF2B5EF4-FFF2-40B4-BE49-F238E27FC236}">
                <a16:creationId xmlns:a16="http://schemas.microsoft.com/office/drawing/2014/main" id="{0C52FBF9-2C25-8FCB-563A-242A0F1AC27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939927" y="-2120321"/>
            <a:ext cx="2786643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300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6629B9-CF2C-5C11-7469-ADD4915E2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2D2F265E-120A-FEDA-8C40-62A0BFC0E45D}"/>
              </a:ext>
            </a:extLst>
          </p:cNvPr>
          <p:cNvSpPr/>
          <p:nvPr/>
        </p:nvSpPr>
        <p:spPr>
          <a:xfrm>
            <a:off x="8915057" y="217604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160A85-F895-FC49-8E36-8197E5B8A98E}"/>
              </a:ext>
            </a:extLst>
          </p:cNvPr>
          <p:cNvCxnSpPr>
            <a:cxnSpLocks/>
          </p:cNvCxnSpPr>
          <p:nvPr/>
        </p:nvCxnSpPr>
        <p:spPr>
          <a:xfrm>
            <a:off x="3806312" y="1521556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21F7D05-D0E2-B437-9792-7B4CC9361CA7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B23F663-A07C-CE23-B2C6-C4BA17EE7206}"/>
              </a:ext>
            </a:extLst>
          </p:cNvPr>
          <p:cNvSpPr/>
          <p:nvPr/>
        </p:nvSpPr>
        <p:spPr>
          <a:xfrm>
            <a:off x="2483753" y="453766"/>
            <a:ext cx="7224493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WARM UP ANSWER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217569-8B31-98D6-5997-110746733932}"/>
              </a:ext>
            </a:extLst>
          </p:cNvPr>
          <p:cNvSpPr/>
          <p:nvPr/>
        </p:nvSpPr>
        <p:spPr>
          <a:xfrm>
            <a:off x="533634" y="1723987"/>
            <a:ext cx="11124730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Answer: 35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input hands back text. Every time, no exceptions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+ put two pieces of text end to end. Nothing got added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Nothing broke. We just never told it they were numbers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50C7B7C-76D4-FDAC-7DED-BB7E3B933B5C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url_upload_6a7f3d9e572a4.gif [effects output image]">
            <a:extLst>
              <a:ext uri="{FF2B5EF4-FFF2-40B4-BE49-F238E27FC236}">
                <a16:creationId xmlns:a16="http://schemas.microsoft.com/office/drawing/2014/main" id="{1288AF76-4E7B-FF09-368F-27BF85DB595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83753" y="-2120321"/>
            <a:ext cx="4743450" cy="2667000"/>
          </a:xfrm>
          <a:prstGeom prst="rect">
            <a:avLst/>
          </a:prstGeom>
        </p:spPr>
      </p:pic>
      <p:pic>
        <p:nvPicPr>
          <p:cNvPr id="21" name="Picture 20" descr="url_upload_6a7f3d9e572a4.gif [effects output image]">
            <a:extLst>
              <a:ext uri="{FF2B5EF4-FFF2-40B4-BE49-F238E27FC236}">
                <a16:creationId xmlns:a16="http://schemas.microsoft.com/office/drawing/2014/main" id="{029CD9DD-0177-4886-96FD-4C4444BDA7C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939927" y="-2120321"/>
            <a:ext cx="2786643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00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468112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144768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WHY 3 + 5 WAS 35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2478024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Python did exactly what we asked. It was not what we wanted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Text plus text is text stuck together, which is how we got 35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To add them, we have to say so first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4" name="Rectangle 1"/>
          <p:cNvSpPr/>
          <p:nvPr/>
        </p:nvSpPr>
        <p:spPr>
          <a:xfrm>
            <a:off x="594360" y="4306824"/>
            <a:ext cx="11000232" cy="2157984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first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"A number: 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/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second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"Another number: 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/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first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+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second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          </a:t>
            </a: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35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468112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144768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WHY 3 + 5 WAS 35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1544543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3399"/>
                </a:solidFill>
              </a:rPr>
              <a:t>Type casting</a:t>
            </a:r>
            <a:r>
              <a:rPr lang="en-US" sz="2400" dirty="0"/>
              <a:t> is taking a value and making a new value of another type out of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int()</a:t>
            </a:r>
            <a:r>
              <a:rPr lang="en-US" sz="2400" dirty="0"/>
              <a:t> hands back an </a:t>
            </a:r>
            <a:r>
              <a:rPr lang="en-US" sz="2400" b="1" i="1" dirty="0">
                <a:solidFill>
                  <a:srgbClr val="FF3399"/>
                </a:solidFill>
              </a:rPr>
              <a:t>integer</a:t>
            </a:r>
            <a:r>
              <a:rPr lang="en-US" sz="2400" dirty="0"/>
              <a:t>, a whole number with nothing after the point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Two steps, not one. Catch the answer, then change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= is doing the same job it has done since Day 19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4" name="Rectangle 1"/>
          <p:cNvSpPr/>
          <p:nvPr/>
        </p:nvSpPr>
        <p:spPr>
          <a:xfrm>
            <a:off x="594360" y="3340000"/>
            <a:ext cx="11000232" cy="3350000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first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"A number: 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/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second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"Another number: 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first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first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/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second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second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first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+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second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          </a:t>
            </a:r>
            <a:r>
              <a:rPr lang="en-US" sz="20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8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468112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144768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WHY 3 + 5 WAS 35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Friday's file is still on your machine. Open it, paste the three lines across, add the two new ones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Run it and type 3, then 5. You want 8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Still getting 35? Your two new lines are in the wrong place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LAB 2-4 SKILL CHECK 1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4892040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5568696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YOUR SKELETON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2478024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Three labels, and that is all you get today. No worked example to copy from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Ask, change, show. Always that order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middle one has been empty since Day 19. Today it has a job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Anything that came in as text and needs to be a number gets turned into one there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4" name="Rectangle 1"/>
          <p:cNvSpPr/>
          <p:nvPr/>
        </p:nvSpPr>
        <p:spPr>
          <a:xfrm>
            <a:off x="594360" y="4306824"/>
            <a:ext cx="11000232" cy="2157984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ASK AND STORE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CHANGE THEIR VALUES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SHOW THEIR VALUES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778240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454896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DOING MATH WITH ANSWERS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Ask somebody their age. Turn it into a number. Tell them what it will be next year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arithmetic happens inside the print, before anything shows up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comma drops the number into the sentence, same as always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LAB 2-4 SKILL CHECK 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778240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454896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DOING MATH WITH ANSWERS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Four operators: </a:t>
            </a:r>
            <a:r>
              <a:rPr lang="en-US" sz="2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+</a:t>
            </a:r>
            <a:r>
              <a:rPr lang="en-US" sz="2400" dirty="0"/>
              <a:t> add, </a:t>
            </a:r>
            <a:r>
              <a:rPr lang="en-US" sz="2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-</a:t>
            </a:r>
            <a:r>
              <a:rPr lang="en-US" sz="2400" dirty="0"/>
              <a:t> subtract, </a:t>
            </a:r>
            <a:r>
              <a:rPr lang="en-US" sz="2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*</a:t>
            </a:r>
            <a:r>
              <a:rPr lang="en-US" sz="2400" dirty="0"/>
              <a:t> multiply, </a:t>
            </a:r>
            <a:r>
              <a:rPr lang="en-US" sz="2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/</a:t>
            </a:r>
            <a:r>
              <a:rPr lang="en-US" sz="2400" dirty="0"/>
              <a:t> divide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Multiply is the star, not the letter x. Python will not guess which one you meant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Divide always hands back a decimal, even when it divides evenly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Minutes a day, times seven, stored under a second name, then shown in a sentence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LAB 2-4 SKILL CHECK 3, PART A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778240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454896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DOING MATH WITH ANSWERS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2478024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Now break it. Join the words and the number with a + instead of a comma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3399"/>
                </a:solidFill>
              </a:rPr>
              <a:t>TypeError</a:t>
            </a:r>
            <a:r>
              <a:rPr lang="en-US" sz="2400" dirty="0"/>
              <a:t> is Python saying these two are not the same kind of thing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Friday's error from the other side. Then it was all text. Now one of them is not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Put the commas back afterwards. You will want this one working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LAB 2-4 SKILL CHECK 3, PART B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4" name="Rectangle 1"/>
          <p:cNvSpPr/>
          <p:nvPr/>
        </p:nvSpPr>
        <p:spPr>
          <a:xfrm>
            <a:off x="594360" y="4306824"/>
            <a:ext cx="11000232" cy="2157984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"That is 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+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weekly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+ 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 minutes a week"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TypeError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can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only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concatenate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str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(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not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"int"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to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str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245352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922008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WELCOME FORM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Your program welcomes somebody to something. A club, a server, a team, a shop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Four questions, then a short welcome printed back at them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Nothing to copy from. You have the three labels and you have the list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[PICTURE: a real sign-up form on a phone, four fields visible]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245352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922008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WELCOME FORM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All six of these have to be in there: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Four questions, four variables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Two of those answers turned into numbers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At least one calculation the program does with them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three labels, as comments, in the right places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Every number shown inside a sentence, by comma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Questions a stranger could answer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LAB 2-4 SKILL CHECK 4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245352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922008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WELCOME FORM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Twenty minutes. I am not presenting again today, so wave me over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Run it once with sensible answers and once with ridiculous ones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[PICTURE: a finished run in the PyCharm terminal, four questions answered, the welcome underneath]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943600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620256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BEFORE YOU LEAVE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Save as </a:t>
            </a:r>
            <a:r>
              <a:rPr lang="en-US" sz="2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Surname_Lab2-4</a:t>
            </a:r>
            <a:r>
              <a:rPr lang="en-US" sz="2400" dirty="0"/>
              <a:t> and upload it to ManageBac, finished or not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Answer the last question at the bottom. One sentence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Done early? Swap laptops and fill in somebody else's form as if you had never seen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Type a word where their program wants a number. Watch what happens. Thursday starts there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812280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488936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VOCAB TO REMEMBER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7620361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Type casting</a:t>
            </a:r>
            <a:r>
              <a:rPr lang="en-US" sz="2400" dirty="0"/>
              <a:t> - taking a value of one type and making a new value of another type out of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Integer</a:t>
            </a:r>
            <a:r>
              <a:rPr lang="en-US" sz="2400" dirty="0"/>
              <a:t> - a whole number, nothing after the decimal point. </a:t>
            </a:r>
            <a:r>
              <a:rPr lang="en-US" sz="2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int()</a:t>
            </a:r>
            <a:r>
              <a:rPr lang="en-US" sz="2400" dirty="0"/>
              <a:t> hands one back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TypeError</a:t>
            </a:r>
            <a:r>
              <a:rPr lang="en-US" sz="2400" dirty="0"/>
              <a:t> - Python saying two values are not the same kind of thing, and it will not guess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Integer and type casting are in the Day 17 block of your sheet. They have been waiting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Big Brain - Wojak Land">
            <a:extLst>
              <a:ext uri="{FF2B5EF4-FFF2-40B4-BE49-F238E27FC236}">
                <a16:creationId xmlns:a16="http://schemas.microsoft.com/office/drawing/2014/main" id="{56B43E86-B819-4E20-49ED-1EC04094A0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2" b="2045"/>
          <a:stretch>
            <a:fillRect/>
          </a:stretch>
        </p:blipFill>
        <p:spPr>
          <a:xfrm flipH="1">
            <a:off x="9602341" y="4403591"/>
            <a:ext cx="1860791" cy="169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11 0.02292 L -0.00611 0.02292 C -0.00755 -0.02083 -0.00742 -0.03217 -0.0108 -0.07592 C -0.0121 -0.09259 -0.01432 -0.10902 -0.01549 -0.12592 C -0.0164 -0.1368 -0.01653 -0.14814 -0.01705 -0.15925 C -0.0177 -0.16967 -0.01861 -0.18055 -0.0194 -0.1912 C -0.01979 -0.20671 -0.02018 -0.23611 -0.02174 -0.25231 C -0.02239 -0.25833 -0.02369 -0.26435 -0.02486 -0.27037 C -0.02578 -0.27453 -0.02669 -0.27893 -0.02799 -0.28287 C -0.03059 -0.2905 -0.03606 -0.30069 -0.03971 -0.30648 C -0.04804 -0.31898 -0.047 -0.31713 -0.05455 -0.32314 C -0.0569 -0.32037 -0.05976 -0.31851 -0.06158 -0.31481 C -0.06588 -0.30601 -0.06562 -0.29976 -0.06627 -0.28981 C -0.06653 -0.2662 -0.06666 -0.24259 -0.06705 -0.21898 C -0.06731 -0.20995 -0.06809 -0.19884 -0.06861 -0.18981 C -0.06901 -0.18356 -0.06927 -0.16967 -0.07096 -0.16342 C -0.07174 -0.16064 -0.07265 -0.15787 -0.0733 -0.15509 C -0.07669 -0.14236 -0.07773 -0.13541 -0.08268 -0.12314 C -0.08502 -0.11736 -0.08763 -0.11226 -0.09049 -0.10787 C -0.09309 -0.10393 -0.09609 -0.10092 -0.09908 -0.09814 C -0.10013 -0.09722 -0.10117 -0.09699 -0.10221 -0.09675 C -0.10533 -0.09606 -0.10846 -0.09583 -0.11158 -0.09537 C -0.13085 -0.09768 -0.13828 -0.09606 -0.15299 -0.10231 C -0.15755 -0.10416 -0.16106 -0.10671 -0.16549 -0.10925 C -0.16731 -0.11018 -0.16914 -0.11111 -0.17096 -0.11203 C -0.17838 -0.11527 -0.17135 -0.11088 -0.18033 -0.1162 C -0.18671 -0.11967 -0.1927 -0.1243 -0.19908 -0.12731 C -0.20013 -0.12777 -0.2013 -0.128 -0.20221 -0.1287 C -0.20364 -0.12939 -0.20481 -0.13078 -0.20611 -0.13148 C -0.20872 -0.13263 -0.21145 -0.1331 -0.21393 -0.13425 C -0.21692 -0.13541 -0.21966 -0.1375 -0.22252 -0.13842 C -0.22591 -0.13935 -0.22929 -0.13935 -0.23268 -0.13981 C -0.26888 -0.14375 -0.25755 -0.14236 -0.30143 -0.14398 C -0.33372 -0.13935 -0.36731 -0.14652 -0.3983 -0.13009 C -0.4177 -0.11967 -0.41679 -0.03356 -0.40768 -0.01898 C -0.39348 0.00417 -0.37122 0.00232 -0.35299 0.01297 C -0.33059 -0.0125 -0.28893 -0.01643 -0.2858 -0.06342 C -0.27408 -0.24398 -0.35104 -0.2449 -0.40924 -0.27175 C -0.43476 -0.22222 -0.47356 -0.18657 -0.4858 -0.12314 C -0.49388 -0.08148 -0.48671 -0.00625 -0.46236 0.00186 C -0.41289 0.01852 -0.36497 -0.04351 -0.31627 -0.0662 C -0.28398 -0.12129 -0.21614 -0.15208 -0.2194 -0.23148 C -0.23255 -0.54143 -0.37356 -0.36157 -0.42252 -0.32037 C -0.42408 -0.26805 -0.45611 -0.17338 -0.42721 -0.16342 C -0.20442 -0.08495 -0.18919 -0.22893 -0.09127 -0.46203 C -0.12382 -0.49444 -0.15351 -0.57963 -0.18893 -0.55925 C -0.225 -0.53842 -0.25807 -0.43449 -0.23815 -0.37731 C -0.20911 -0.29398 -0.13658 -0.30138 -0.0858 -0.26342 C -0.04309 -0.32731 0.0362 -0.35625 0.04232 -0.45509 C 0.06928 -0.89861 -0.16236 -0.64606 -0.22252 -0.60787 C -0.22617 -0.47037 -0.26705 -0.31921 -0.23346 -0.19537 C -0.18268 -0.0074 0.01159 -0.14444 0.0681 -0.16898 C 0.0892 -0.21435 0.11159 -0.25763 0.13139 -0.30509 C 0.13425 -0.31203 0.13086 -0.32592 0.13529 -0.33009 C 0.14284 -0.33703 0.15248 -0.33194 0.16107 -0.33287 C 0.18034 -0.32824 0.19974 -0.32615 0.21889 -0.31898 C 0.2379 -0.31157 0.27514 -0.28981 0.27514 -0.28981 " pathEditMode="relative" ptsTypes="AAAAAAAAAAAAAAAAAAAAAAAAAAAAAAAAAAAAAAAAAAAAAAAAAAAAAAAAA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EAFB14-6A85-70B8-8216-BD75722A1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44CF1650-09FA-B868-F5AD-95FBAC3A5F8D}"/>
              </a:ext>
            </a:extLst>
          </p:cNvPr>
          <p:cNvSpPr/>
          <p:nvPr/>
        </p:nvSpPr>
        <p:spPr>
          <a:xfrm>
            <a:off x="5751576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418F614-4CD6-1848-D308-9330151368D1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304C824-1F3B-44F2-E7B0-5AAFB78C28F6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AFFF7F1-8D23-0FA8-BA4D-FD816E40BF0C}"/>
              </a:ext>
            </a:extLst>
          </p:cNvPr>
          <p:cNvSpPr/>
          <p:nvPr/>
        </p:nvSpPr>
        <p:spPr>
          <a:xfrm>
            <a:off x="112345" y="93525"/>
            <a:ext cx="6428232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FURTHER READING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2EA945-4663-F82C-4B78-8EF4B308EF64}"/>
              </a:ext>
            </a:extLst>
          </p:cNvPr>
          <p:cNvSpPr/>
          <p:nvPr/>
        </p:nvSpPr>
        <p:spPr>
          <a:xfrm>
            <a:off x="526943" y="1695457"/>
            <a:ext cx="7620361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docs.python.org/3/library/functions.html#int - the official page for int(). Short, and drier than me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Open any form you filled in this week and count how many of its questions are numbers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Read the Day 22 rows on your vocabulary sheet. Three words, no computer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0EE147-1C9E-DC0E-B040-3BBFA136BA33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Big Brain - Wojak Land">
            <a:extLst>
              <a:ext uri="{FF2B5EF4-FFF2-40B4-BE49-F238E27FC236}">
                <a16:creationId xmlns:a16="http://schemas.microsoft.com/office/drawing/2014/main" id="{8B4B913D-F576-FFA3-F278-F7A7608218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2" b="2045"/>
          <a:stretch>
            <a:fillRect/>
          </a:stretch>
        </p:blipFill>
        <p:spPr>
          <a:xfrm flipH="1">
            <a:off x="9602341" y="4403591"/>
            <a:ext cx="1860791" cy="169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131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11 0.02292 L -0.00611 0.02292 C -0.00755 -0.02083 -0.00742 -0.03217 -0.0108 -0.07592 C -0.0121 -0.09259 -0.01432 -0.10902 -0.01549 -0.12592 C -0.0164 -0.1368 -0.01653 -0.14814 -0.01705 -0.15925 C -0.0177 -0.16967 -0.01861 -0.18055 -0.0194 -0.1912 C -0.01979 -0.20671 -0.02018 -0.23611 -0.02174 -0.25231 C -0.02239 -0.25833 -0.02369 -0.26435 -0.02486 -0.27037 C -0.02578 -0.27453 -0.02669 -0.27893 -0.02799 -0.28287 C -0.03059 -0.2905 -0.03606 -0.30069 -0.03971 -0.30648 C -0.04804 -0.31898 -0.047 -0.31713 -0.05455 -0.32314 C -0.0569 -0.32037 -0.05976 -0.31851 -0.06158 -0.31481 C -0.06588 -0.30601 -0.06562 -0.29976 -0.06627 -0.28981 C -0.06653 -0.2662 -0.06666 -0.24259 -0.06705 -0.21898 C -0.06731 -0.20995 -0.06809 -0.19884 -0.06861 -0.18981 C -0.06901 -0.18356 -0.06927 -0.16967 -0.07096 -0.16342 C -0.07174 -0.16064 -0.07265 -0.15787 -0.0733 -0.15509 C -0.07669 -0.14236 -0.07773 -0.13541 -0.08268 -0.12314 C -0.08502 -0.11736 -0.08763 -0.11226 -0.09049 -0.10787 C -0.09309 -0.10393 -0.09609 -0.10092 -0.09908 -0.09814 C -0.10013 -0.09722 -0.10117 -0.09699 -0.10221 -0.09675 C -0.10533 -0.09606 -0.10846 -0.09583 -0.11158 -0.09537 C -0.13085 -0.09768 -0.13828 -0.09606 -0.15299 -0.10231 C -0.15755 -0.10416 -0.16106 -0.10671 -0.16549 -0.10925 C -0.16731 -0.11018 -0.16914 -0.11111 -0.17096 -0.11203 C -0.17838 -0.11527 -0.17135 -0.11088 -0.18033 -0.1162 C -0.18671 -0.11967 -0.1927 -0.1243 -0.19908 -0.12731 C -0.20013 -0.12777 -0.2013 -0.128 -0.20221 -0.1287 C -0.20364 -0.12939 -0.20481 -0.13078 -0.20611 -0.13148 C -0.20872 -0.13263 -0.21145 -0.1331 -0.21393 -0.13425 C -0.21692 -0.13541 -0.21966 -0.1375 -0.22252 -0.13842 C -0.22591 -0.13935 -0.22929 -0.13935 -0.23268 -0.13981 C -0.26888 -0.14375 -0.25755 -0.14236 -0.30143 -0.14398 C -0.33372 -0.13935 -0.36731 -0.14652 -0.3983 -0.13009 C -0.4177 -0.11967 -0.41679 -0.03356 -0.40768 -0.01898 C -0.39348 0.00417 -0.37122 0.00232 -0.35299 0.01297 C -0.33059 -0.0125 -0.28893 -0.01643 -0.2858 -0.06342 C -0.27408 -0.24398 -0.35104 -0.2449 -0.40924 -0.27175 C -0.43476 -0.22222 -0.47356 -0.18657 -0.4858 -0.12314 C -0.49388 -0.08148 -0.48671 -0.00625 -0.46236 0.00186 C -0.41289 0.01852 -0.36497 -0.04351 -0.31627 -0.0662 C -0.28398 -0.12129 -0.21614 -0.15208 -0.2194 -0.23148 C -0.23255 -0.54143 -0.37356 -0.36157 -0.42252 -0.32037 C -0.42408 -0.26805 -0.45611 -0.17338 -0.42721 -0.16342 C -0.20442 -0.08495 -0.18919 -0.22893 -0.09127 -0.46203 C -0.12382 -0.49444 -0.15351 -0.57963 -0.18893 -0.55925 C -0.225 -0.53842 -0.25807 -0.43449 -0.23815 -0.37731 C -0.20911 -0.29398 -0.13658 -0.30138 -0.0858 -0.26342 C -0.04309 -0.32731 0.0362 -0.35625 0.04232 -0.45509 C 0.06928 -0.89861 -0.16236 -0.64606 -0.22252 -0.60787 C -0.22617 -0.47037 -0.26705 -0.31921 -0.23346 -0.19537 C -0.18268 -0.0074 0.01159 -0.14444 0.0681 -0.16898 C 0.0892 -0.21435 0.11159 -0.25763 0.13139 -0.30509 C 0.13425 -0.31203 0.13086 -0.32592 0.13529 -0.33009 C 0.14284 -0.33703 0.15248 -0.33194 0.16107 -0.33287 C 0.18034 -0.32824 0.19974 -0.32615 0.21889 -0.31898 C 0.2379 -0.31157 0.27514 -0.28981 0.27514 -0.28981 " pathEditMode="relative" ptsTypes="AAAAAAAAAAAAAAAAAAAAAAAAAAAAAAAAAAAAAAAAAAAAAAAAAAAAAAAAA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MYP Custom">
      <a:dk1>
        <a:srgbClr val="4B5358"/>
      </a:dk1>
      <a:lt1>
        <a:sysClr val="window" lastClr="FFFFFF"/>
      </a:lt1>
      <a:dk2>
        <a:srgbClr val="4B5358"/>
      </a:dk2>
      <a:lt2>
        <a:srgbClr val="E8E8E8"/>
      </a:lt2>
      <a:accent1>
        <a:srgbClr val="60B2E5"/>
      </a:accent1>
      <a:accent2>
        <a:srgbClr val="F49390"/>
      </a:accent2>
      <a:accent3>
        <a:srgbClr val="AEF6C7"/>
      </a:accent3>
      <a:accent4>
        <a:srgbClr val="FFC857"/>
      </a:accent4>
      <a:accent5>
        <a:srgbClr val="96607D"/>
      </a:accent5>
      <a:accent6>
        <a:srgbClr val="467886"/>
      </a:accent6>
      <a:hlink>
        <a:srgbClr val="0070C0"/>
      </a:hlink>
      <a:folHlink>
        <a:srgbClr val="00206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75000"/>
          </a:schemeClr>
        </a:solidFill>
        <a:ln w="76200">
          <a:solidFill>
            <a:schemeClr val="accent2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1021</TotalTime>
  <Words>150</Words>
  <Application>Microsoft Office PowerPoint</Application>
  <PresentationFormat>Widescreen</PresentationFormat>
  <Paragraphs>38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Bahnschrift</vt:lpstr>
      <vt:lpstr>Calibri</vt:lpstr>
      <vt:lpstr>Cascadia Code</vt:lpstr>
      <vt:lpstr>Chiller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8</cp:revision>
  <dcterms:created xsi:type="dcterms:W3CDTF">2026-08-13T18:52:07Z</dcterms:created>
  <dcterms:modified xsi:type="dcterms:W3CDTF">2026-10-26T13:39:45Z</dcterms:modified>
</cp:coreProperties>
</file>