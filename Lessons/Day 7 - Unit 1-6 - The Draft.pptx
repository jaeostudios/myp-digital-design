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94" d="100"/>
          <a:sy n="94" d="100"/>
        </p:scale>
        <p:origin x="12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Hill" userId="41dba03d-e58d-4389-9894-554c10310ba4" providerId="ADAL" clId="{EF23FE1D-A042-481E-AFD7-2A9FB0847F54}"/>
    <pc:docChg chg="modSld">
      <pc:chgData name="Michael Hill" userId="41dba03d-e58d-4389-9894-554c10310ba4" providerId="ADAL" clId="{EF23FE1D-A042-481E-AFD7-2A9FB0847F54}" dt="2026-09-11T14:48:11.430" v="5" actId="20577"/>
      <pc:docMkLst>
        <pc:docMk/>
      </pc:docMkLst>
      <pc:sldChg chg="modNotesTx">
        <pc:chgData name="Michael Hill" userId="41dba03d-e58d-4389-9894-554c10310ba4" providerId="ADAL" clId="{EF23FE1D-A042-481E-AFD7-2A9FB0847F54}" dt="2026-09-11T14:45:18.649" v="0" actId="20577"/>
        <pc:sldMkLst>
          <pc:docMk/>
          <pc:sldMk cId="2192650716" sldId="259"/>
        </pc:sldMkLst>
      </pc:sldChg>
      <pc:sldChg chg="modNotesTx">
        <pc:chgData name="Michael Hill" userId="41dba03d-e58d-4389-9894-554c10310ba4" providerId="ADAL" clId="{EF23FE1D-A042-481E-AFD7-2A9FB0847F54}" dt="2026-09-11T14:45:22.848" v="1" actId="20577"/>
        <pc:sldMkLst>
          <pc:docMk/>
          <pc:sldMk cId="2192650716" sldId="261"/>
        </pc:sldMkLst>
      </pc:sldChg>
      <pc:sldChg chg="modNotesTx">
        <pc:chgData name="Michael Hill" userId="41dba03d-e58d-4389-9894-554c10310ba4" providerId="ADAL" clId="{EF23FE1D-A042-481E-AFD7-2A9FB0847F54}" dt="2026-09-11T14:47:55.093" v="2" actId="20577"/>
        <pc:sldMkLst>
          <pc:docMk/>
          <pc:sldMk cId="2192650716" sldId="263"/>
        </pc:sldMkLst>
      </pc:sldChg>
      <pc:sldChg chg="modNotesTx">
        <pc:chgData name="Michael Hill" userId="41dba03d-e58d-4389-9894-554c10310ba4" providerId="ADAL" clId="{EF23FE1D-A042-481E-AFD7-2A9FB0847F54}" dt="2026-09-11T14:47:59.600" v="3" actId="20577"/>
        <pc:sldMkLst>
          <pc:docMk/>
          <pc:sldMk cId="2192650716" sldId="264"/>
        </pc:sldMkLst>
      </pc:sldChg>
      <pc:sldChg chg="modNotesTx">
        <pc:chgData name="Michael Hill" userId="41dba03d-e58d-4389-9894-554c10310ba4" providerId="ADAL" clId="{EF23FE1D-A042-481E-AFD7-2A9FB0847F54}" dt="2026-09-11T14:48:08.246" v="4" actId="20577"/>
        <pc:sldMkLst>
          <pc:docMk/>
          <pc:sldMk cId="2192650716" sldId="267"/>
        </pc:sldMkLst>
      </pc:sldChg>
      <pc:sldChg chg="modNotesTx">
        <pc:chgData name="Michael Hill" userId="41dba03d-e58d-4389-9894-554c10310ba4" providerId="ADAL" clId="{EF23FE1D-A042-481E-AFD7-2A9FB0847F54}" dt="2026-09-11T14:48:11.430" v="5" actId="20577"/>
        <pc:sldMkLst>
          <pc:docMk/>
          <pc:sldMk cId="2192650716" sldId="26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3D312C-4C72-4394-B122-2C997E071D57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623F10-FA11-439E-B3B6-875335BE1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3023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B7C5-D028-538D-C84B-F4947CA6E1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A18EE4-FBD3-518D-A533-5A7575B505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29B54-2C06-B521-B17D-DF069278D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FDB6A-DE1A-8CD7-36E6-9513398D5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8F74D-F917-FC0E-8063-35DE9993D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955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88439-08F5-44E1-22C0-33087F521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AE85E-1669-EAA4-128D-A6725E334D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7B58B0-4DFA-6A9A-D1B4-BF96071D1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50893E-5088-E7E2-8009-A7FE84A3A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61E31B-B430-476B-4710-0252DB870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239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7F91E-1289-9CFB-7E71-94848C13D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D5F334-0E85-5435-5C19-1CA99F7B3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F2AE98-80AE-D62A-E089-FE49DCBE6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28E38B-44FF-557B-A276-58D60F4CB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F1EAAD-B1C4-28ED-6E49-0D42DD728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952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71961-8DD9-78B4-A9EB-6E7BD8521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44FB85-FD5C-5CEF-4167-5080192405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E35358-0E94-76A9-9AF6-7219BE5FFB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69088F-396E-06B1-953B-F7A916C3E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F87B1-02C7-7241-3B21-39307FE4F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779D4E-1341-8213-B0EA-47AE63A0C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439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EC656-E3BB-087A-B7F4-B11F8C8B8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E94DE0-F7D0-64AF-28E5-7B681CDA0F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1E45B5-9ADF-F7A2-05F2-120A13B781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657BA5-1E45-32F5-A0AA-B7DF5473D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BDD5A8-A59D-08B9-C81D-4ACB127E08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369CEE-536B-48E8-7B72-F11150977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2A961E-4D7B-9D4F-8C48-91688C565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CE6ED0-E024-5291-9F42-982856D90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936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37624-BBE4-4F43-40BE-1C5DBB86F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FD2DED-744A-331F-EB77-5ABCDB0E6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A3ED02-FD63-DFD0-65D2-7872A7B24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50267F-DE78-6F66-2229-FB1D5B1AA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544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A44833-3305-1116-E9F8-6C5A8378D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378047-5589-1EAF-5067-AD2EF9677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0FE9F-3CAF-0634-2E48-4958A1A03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647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1C86E-6E03-A7F6-C6A1-CDAA5F439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423AF1-9D57-2314-FA9D-80825CC52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522C80-BCC2-1F0C-1CD6-79899BC991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34490D-FAC8-13CF-211F-402F2A5AC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F733B4-C215-03AA-BCF9-0EBAA8F07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0D49F0-9737-DB9F-776D-A059B8F79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474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F8913-6DB8-652E-3AE8-7E16FF760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F1CDAF-03E1-DF12-A9B1-4FD15D85B9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B973D7-08B5-4E26-635F-62114CE4BF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33F633-B42C-02E8-FBE9-A044D62B2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6AB502-E8A8-9093-8527-B61DE6F02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3A517D-0BB7-84CA-2B04-6D22F0A30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464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57CDB-541D-DAB3-7030-558DA7187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A6EE05-5077-E454-CADA-3C22480500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0635D-85D2-5EC9-9A79-37473989E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6C204C-6DA9-C91E-0CBF-6F7A79A1E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F552A-D248-C906-CAB8-158CCB31F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550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FED4DA-0C79-4922-B6CA-14EB15C603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BDFD1A-D787-85F1-F785-E1CCF23F95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0549BA-E968-319C-D449-763DCC64A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2D76C2-62F9-A98E-4B4E-3F8847C56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35182B-0D0E-6729-A659-0B21D17AE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383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FB70B0-69C1-BACF-E34C-11B8ABB05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86B4FB-0BB3-9404-1631-FB806D1466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88B363-0843-FCC4-75C3-4817B6FC14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BBDEEA-63FC-4B53-82B2-BA556F03A49A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2BD5FE-B811-5B93-5CF9-F7649D0E6D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C1E091-0FFD-BBDC-7AFB-7DC9119E8F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839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84BFF6B-CD7D-43AB-C049-4D6FC7CD133B}"/>
              </a:ext>
            </a:extLst>
          </p:cNvPr>
          <p:cNvCxnSpPr>
            <a:cxnSpLocks/>
          </p:cNvCxnSpPr>
          <p:nvPr/>
        </p:nvCxnSpPr>
        <p:spPr>
          <a:xfrm>
            <a:off x="5030730" y="4272579"/>
            <a:ext cx="2899265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D3EE458-AB78-EACF-6DF0-D50A5EB70F8C}"/>
              </a:ext>
            </a:extLst>
          </p:cNvPr>
          <p:cNvCxnSpPr>
            <a:cxnSpLocks/>
          </p:cNvCxnSpPr>
          <p:nvPr/>
        </p:nvCxnSpPr>
        <p:spPr>
          <a:xfrm>
            <a:off x="3723623" y="746590"/>
            <a:ext cx="2943877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A04EC88-7086-2F59-99EF-DAF347BF7C5A}"/>
              </a:ext>
            </a:extLst>
          </p:cNvPr>
          <p:cNvCxnSpPr/>
          <p:nvPr/>
        </p:nvCxnSpPr>
        <p:spPr>
          <a:xfrm>
            <a:off x="1486446" y="665766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tar: 16 Points 4">
            <a:extLst>
              <a:ext uri="{FF2B5EF4-FFF2-40B4-BE49-F238E27FC236}">
                <a16:creationId xmlns:a16="http://schemas.microsoft.com/office/drawing/2014/main" id="{ADD58C41-DE5A-3F97-1073-80435EAC10E5}"/>
              </a:ext>
            </a:extLst>
          </p:cNvPr>
          <p:cNvSpPr/>
          <p:nvPr/>
        </p:nvSpPr>
        <p:spPr>
          <a:xfrm>
            <a:off x="237236" y="118746"/>
            <a:ext cx="1915160" cy="1915160"/>
          </a:xfrm>
          <a:prstGeom prst="star16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66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4711EC-5C02-3E0D-2684-97CA50D62B24}"/>
              </a:ext>
            </a:extLst>
          </p:cNvPr>
          <p:cNvSpPr txBox="1"/>
          <p:nvPr/>
        </p:nvSpPr>
        <p:spPr>
          <a:xfrm>
            <a:off x="597534" y="356526"/>
            <a:ext cx="1194562" cy="400110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UNIT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0230C0-C256-6203-A5F6-19223FE071E4}"/>
              </a:ext>
            </a:extLst>
          </p:cNvPr>
          <p:cNvSpPr txBox="1"/>
          <p:nvPr/>
        </p:nvSpPr>
        <p:spPr>
          <a:xfrm>
            <a:off x="572164" y="521583"/>
            <a:ext cx="1194562" cy="1107996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6600" b="1" dirty="0">
                <a:solidFill>
                  <a:schemeClr val="bg1"/>
                </a:solidFill>
              </a:rPr>
              <a:t>01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9215A8-6C2C-22D9-03C2-41E38104D972}"/>
              </a:ext>
            </a:extLst>
          </p:cNvPr>
          <p:cNvSpPr/>
          <p:nvPr/>
        </p:nvSpPr>
        <p:spPr>
          <a:xfrm>
            <a:off x="3750894" y="865330"/>
            <a:ext cx="3527730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THE DRAFT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BE531CC-A060-48E0-AD9D-FE42573EED82}"/>
              </a:ext>
            </a:extLst>
          </p:cNvPr>
          <p:cNvSpPr/>
          <p:nvPr/>
        </p:nvSpPr>
        <p:spPr>
          <a:xfrm>
            <a:off x="-101820" y="-220310"/>
            <a:ext cx="2593271" cy="2593271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B5E4966-129D-0E9B-593A-7270EC6C0EA0}"/>
              </a:ext>
            </a:extLst>
          </p:cNvPr>
          <p:cNvSpPr/>
          <p:nvPr/>
        </p:nvSpPr>
        <p:spPr>
          <a:xfrm rot="21081993">
            <a:off x="3089443" y="359006"/>
            <a:ext cx="1268361" cy="600752"/>
          </a:xfrm>
          <a:prstGeom prst="rect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DAY 7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7204734-3FD9-9A03-0700-AC2D2E083E4F}"/>
              </a:ext>
            </a:extLst>
          </p:cNvPr>
          <p:cNvSpPr/>
          <p:nvPr/>
        </p:nvSpPr>
        <p:spPr>
          <a:xfrm>
            <a:off x="526944" y="2588561"/>
            <a:ext cx="3929014" cy="3942736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Today Is Different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Your Mechanic Bank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Shortlist Three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Client Cards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Draft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Product Analysis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Design Folder</a:t>
            </a:r>
          </a:p>
        </p:txBody>
      </p:sp>
      <p:sp>
        <p:nvSpPr>
          <p:cNvPr id="17" name="Flowchart: Data 16">
            <a:extLst>
              <a:ext uri="{FF2B5EF4-FFF2-40B4-BE49-F238E27FC236}">
                <a16:creationId xmlns:a16="http://schemas.microsoft.com/office/drawing/2014/main" id="{76E17776-D541-80F3-BCFD-CA5A7CCC3A3F}"/>
              </a:ext>
            </a:extLst>
          </p:cNvPr>
          <p:cNvSpPr/>
          <p:nvPr/>
        </p:nvSpPr>
        <p:spPr>
          <a:xfrm>
            <a:off x="2914673" y="2288185"/>
            <a:ext cx="2301362" cy="600752"/>
          </a:xfrm>
          <a:prstGeom prst="flowChartInputOutpu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AGENDA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6BB1E97-9746-97B6-FA11-641333A2EC2E}"/>
              </a:ext>
            </a:extLst>
          </p:cNvPr>
          <p:cNvSpPr/>
          <p:nvPr/>
        </p:nvSpPr>
        <p:spPr>
          <a:xfrm>
            <a:off x="5407742" y="2444654"/>
            <a:ext cx="6016298" cy="1713021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Phones into </a:t>
            </a:r>
            <a:r>
              <a:rPr lang="en-US" sz="2800" b="1" i="1" dirty="0">
                <a:latin typeface="Chiller" panose="04020404031007020602" pitchFamily="82" charset="0"/>
              </a:rPr>
              <a:t>The </a:t>
            </a:r>
            <a:r>
              <a:rPr lang="en-US" sz="2800" b="1" i="1" u="sng" dirty="0">
                <a:latin typeface="Chiller" panose="04020404031007020602" pitchFamily="82" charset="0"/>
              </a:rPr>
              <a:t>Holding</a:t>
            </a:r>
            <a:r>
              <a:rPr lang="en-US" sz="2800" b="1" i="1" dirty="0">
                <a:latin typeface="Chiller" panose="04020404031007020602" pitchFamily="82" charset="0"/>
              </a:rPr>
              <a:t> Cell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Laptops open from the start. You need them all period today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b="1" i="1" dirty="0">
              <a:latin typeface="Chiller" panose="04020404031007020602" pitchFamily="82" charset="0"/>
            </a:endParaRPr>
          </a:p>
        </p:txBody>
      </p:sp>
      <p:sp>
        <p:nvSpPr>
          <p:cNvPr id="26" name="Arrow: Pentagon 25">
            <a:extLst>
              <a:ext uri="{FF2B5EF4-FFF2-40B4-BE49-F238E27FC236}">
                <a16:creationId xmlns:a16="http://schemas.microsoft.com/office/drawing/2014/main" id="{4D20C643-FE77-D5F1-944D-EFA6A4E18384}"/>
              </a:ext>
            </a:extLst>
          </p:cNvPr>
          <p:cNvSpPr/>
          <p:nvPr/>
        </p:nvSpPr>
        <p:spPr>
          <a:xfrm flipH="1">
            <a:off x="9835526" y="2157823"/>
            <a:ext cx="2155485" cy="765223"/>
          </a:xfrm>
          <a:prstGeom prst="homePlate">
            <a:avLst/>
          </a:prstGeom>
          <a:solidFill>
            <a:schemeClr val="accent4">
              <a:lumMod val="75000"/>
            </a:schemeClr>
          </a:solidFill>
          <a:ln w="5715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REMINDERS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2A3F4D-F474-B915-E173-B56E57D3CE69}"/>
              </a:ext>
            </a:extLst>
          </p:cNvPr>
          <p:cNvSpPr txBox="1"/>
          <p:nvPr/>
        </p:nvSpPr>
        <p:spPr>
          <a:xfrm>
            <a:off x="411769" y="1394526"/>
            <a:ext cx="1580232" cy="253916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050" b="1" dirty="0">
                <a:solidFill>
                  <a:schemeClr val="bg1"/>
                </a:solidFill>
              </a:rPr>
              <a:t>GAMES OF LOGIC</a:t>
            </a:r>
          </a:p>
        </p:txBody>
      </p:sp>
    </p:spTree>
    <p:extLst>
      <p:ext uri="{BB962C8B-B14F-4D97-AF65-F5344CB8AC3E}">
        <p14:creationId xmlns:p14="http://schemas.microsoft.com/office/powerpoint/2010/main" val="3346394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2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7419155" y="-236116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8100000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TODAY IS DIFFERENT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No new computer science content today!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Today you </a:t>
            </a:r>
            <a:r>
              <a:rPr lang="en-US" sz="2000" b="1" dirty="0"/>
              <a:t>choose what you are building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Playtest 1 is </a:t>
            </a:r>
            <a:r>
              <a:rPr lang="en-US" sz="2000" b="1" dirty="0"/>
              <a:t>Day 12 – September 29</a:t>
            </a:r>
            <a:r>
              <a:rPr lang="en-US" sz="2000" dirty="0"/>
              <a:t>. Your first real players are four lessons away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By the end of the period every one of you owns a </a:t>
            </a:r>
            <a:r>
              <a:rPr lang="en-US" sz="2000" b="1" dirty="0"/>
              <a:t>concept</a:t>
            </a:r>
            <a:r>
              <a:rPr lang="en-US" sz="2000" dirty="0"/>
              <a:t> and a </a:t>
            </a:r>
            <a:r>
              <a:rPr lang="en-US" sz="2000" b="1" dirty="0"/>
              <a:t>format</a:t>
            </a:r>
            <a:endParaRPr lang="en-US" sz="2000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Broken Computer Png">
            <a:extLst>
              <a:ext uri="{FF2B5EF4-FFF2-40B4-BE49-F238E27FC236}">
                <a16:creationId xmlns:a16="http://schemas.microsoft.com/office/drawing/2014/main" id="{446D5CFB-D1D4-3475-9A7E-A8ABD61D64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9392" y="3698943"/>
            <a:ext cx="3776472" cy="283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8219155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8900000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THE SITUATION, AGAIN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Advisory periods and club meetings end with </a:t>
            </a:r>
            <a:r>
              <a:rPr lang="en-US" sz="2000" b="1" dirty="0"/>
              <a:t>fifteen dead minutes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The games on the shelf take longer to explain than they take to play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Your clients are </a:t>
            </a:r>
            <a:r>
              <a:rPr lang="en-US" sz="2000" b="1" dirty="0"/>
              <a:t>the other people in this room</a:t>
            </a:r>
            <a:r>
              <a:rPr lang="en-US" sz="2000" dirty="0"/>
              <a:t>. Not a hypothetical person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They are sitting here right now, which is convenient, because you are about to interview them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15 Minute Countdown. Stopwatch, timer icons set. illustration 53444674 PNG">
            <a:extLst>
              <a:ext uri="{FF2B5EF4-FFF2-40B4-BE49-F238E27FC236}">
                <a16:creationId xmlns:a16="http://schemas.microsoft.com/office/drawing/2014/main" id="{6B1899A1-0AF7-97A9-82D3-F3D869132D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6123" y="3573609"/>
            <a:ext cx="2957688" cy="2957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9619155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10300000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YOUR RESEARCH ALREADY EXISTS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Open the </a:t>
            </a:r>
            <a:r>
              <a:rPr lang="en-US" sz="2000" b="1" dirty="0"/>
              <a:t>Mechanic Bank</a:t>
            </a:r>
            <a:r>
              <a:rPr lang="en-US" sz="2000" dirty="0"/>
              <a:t>. Go to </a:t>
            </a:r>
            <a:r>
              <a:rPr lang="en-US" sz="2000" i="1" dirty="0"/>
              <a:t>your</a:t>
            </a:r>
            <a:r>
              <a:rPr lang="en-US" sz="2000" dirty="0"/>
              <a:t> tab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Four entries. Two mechanics each. </a:t>
            </a:r>
            <a:r>
              <a:rPr lang="en-US" sz="2000" b="1" dirty="0"/>
              <a:t>Eight ideas you wrote yourself</a:t>
            </a:r>
            <a:r>
              <a:rPr lang="en-US" sz="2000" dirty="0"/>
              <a:t> since Day 3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Go through all of these before you think of any new ideas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Nobody in this room is starting from nothing today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6219155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6900000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SHORTLIST THREE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The grid is </a:t>
            </a:r>
            <a:r>
              <a:rPr lang="en-US" sz="2000" b="1" dirty="0"/>
              <a:t>eight forms across, four concepts down</a:t>
            </a:r>
            <a:r>
              <a:rPr lang="en-US" sz="2000" dirty="0"/>
              <a:t>. Thirty-two cells.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Pick </a:t>
            </a:r>
            <a:r>
              <a:rPr lang="en-US" sz="2000" b="1" dirty="0"/>
              <a:t>three cells</a:t>
            </a:r>
            <a:r>
              <a:rPr lang="en-US" sz="2000" dirty="0"/>
              <a:t>, in order. First, second, third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Your first choice needs one sentence: </a:t>
            </a:r>
            <a:r>
              <a:rPr lang="en-US" sz="2000" i="1" dirty="0"/>
              <a:t>why does this concept need this form?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Not "it would be cool". Why this </a:t>
            </a:r>
            <a:r>
              <a:rPr lang="en-US" sz="2000" b="1" dirty="0"/>
              <a:t>form</a:t>
            </a:r>
            <a:r>
              <a:rPr lang="en-US" sz="2000" dirty="0"/>
              <a:t> and not a different one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golden number 3 11297442 PNG">
            <a:extLst>
              <a:ext uri="{FF2B5EF4-FFF2-40B4-BE49-F238E27FC236}">
                <a16:creationId xmlns:a16="http://schemas.microsoft.com/office/drawing/2014/main" id="{92150321-6123-73AD-3D82-663DC0A474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1963" y="3187200"/>
            <a:ext cx="3414384" cy="3435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9619155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10300000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WHAT A GOOD PAIRING LOOKS LIKE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Two examples, and neither is on your grid, so you cannot take them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Sorting algorithms × trick-taking</a:t>
            </a:r>
            <a:r>
              <a:rPr lang="en-US" sz="2000" dirty="0"/>
              <a:t> - a trick is a comparison between two cards, and a sort is nothing but repeated comparisons. The form </a:t>
            </a:r>
            <a:r>
              <a:rPr lang="en-US" sz="2000" i="1" dirty="0"/>
              <a:t>is</a:t>
            </a:r>
            <a:r>
              <a:rPr lang="en-US" sz="2000" dirty="0"/>
              <a:t> the concept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Network routing × tile-laying</a:t>
            </a:r>
            <a:r>
              <a:rPr lang="en-US" sz="2000" dirty="0"/>
              <a:t> - routing is about paths and congestion, which are spatial, and tile-laying is the spatial form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In both, swap the form and the concept stops working. That is the test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8619155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9300000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THE LOAD-BEARING TEST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Delete the computer science from your idea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Is there still a game?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If yes, you have a theme. Send it back and start again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If the whole thing collapses, the concept is load-bearing and you are clear to build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This goes into your specification on Day 9 as a </a:t>
            </a:r>
            <a:r>
              <a:rPr lang="en-US" sz="2000" b="1" dirty="0"/>
              <a:t>mandatory success criterion</a:t>
            </a:r>
            <a:r>
              <a:rPr lang="en-US" sz="2000" dirty="0"/>
              <a:t>, so you will be tested against it either way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Removing a Load-Bearing Wall in Ontario | Structural Engineer &amp; Permit ...">
            <a:extLst>
              <a:ext uri="{FF2B5EF4-FFF2-40B4-BE49-F238E27FC236}">
                <a16:creationId xmlns:a16="http://schemas.microsoft.com/office/drawing/2014/main" id="{D98FB043-AF34-AA6B-E575-FD85C6A1E4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1800" y="3739896"/>
            <a:ext cx="1891094" cy="2521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5019155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5700000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CLIENT CARDS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Top half of the card only, and answer about </a:t>
            </a:r>
            <a:r>
              <a:rPr lang="en-US" sz="2000" b="1" dirty="0"/>
              <a:t>yourself</a:t>
            </a:r>
            <a:r>
              <a:rPr lang="en-US" sz="2000" dirty="0"/>
              <a:t>, honestly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How long are your dead minutes? How many people are usually around? What is the longest rules explanation you will sit through? Name a game you refused to play twice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Every card goes on the front desk and we photograph the whole set at once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That photo is your primary research, and it goes on slide 6 of your folder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9419155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10100000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THE DRAFT: HOW IT WORKS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Bottom half of the card.</a:t>
            </a:r>
            <a:r>
              <a:rPr lang="en-US" sz="2000" dirty="0"/>
              <a:t> First, second, third choice, plus your one sentence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All cards in </a:t>
            </a:r>
            <a:r>
              <a:rPr lang="en-US" sz="2000" b="1" dirty="0"/>
              <a:t>at the same time</a:t>
            </a:r>
            <a:endParaRPr lang="en-US" sz="200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Uncontested cells </a:t>
            </a:r>
            <a:r>
              <a:rPr lang="en-US" sz="2000" b="1" dirty="0"/>
              <a:t>lock immediately</a:t>
            </a:r>
            <a:r>
              <a:rPr lang="en-US" sz="2000" dirty="0"/>
              <a:t> and I write your name in the grid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Most of you will get your first choice. There are thirty-two cells after all.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9619155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10300000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THE DRAFT: CONTESTED CELLS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Two people on the same cell: </a:t>
            </a:r>
            <a:r>
              <a:rPr lang="en-US" sz="2000" b="1" dirty="0"/>
              <a:t>read your sentence</a:t>
            </a:r>
            <a:endParaRPr lang="en-US" sz="200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You are not pitching your game. You are answering one question: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i="1" dirty="0"/>
              <a:t>Why does this concept need this form?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Better sentence takes the cell. The other one drops to their second choice, which will be free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Tiebreak, if you are both good: explain why you can’t do this idea in any other format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824 Debate Illustrations - Free Download in SVG, PNG, EPS | IconScout">
            <a:extLst>
              <a:ext uri="{FF2B5EF4-FFF2-40B4-BE49-F238E27FC236}">
                <a16:creationId xmlns:a16="http://schemas.microsoft.com/office/drawing/2014/main" id="{92932B91-1965-E69A-321D-1E82A73935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5070" y="3921817"/>
            <a:ext cx="2509023" cy="2481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7819155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8500000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NOW GO AND RESEARCH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Twenty-five minutes, and the </a:t>
            </a:r>
            <a:r>
              <a:rPr lang="en-US" sz="2000" b="1" dirty="0"/>
              <a:t>first three are planning</a:t>
            </a:r>
            <a:r>
              <a:rPr lang="en-US" sz="2000" dirty="0"/>
              <a:t>. No internet yet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Write down what you need to find out, and which of those matters most. That is folder slide 4, next time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Then go. You know what you are building, so the research is </a:t>
            </a:r>
            <a:r>
              <a:rPr lang="en-US" sz="2000" b="1" dirty="0"/>
              <a:t>targeted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Find </a:t>
            </a:r>
            <a:r>
              <a:rPr lang="en-US" sz="2000" b="1" dirty="0"/>
              <a:t>two existing games</a:t>
            </a:r>
            <a:r>
              <a:rPr lang="en-US" sz="2000" dirty="0"/>
              <a:t> that do something near your cell, and take them apart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Minutes to teach. Minutes to play. Where the real decision sits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And the one that matters: </a:t>
            </a:r>
            <a:r>
              <a:rPr lang="en-US" sz="2000" b="1" dirty="0"/>
              <a:t>what does this game do that mine will have to do?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→ Folder slides 8 and 9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Download Computer Nerd Png - Nerd On Computer - Full Size PNG Image ...">
            <a:extLst>
              <a:ext uri="{FF2B5EF4-FFF2-40B4-BE49-F238E27FC236}">
                <a16:creationId xmlns:a16="http://schemas.microsoft.com/office/drawing/2014/main" id="{8937BC0F-B72C-6A87-9154-9CE710A755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607" y="4513660"/>
            <a:ext cx="2484548" cy="1820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7419155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8100000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YOUR DESIGN FOLDER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One Google Slides deck. </a:t>
            </a:r>
            <a:r>
              <a:rPr lang="en-US" sz="2000" b="1" dirty="0"/>
              <a:t>One link, one file, nothing to lose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Every slide is already titled. You’re just filling it in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One slide per entry, </a:t>
            </a:r>
            <a:r>
              <a:rPr lang="en-US" sz="2000" b="1" dirty="0"/>
              <a:t>dated</a:t>
            </a:r>
            <a:r>
              <a:rPr lang="en-US" sz="2000" dirty="0"/>
              <a:t>. Photograph paperwork and drop it straight in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This is what gets submitted on </a:t>
            </a:r>
            <a:r>
              <a:rPr lang="en-US" sz="2000" b="1" dirty="0"/>
              <a:t>13 October</a:t>
            </a:r>
            <a:r>
              <a:rPr lang="en-US" sz="2000" dirty="0"/>
              <a:t> and it is most of your grade for the unit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6619155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7300000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BEFORE YOU LEAVE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Slide 1 - your name and your </a:t>
            </a:r>
            <a:r>
              <a:rPr lang="en-US" sz="2000" b="1" dirty="0"/>
              <a:t>locked claim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Slide 3 - the design situation, in your own words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Slide 6 - the </a:t>
            </a:r>
            <a:r>
              <a:rPr lang="en-US" sz="2000" b="1" dirty="0"/>
              <a:t>photo of the client cards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Slide 7 - three things the client data actually tells you. Numbers, not impressions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Slides 8 and 9 - your two product analyses, started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Slide 10 - your </a:t>
            </a:r>
            <a:r>
              <a:rPr lang="en-US" sz="2000" b="1" dirty="0"/>
              <a:t>Day 2 dissection sheet</a:t>
            </a:r>
            <a:r>
              <a:rPr lang="en-US" sz="2000" dirty="0"/>
              <a:t>, photographed in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Slide 4 stays empty for now. We do the research plan next time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3019155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3700000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CLOSING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You have a concept, a form, a client, and data from your peers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Nobody else in this room is building your game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i="1" dirty="0"/>
              <a:t>Next time: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The </a:t>
            </a:r>
            <a:r>
              <a:rPr lang="en-US" sz="2000" b="1" dirty="0"/>
              <a:t>design brief</a:t>
            </a:r>
            <a:r>
              <a:rPr lang="en-US" sz="2000" dirty="0"/>
              <a:t>. Everything you gathered today, argued into one page - your first summative - </a:t>
            </a:r>
            <a:r>
              <a:rPr lang="en-US" sz="2000" b="1" dirty="0"/>
              <a:t>Criterion A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MYP Custom">
      <a:dk1>
        <a:srgbClr val="4B5358"/>
      </a:dk1>
      <a:lt1>
        <a:sysClr val="window" lastClr="FFFFFF"/>
      </a:lt1>
      <a:dk2>
        <a:srgbClr val="4B5358"/>
      </a:dk2>
      <a:lt2>
        <a:srgbClr val="E8E8E8"/>
      </a:lt2>
      <a:accent1>
        <a:srgbClr val="60B2E5"/>
      </a:accent1>
      <a:accent2>
        <a:srgbClr val="F49390"/>
      </a:accent2>
      <a:accent3>
        <a:srgbClr val="AEF6C7"/>
      </a:accent3>
      <a:accent4>
        <a:srgbClr val="FFC857"/>
      </a:accent4>
      <a:accent5>
        <a:srgbClr val="96607D"/>
      </a:accent5>
      <a:accent6>
        <a:srgbClr val="467886"/>
      </a:accent6>
      <a:hlink>
        <a:srgbClr val="0070C0"/>
      </a:hlink>
      <a:folHlink>
        <a:srgbClr val="002060"/>
      </a:folHlink>
    </a:clrScheme>
    <a:fontScheme name="Custom 1">
      <a:majorFont>
        <a:latin typeface="Bahnschrift"/>
        <a:ea typeface=""/>
        <a:cs typeface=""/>
      </a:majorFont>
      <a:minorFont>
        <a:latin typeface="Bahnschrif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lumMod val="75000"/>
          </a:schemeClr>
        </a:solidFill>
        <a:ln w="76200">
          <a:solidFill>
            <a:schemeClr val="accent2">
              <a:lumMod val="50000"/>
            </a:schemeClr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401</TotalTime>
  <Words>929</Words>
  <Application>Microsoft Office PowerPoint</Application>
  <PresentationFormat>Widescreen</PresentationFormat>
  <Paragraphs>89</Paragraphs>
  <Slides>14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Arial</vt:lpstr>
      <vt:lpstr>Bahnschrift</vt:lpstr>
      <vt:lpstr>Chiller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Hill</dc:creator>
  <cp:lastModifiedBy>Michael Hill</cp:lastModifiedBy>
  <cp:revision>7</cp:revision>
  <dcterms:created xsi:type="dcterms:W3CDTF">2026-08-13T18:52:07Z</dcterms:created>
  <dcterms:modified xsi:type="dcterms:W3CDTF">2026-09-11T14:48:12Z</dcterms:modified>
</cp:coreProperties>
</file>