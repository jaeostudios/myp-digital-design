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5" r:id="rId6"/>
    <p:sldId id="273" r:id="rId7"/>
    <p:sldId id="276" r:id="rId8"/>
    <p:sldId id="274" r:id="rId9"/>
    <p:sldId id="275" r:id="rId10"/>
    <p:sldId id="277" r:id="rId11"/>
    <p:sldId id="271" r:id="rId12"/>
    <p:sldId id="278" r:id="rId13"/>
    <p:sldId id="270" r:id="rId14"/>
    <p:sldId id="272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33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80" autoAdjust="0"/>
    <p:restoredTop sz="92597" autoAdjust="0"/>
  </p:normalViewPr>
  <p:slideViewPr>
    <p:cSldViewPr snapToGrid="0">
      <p:cViewPr varScale="1">
        <p:scale>
          <a:sx n="59" d="100"/>
          <a:sy n="59" d="100"/>
        </p:scale>
        <p:origin x="42" y="9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538AE4F-EF52-4E9D-9FB8-919EC6497697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DADDB7A-172D-4097-A132-12C8EB780B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51618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Live-code this and run it twice, once for each branch. Point at the four spaces: they are not decoration, they are how Python knows which lines are inside the if.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Break the slide 6 program live, one bug at a time, and read the last line of each error aloud. Students should learn to recognise these messages on sight.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Trace it with 95, 85 and 40. Then ask: with 95, why does it not also print B, when 95 &gt;= 80 is True as well? Because the chain stops at the first True branch.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Answer: Mild. 30 &gt; 10 is True, so the first branch runs and the chain stops before it ever checks temp &gt; 25. The fix is to put the most specific condition first: check &gt; 25 before &gt; 10.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This is Lab Section 4 and the main task. Read the checklist together, then show the sample run on the next slide. Students should test with inputs that reach every branch, including a choice that is not on the menu.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Callout answer: in the sample solution, an unknown size falls through to else, which prints a message and charges for a medium instead. Push students to choose deliberately what their own else does.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Exit answer: "Under 18", which is wrong for an 18-year-old. 18 &gt; 18 is False. The fix is &gt;=. This is the classic off-by-one boundary bug, and it shows why testing the exact boundary value matters.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Quick-fire: read a definition, students call out the term.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Share the links on ManageBac for anyone who wants more practice.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DBB7C5-D028-538D-C84B-F4947CA6E1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3A18EE4-FBD3-518D-A533-5A7575B5057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D29B54-2C06-B521-B17D-DF069278D6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BBDEEA-63FC-4B53-82B2-BA556F03A49A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5FDB6A-DE1A-8CD7-36E6-9513398D5A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18F74D-F917-FC0E-8063-35DE9993DD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44BB0E-F10B-4C71-A8E6-97624117C0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29556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E88439-08F5-44E1-22C0-33087F5210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5AE85E-1669-EAA4-128D-A6725E334D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7B58B0-4DFA-6A9A-D1B4-BF96071D1A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BBDEEA-63FC-4B53-82B2-BA556F03A49A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50893E-5088-E7E2-8009-A7FE84A3A0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61E31B-B430-476B-4710-0252DB8702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44BB0E-F10B-4C71-A8E6-97624117C0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32397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D7F91E-1289-9CFB-7E71-94848C13DA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CD5F334-0E85-5435-5C19-1CA99F7B36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F2AE98-80AE-D62A-E089-FE49DCBE60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BBDEEA-63FC-4B53-82B2-BA556F03A49A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28E38B-44FF-557B-A276-58D60F4CB1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F1EAAD-B1C4-28ED-6E49-0D42DD7280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44BB0E-F10B-4C71-A8E6-97624117C0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69523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A71961-8DD9-78B4-A9EB-6E7BD85211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44FB85-FD5C-5CEF-4167-5080192405B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8E35358-0E94-76A9-9AF6-7219BE5FFB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069088F-396E-06B1-953B-F7A916C3E6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BBDEEA-63FC-4B53-82B2-BA556F03A49A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D6F87B1-02C7-7241-3B21-39307FE4F1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9779D4E-1341-8213-B0EA-47AE63A0C8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44BB0E-F10B-4C71-A8E6-97624117C0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54391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BEC656-E3BB-087A-B7F4-B11F8C8B81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E94DE0-F7D0-64AF-28E5-7B681CDA0F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41E45B5-9ADF-F7A2-05F2-120A13B781C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D657BA5-1E45-32F5-A0AA-B7DF5473D30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9BDD5A8-A59D-08B9-C81D-4ACB127E08B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2369CEE-536B-48E8-7B72-F11150977F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BBDEEA-63FC-4B53-82B2-BA556F03A49A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52A961E-4D7B-9D4F-8C48-91688C565A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2CE6ED0-E024-5291-9F42-982856D907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44BB0E-F10B-4C71-A8E6-97624117C0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09369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E37624-BBE4-4F43-40BE-1C5DBB86FC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2FD2DED-744A-331F-EB77-5ABCDB0E6A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BBDEEA-63FC-4B53-82B2-BA556F03A49A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9A3ED02-FD63-DFD0-65D2-7872A7B240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A50267F-DE78-6F66-2229-FB1D5B1AA9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44BB0E-F10B-4C71-A8E6-97624117C0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35448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9A44833-3305-1116-E9F8-6C5A8378D3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BBDEEA-63FC-4B53-82B2-BA556F03A49A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9378047-5589-1EAF-5067-AD2EF96775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3C0FE9F-3CAF-0634-2E48-4958A1A037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44BB0E-F10B-4C71-A8E6-97624117C0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56470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81C86E-6E03-A7F6-C6A1-CDAA5F4392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423AF1-9D57-2314-FA9D-80825CC52C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3522C80-BCC2-1F0C-1CD6-79899BC9911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A34490D-FAC8-13CF-211F-402F2A5ACD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BBDEEA-63FC-4B53-82B2-BA556F03A49A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BF733B4-C215-03AA-BCF9-0EBAA8F074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F0D49F0-9737-DB9F-776D-A059B8F79A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44BB0E-F10B-4C71-A8E6-97624117C0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44746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DF8913-6DB8-652E-3AE8-7E16FF7604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1F1CDAF-03E1-DF12-A9B1-4FD15D85B9A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1B973D7-08B5-4E26-635F-62114CE4BF6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833F633-B42C-02E8-FBE9-A044D62B26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BBDEEA-63FC-4B53-82B2-BA556F03A49A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16AB502-E8A8-9093-8527-B61DE6F021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03A517D-0BB7-84CA-2B04-6D22F0A301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44BB0E-F10B-4C71-A8E6-97624117C0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84648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C57CDB-541D-DAB3-7030-558DA71876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9A6EE05-5077-E454-CADA-3C224805000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50635D-85D2-5EC9-9A79-37473989E1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BBDEEA-63FC-4B53-82B2-BA556F03A49A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6C204C-6DA9-C91E-0CBF-6F7A79A1E2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CF552A-D248-C906-CAB8-158CCB31F5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44BB0E-F10B-4C71-A8E6-97624117C0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95500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FFED4DA-0C79-4922-B6CA-14EB15C6039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ABDFD1A-D787-85F1-F785-E1CCF23F958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0549BA-E968-319C-D449-763DCC64AA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BBDEEA-63FC-4B53-82B2-BA556F03A49A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2D76C2-62F9-A98E-4B4E-3F8847C569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35182B-0D0E-6729-A659-0B21D17AE7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44BB0E-F10B-4C71-A8E6-97624117C0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13836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DFB70B0-69C1-BACF-E34C-11B8ABB050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886B4FB-0BB3-9404-1631-FB806D1466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88B363-0843-FCC4-75C3-4817B6FC147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8BBDEEA-63FC-4B53-82B2-BA556F03A49A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2BD5FE-B811-5B93-5CF9-F7649D0E6D7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C1E091-0FFD-BBDC-7AFB-7DC9119E8FC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444BB0E-F10B-4C71-A8E6-97624117C0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48397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gi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gi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hyperlink" Target="https://docs.python.org/3/tutorial/controlflow.html#if-statements" TargetMode="External"/><Relationship Id="rId7" Type="http://schemas.openxmlformats.org/officeDocument/2006/relationships/hyperlink" Target="https://realpython.com/python-conditional-statements/" TargetMode="Externa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www.w3schools.com/python/python_booleans.asp" TargetMode="External"/><Relationship Id="rId5" Type="http://schemas.openxmlformats.org/officeDocument/2006/relationships/hyperlink" Target="https://www.w3schools.com/python/python_conditions.asp" TargetMode="External"/><Relationship Id="rId4" Type="http://schemas.openxmlformats.org/officeDocument/2006/relationships/hyperlink" Target="https://docs.python.org/3/library/stdtypes.html#comparisons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184BFF6B-CD7D-43AB-C049-4D6FC7CD133B}"/>
              </a:ext>
            </a:extLst>
          </p:cNvPr>
          <p:cNvCxnSpPr>
            <a:cxnSpLocks/>
          </p:cNvCxnSpPr>
          <p:nvPr/>
        </p:nvCxnSpPr>
        <p:spPr>
          <a:xfrm>
            <a:off x="5076449" y="4304752"/>
            <a:ext cx="2899265" cy="0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AD3EE458-AB78-EACF-6DF0-D50A5EB70F8C}"/>
              </a:ext>
            </a:extLst>
          </p:cNvPr>
          <p:cNvCxnSpPr>
            <a:cxnSpLocks/>
          </p:cNvCxnSpPr>
          <p:nvPr/>
        </p:nvCxnSpPr>
        <p:spPr>
          <a:xfrm>
            <a:off x="3723623" y="746590"/>
            <a:ext cx="2943877" cy="0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BA04EC88-7086-2F59-99EF-DAF347BF7C5A}"/>
              </a:ext>
            </a:extLst>
          </p:cNvPr>
          <p:cNvCxnSpPr/>
          <p:nvPr/>
        </p:nvCxnSpPr>
        <p:spPr>
          <a:xfrm>
            <a:off x="1486446" y="6657668"/>
            <a:ext cx="3805083" cy="0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Star: 16 Points 4">
            <a:extLst>
              <a:ext uri="{FF2B5EF4-FFF2-40B4-BE49-F238E27FC236}">
                <a16:creationId xmlns:a16="http://schemas.microsoft.com/office/drawing/2014/main" id="{ADD58C41-DE5A-3F97-1073-80435EAC10E5}"/>
              </a:ext>
            </a:extLst>
          </p:cNvPr>
          <p:cNvSpPr/>
          <p:nvPr/>
        </p:nvSpPr>
        <p:spPr>
          <a:xfrm>
            <a:off x="237236" y="118746"/>
            <a:ext cx="1915160" cy="1915160"/>
          </a:xfrm>
          <a:prstGeom prst="star16">
            <a:avLst/>
          </a:prstGeom>
          <a:solidFill>
            <a:schemeClr val="accent3">
              <a:lumMod val="50000"/>
            </a:schemeClr>
          </a:solidFill>
          <a:ln w="57150">
            <a:solidFill>
              <a:schemeClr val="accent3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6600" b="1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64711EC-5C02-3E0D-2684-97CA50D62B24}"/>
              </a:ext>
            </a:extLst>
          </p:cNvPr>
          <p:cNvSpPr txBox="1"/>
          <p:nvPr/>
        </p:nvSpPr>
        <p:spPr>
          <a:xfrm>
            <a:off x="597534" y="356526"/>
            <a:ext cx="1194562" cy="400110"/>
          </a:xfrm>
          <a:prstGeom prst="rect">
            <a:avLst/>
          </a:prstGeom>
          <a:noFill/>
          <a:ln w="57150"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en-US" sz="2000" b="1" dirty="0">
                <a:solidFill>
                  <a:schemeClr val="bg1"/>
                </a:solidFill>
              </a:rPr>
              <a:t>UNIT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30230C0-C256-6203-A5F6-19223FE071E4}"/>
              </a:ext>
            </a:extLst>
          </p:cNvPr>
          <p:cNvSpPr txBox="1"/>
          <p:nvPr/>
        </p:nvSpPr>
        <p:spPr>
          <a:xfrm>
            <a:off x="572164" y="521583"/>
            <a:ext cx="1194562" cy="1107996"/>
          </a:xfrm>
          <a:prstGeom prst="rect">
            <a:avLst/>
          </a:prstGeom>
          <a:noFill/>
          <a:ln w="57150"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en-US" sz="6600" b="1" dirty="0">
                <a:solidFill>
                  <a:schemeClr val="bg1"/>
                </a:solidFill>
              </a:rPr>
              <a:t>02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19215A8-6C2C-22D9-03C2-41E38104D972}"/>
              </a:ext>
            </a:extLst>
          </p:cNvPr>
          <p:cNvSpPr/>
          <p:nvPr/>
        </p:nvSpPr>
        <p:spPr>
          <a:xfrm>
            <a:off x="3750893" y="865330"/>
            <a:ext cx="4937760" cy="911542"/>
          </a:xfrm>
          <a:prstGeom prst="rect">
            <a:avLst/>
          </a:prstGeom>
          <a:solidFill>
            <a:schemeClr val="accent3">
              <a:lumMod val="50000"/>
            </a:schemeClr>
          </a:solidFill>
          <a:ln w="57150">
            <a:solidFill>
              <a:schemeClr val="accent3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b="1" dirty="0"/>
              <a:t>CONDITIONALS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EBE531CC-A060-48E0-AD9D-FE42573EED82}"/>
              </a:ext>
            </a:extLst>
          </p:cNvPr>
          <p:cNvSpPr/>
          <p:nvPr/>
        </p:nvSpPr>
        <p:spPr>
          <a:xfrm>
            <a:off x="-94751" y="-221055"/>
            <a:ext cx="2593271" cy="2593271"/>
          </a:xfrm>
          <a:prstGeom prst="ellipse">
            <a:avLst/>
          </a:prstGeom>
          <a:noFill/>
          <a:ln w="57150">
            <a:solidFill>
              <a:schemeClr val="accent3">
                <a:lumMod val="25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B5E4966-129D-0E9B-593A-7270EC6C0EA0}"/>
              </a:ext>
            </a:extLst>
          </p:cNvPr>
          <p:cNvSpPr/>
          <p:nvPr/>
        </p:nvSpPr>
        <p:spPr>
          <a:xfrm rot="21081993">
            <a:off x="3089443" y="359006"/>
            <a:ext cx="1268361" cy="600752"/>
          </a:xfrm>
          <a:prstGeom prst="rect">
            <a:avLst/>
          </a:prstGeom>
          <a:solidFill>
            <a:schemeClr val="accent2">
              <a:lumMod val="75000"/>
            </a:schemeClr>
          </a:solidFill>
          <a:ln w="57150"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DAY 22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7204734-3FD9-9A03-0700-AC2D2E083E4F}"/>
              </a:ext>
            </a:extLst>
          </p:cNvPr>
          <p:cNvSpPr/>
          <p:nvPr/>
        </p:nvSpPr>
        <p:spPr>
          <a:xfrm>
            <a:off x="526944" y="2588561"/>
            <a:ext cx="3929014" cy="3942736"/>
          </a:xfrm>
          <a:prstGeom prst="rect">
            <a:avLst/>
          </a:prstGeom>
          <a:solidFill>
            <a:schemeClr val="accent3">
              <a:lumMod val="50000"/>
            </a:schemeClr>
          </a:solidFill>
          <a:ln w="57150">
            <a:solidFill>
              <a:schemeClr val="accent3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dirty="0"/>
              <a:t>Warm Up</a:t>
            </a:r>
          </a:p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dirty="0"/>
              <a:t>True or False?</a:t>
            </a:r>
          </a:p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dirty="0"/>
              <a:t>if / else</a:t>
            </a:r>
          </a:p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dirty="0"/>
              <a:t>elif</a:t>
            </a:r>
          </a:p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dirty="0"/>
              <a:t>The Order Kiosk</a:t>
            </a:r>
          </a:p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dirty="0"/>
              <a:t>Close</a:t>
            </a:r>
          </a:p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dirty="0"/>
              <a:t>Vocabulary</a:t>
            </a:r>
          </a:p>
        </p:txBody>
      </p:sp>
      <p:sp>
        <p:nvSpPr>
          <p:cNvPr id="17" name="Flowchart: Data 16">
            <a:extLst>
              <a:ext uri="{FF2B5EF4-FFF2-40B4-BE49-F238E27FC236}">
                <a16:creationId xmlns:a16="http://schemas.microsoft.com/office/drawing/2014/main" id="{76E17776-D541-80F3-BCFD-CA5A7CCC3A3F}"/>
              </a:ext>
            </a:extLst>
          </p:cNvPr>
          <p:cNvSpPr/>
          <p:nvPr/>
        </p:nvSpPr>
        <p:spPr>
          <a:xfrm>
            <a:off x="2914673" y="2288185"/>
            <a:ext cx="2301362" cy="600752"/>
          </a:xfrm>
          <a:prstGeom prst="flowChartInputOutput">
            <a:avLst/>
          </a:prstGeom>
          <a:solidFill>
            <a:schemeClr val="accent1">
              <a:lumMod val="75000"/>
            </a:schemeClr>
          </a:solidFill>
          <a:ln w="571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AGENDA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76BB1E97-9746-97B6-FA11-641333A2EC2E}"/>
              </a:ext>
            </a:extLst>
          </p:cNvPr>
          <p:cNvSpPr/>
          <p:nvPr/>
        </p:nvSpPr>
        <p:spPr>
          <a:xfrm>
            <a:off x="5407742" y="2444656"/>
            <a:ext cx="6016298" cy="1706720"/>
          </a:xfrm>
          <a:prstGeom prst="rect">
            <a:avLst/>
          </a:prstGeom>
          <a:solidFill>
            <a:schemeClr val="accent3">
              <a:lumMod val="50000"/>
            </a:schemeClr>
          </a:solidFill>
          <a:ln w="57150">
            <a:solidFill>
              <a:schemeClr val="accent3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Phones into </a:t>
            </a:r>
            <a:r>
              <a:rPr lang="en-US" sz="2800" b="1" i="1" dirty="0">
                <a:latin typeface="Chiller" panose="04020404031007020602" pitchFamily="82" charset="0"/>
              </a:rPr>
              <a:t>The </a:t>
            </a:r>
            <a:r>
              <a:rPr lang="en-US" sz="2800" b="1" i="1" u="sng" dirty="0">
                <a:latin typeface="Chiller" panose="04020404031007020602" pitchFamily="82" charset="0"/>
              </a:rPr>
              <a:t>Holding</a:t>
            </a:r>
            <a:r>
              <a:rPr lang="en-US" sz="2800" b="1" i="1" dirty="0">
                <a:latin typeface="Chiller" panose="04020404031007020602" pitchFamily="82" charset="0"/>
              </a:rPr>
              <a:t> Cell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Open/Closed Laptop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Lab open/</a:t>
            </a:r>
            <a:r>
              <a:rPr lang="en-US" dirty="0" err="1"/>
              <a:t>accessible</a:t>
            </a:r>
            <a:endParaRPr lang="en-US" dirty="0"/>
          </a:p>
        </p:txBody>
      </p:sp>
      <p:sp>
        <p:nvSpPr>
          <p:cNvPr id="26" name="Arrow: Pentagon 25">
            <a:extLst>
              <a:ext uri="{FF2B5EF4-FFF2-40B4-BE49-F238E27FC236}">
                <a16:creationId xmlns:a16="http://schemas.microsoft.com/office/drawing/2014/main" id="{4D20C643-FE77-D5F1-944D-EFA6A4E18384}"/>
              </a:ext>
            </a:extLst>
          </p:cNvPr>
          <p:cNvSpPr/>
          <p:nvPr/>
        </p:nvSpPr>
        <p:spPr>
          <a:xfrm flipH="1">
            <a:off x="9835526" y="2157823"/>
            <a:ext cx="2155485" cy="765223"/>
          </a:xfrm>
          <a:prstGeom prst="homePlate">
            <a:avLst/>
          </a:prstGeom>
          <a:solidFill>
            <a:schemeClr val="accent4">
              <a:lumMod val="75000"/>
            </a:schemeClr>
          </a:solidFill>
          <a:ln w="57150">
            <a:solidFill>
              <a:schemeClr val="accent4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REMINDERS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42A3F4D-F474-B915-E173-B56E57D3CE69}"/>
              </a:ext>
            </a:extLst>
          </p:cNvPr>
          <p:cNvSpPr txBox="1"/>
          <p:nvPr/>
        </p:nvSpPr>
        <p:spPr>
          <a:xfrm>
            <a:off x="411769" y="1394526"/>
            <a:ext cx="1580232" cy="253916"/>
          </a:xfrm>
          <a:prstGeom prst="rect">
            <a:avLst/>
          </a:prstGeom>
          <a:noFill/>
          <a:ln w="57150"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en-US" sz="1050" b="1" dirty="0">
                <a:solidFill>
                  <a:schemeClr val="bg1"/>
                </a:solidFill>
              </a:rPr>
              <a:t>BUILT TO ORDER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36EB55A-2652-CCF0-91B1-8B395B1FD54C}"/>
              </a:ext>
            </a:extLst>
          </p:cNvPr>
          <p:cNvSpPr/>
          <p:nvPr/>
        </p:nvSpPr>
        <p:spPr>
          <a:xfrm>
            <a:off x="7187005" y="6077879"/>
            <a:ext cx="4437380" cy="583565"/>
          </a:xfrm>
          <a:prstGeom prst="rect">
            <a:avLst/>
          </a:prstGeom>
          <a:gradFill>
            <a:gsLst>
              <a:gs pos="0">
                <a:schemeClr val="accent3">
                  <a:lumMod val="50000"/>
                  <a:alpha val="0"/>
                </a:schemeClr>
              </a:gs>
              <a:gs pos="100000">
                <a:schemeClr val="accent3">
                  <a:lumMod val="5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US"/>
          </a:p>
        </p:txBody>
      </p:sp>
      <p:sp>
        <p:nvSpPr>
          <p:cNvPr id="7" name="Text Box 2">
            <a:extLst>
              <a:ext uri="{FF2B5EF4-FFF2-40B4-BE49-F238E27FC236}">
                <a16:creationId xmlns:a16="http://schemas.microsoft.com/office/drawing/2014/main" id="{028EDC04-C674-08DB-F001-E8BAEBD20FE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43800" y="6146299"/>
            <a:ext cx="3790950" cy="5835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rot="0" vert="horz" wrap="square" lIns="91440" tIns="45720" rIns="91440" bIns="45720" anchor="t" anchorCtr="0">
            <a:noAutofit/>
          </a:bodyPr>
          <a:lstStyle/>
          <a:p>
            <a:pPr marL="0" marR="0" algn="r">
              <a:buNone/>
            </a:pPr>
            <a:r>
              <a:rPr lang="en-US" sz="1400" b="1" dirty="0">
                <a:solidFill>
                  <a:schemeClr val="bg1"/>
                </a:solidFill>
                <a:effectLst/>
                <a:latin typeface="Bahnschrift" panose="020B0502040204020203" pitchFamily="34" charset="0"/>
                <a:ea typeface="Calibri" panose="020F0502020204030204" pitchFamily="34" charset="0"/>
              </a:rPr>
              <a:t>RECOMMENDED LISTENING:</a:t>
            </a:r>
            <a:endParaRPr lang="en-US" sz="1100" dirty="0">
              <a:solidFill>
                <a:schemeClr val="bg1"/>
              </a:solidFill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marL="0" marR="0" algn="r">
              <a:buNone/>
            </a:pPr>
            <a:r>
              <a:rPr lang="en-US" sz="1200" b="1" dirty="0">
                <a:solidFill>
                  <a:schemeClr val="bg1"/>
                </a:solidFill>
                <a:latin typeface="Bahnschrift" panose="020B0502040204020203" pitchFamily="34" charset="0"/>
                <a:ea typeface="Calibri" panose="020F0502020204030204" pitchFamily="34" charset="0"/>
              </a:rPr>
              <a:t>OBJECTION! – ACE ATTORNEY</a:t>
            </a:r>
            <a:endParaRPr lang="en-US" sz="1100" dirty="0">
              <a:solidFill>
                <a:schemeClr val="bg1"/>
              </a:solidFill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</p:txBody>
      </p:sp>
      <p:pic>
        <p:nvPicPr>
          <p:cNvPr id="11" name="Picture 10" descr="Cd Clip Art">
            <a:extLst>
              <a:ext uri="{FF2B5EF4-FFF2-40B4-BE49-F238E27FC236}">
                <a16:creationId xmlns:a16="http://schemas.microsoft.com/office/drawing/2014/main" id="{9AA8D88A-8935-C243-7C92-FEB5E17C707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34750" y="5941036"/>
            <a:ext cx="857250" cy="85725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3463945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6" dur="1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7" presetID="8" presetClass="emp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8" dur="25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14" grpId="0" animBg="1"/>
      <p:bldP spid="7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1736B0C-A06D-A528-1192-A7867336C5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val 8">
            <a:extLst>
              <a:ext uri="{FF2B5EF4-FFF2-40B4-BE49-F238E27FC236}">
                <a16:creationId xmlns:a16="http://schemas.microsoft.com/office/drawing/2014/main" id="{085A45DB-3642-2641-2ABF-8A902B3ADA9B}"/>
              </a:ext>
            </a:extLst>
          </p:cNvPr>
          <p:cNvSpPr/>
          <p:nvPr/>
        </p:nvSpPr>
        <p:spPr>
          <a:xfrm>
            <a:off x="8915057" y="217604"/>
            <a:ext cx="1586378" cy="1586378"/>
          </a:xfrm>
          <a:prstGeom prst="ellipse">
            <a:avLst/>
          </a:prstGeom>
          <a:noFill/>
          <a:ln w="57150">
            <a:solidFill>
              <a:schemeClr val="accent3">
                <a:lumMod val="25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37D23AC3-1E13-8715-EC1A-E04E2C9D8470}"/>
              </a:ext>
            </a:extLst>
          </p:cNvPr>
          <p:cNvCxnSpPr>
            <a:cxnSpLocks/>
          </p:cNvCxnSpPr>
          <p:nvPr/>
        </p:nvCxnSpPr>
        <p:spPr>
          <a:xfrm>
            <a:off x="3806312" y="1521556"/>
            <a:ext cx="2926132" cy="0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C837DF90-A476-1B33-DB9A-6D67B11AC9C6}"/>
              </a:ext>
            </a:extLst>
          </p:cNvPr>
          <p:cNvCxnSpPr/>
          <p:nvPr/>
        </p:nvCxnSpPr>
        <p:spPr>
          <a:xfrm>
            <a:off x="8630196" y="6714818"/>
            <a:ext cx="3805083" cy="0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 12">
            <a:extLst>
              <a:ext uri="{FF2B5EF4-FFF2-40B4-BE49-F238E27FC236}">
                <a16:creationId xmlns:a16="http://schemas.microsoft.com/office/drawing/2014/main" id="{00E900F3-015F-7761-7947-8847E9D1E560}"/>
              </a:ext>
            </a:extLst>
          </p:cNvPr>
          <p:cNvSpPr/>
          <p:nvPr/>
        </p:nvSpPr>
        <p:spPr>
          <a:xfrm>
            <a:off x="2483753" y="453766"/>
            <a:ext cx="7224493" cy="911542"/>
          </a:xfrm>
          <a:prstGeom prst="rect">
            <a:avLst/>
          </a:prstGeom>
          <a:solidFill>
            <a:schemeClr val="accent3">
              <a:lumMod val="50000"/>
            </a:schemeClr>
          </a:solidFill>
          <a:ln w="57150">
            <a:solidFill>
              <a:schemeClr val="accent3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b="1" dirty="0"/>
              <a:t>THE WARM UP QUESTION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EEEEA62-E5FD-DE36-D59E-CF3D95E3AD86}"/>
              </a:ext>
            </a:extLst>
          </p:cNvPr>
          <p:cNvSpPr/>
          <p:nvPr/>
        </p:nvSpPr>
        <p:spPr>
          <a:xfrm>
            <a:off x="533634" y="1723987"/>
            <a:ext cx="11124730" cy="4835840"/>
          </a:xfrm>
          <a:prstGeom prst="rect">
            <a:avLst/>
          </a:prstGeom>
          <a:solidFill>
            <a:schemeClr val="accent3">
              <a:lumMod val="50000"/>
            </a:schemeClr>
          </a:solidFill>
          <a:ln w="57150">
            <a:solidFill>
              <a:schemeClr val="accent3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rmAutofit/>
          </a:bodyPr>
          <a:lstStyle/>
          <a:p>
            <a:pPr marL="0" indent="0">
              <a:spcAft>
                <a:spcPts val="600"/>
              </a:spcAft>
              <a:buNone/>
            </a:pPr>
            <a:r>
              <a:rPr lang="en-US" sz="2800" dirty="0"/>
              <a:t>Read this program. The user types </a:t>
            </a:r>
            <a:r>
              <a:rPr lang="en-US" sz="2800" b="1" dirty="0"/>
              <a:t>14</a:t>
            </a:r>
            <a:r>
              <a:rPr lang="en-US" sz="2800" dirty="0"/>
              <a:t> and presses Enter.</a:t>
            </a:r>
          </a:p>
          <a:p>
            <a:pPr marL="0" indent="0">
              <a:spcAft>
                <a:spcPts val="600"/>
              </a:spcAft>
              <a:buNone/>
            </a:pPr>
            <a:r>
              <a:rPr lang="en-US" sz="2800" b="1" dirty="0"/>
              <a:t>What appears on the screen?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0163DB81-B172-FD92-7344-0A9DBC440811}"/>
              </a:ext>
            </a:extLst>
          </p:cNvPr>
          <p:cNvCxnSpPr>
            <a:cxnSpLocks/>
          </p:cNvCxnSpPr>
          <p:nvPr/>
        </p:nvCxnSpPr>
        <p:spPr>
          <a:xfrm>
            <a:off x="12057283" y="-1425440"/>
            <a:ext cx="0" cy="3320915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8" name="Picture 17" descr="url_upload_6a7f3d9e572a4.gif [effects output image]">
            <a:extLst>
              <a:ext uri="{FF2B5EF4-FFF2-40B4-BE49-F238E27FC236}">
                <a16:creationId xmlns:a16="http://schemas.microsoft.com/office/drawing/2014/main" id="{8F628373-9FCF-09F8-A7B6-607C01451397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3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2483753" y="-2120321"/>
            <a:ext cx="4743450" cy="2667000"/>
          </a:xfrm>
          <a:prstGeom prst="rect">
            <a:avLst/>
          </a:prstGeom>
        </p:spPr>
      </p:pic>
      <p:pic>
        <p:nvPicPr>
          <p:cNvPr id="21" name="Picture 20" descr="url_upload_6a7f3d9e572a4.gif [effects output image]">
            <a:extLst>
              <a:ext uri="{FF2B5EF4-FFF2-40B4-BE49-F238E27FC236}">
                <a16:creationId xmlns:a16="http://schemas.microsoft.com/office/drawing/2014/main" id="{0C52FBF9-2C25-8FCB-563A-242A0F1AC274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3">
                <a:shade val="45000"/>
                <a:satMod val="135000"/>
              </a:schemeClr>
              <a:prstClr val="white"/>
            </a:duotone>
          </a:blip>
          <a:srcRect r="41253"/>
          <a:stretch>
            <a:fillRect/>
          </a:stretch>
        </p:blipFill>
        <p:spPr>
          <a:xfrm>
            <a:off x="6939927" y="-2120321"/>
            <a:ext cx="2786643" cy="2667000"/>
          </a:xfrm>
          <a:prstGeom prst="rect">
            <a:avLst/>
          </a:prstGeom>
        </p:spPr>
      </p:pic>
      <p:sp>
        <p:nvSpPr>
          <p:cNvPr id="805" name="Rectangle 1"/>
          <p:cNvSpPr/>
          <p:nvPr/>
        </p:nvSpPr>
        <p:spPr>
          <a:xfrm>
            <a:off x="1005840" y="3154680"/>
            <a:ext cx="10149840" cy="1600200"/>
          </a:xfrm>
          <a:prstGeom prst="rect">
            <a:avLst/>
          </a:prstGeom>
          <a:solidFill>
            <a:schemeClr val="bg2">
              <a:lumMod val="10000"/>
            </a:schemeClr>
          </a:solidFill>
          <a:ln w="7620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None/>
            </a:pPr>
            <a:r>
              <a:rPr lang="en-US" sz="2800" dirty="0">
                <a:solidFill>
                  <a:srgbClr val="D4D4D4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age = </a:t>
            </a:r>
            <a:r>
              <a:rPr lang="en-US" sz="2800" dirty="0">
                <a:solidFill>
                  <a:srgbClr val="DCDCAA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input</a:t>
            </a:r>
            <a:r>
              <a:rPr lang="en-US" sz="2800" dirty="0">
                <a:solidFill>
                  <a:srgbClr val="D4D4D4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(</a:t>
            </a:r>
            <a:r>
              <a:rPr lang="en-US" sz="2800" dirty="0">
                <a:solidFill>
                  <a:srgbClr val="CE9178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"How old are you? "</a:t>
            </a:r>
            <a:r>
              <a:rPr lang="en-US" sz="2800" dirty="0">
                <a:solidFill>
                  <a:srgbClr val="D4D4D4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)</a:t>
            </a:r>
          </a:p>
          <a:p>
            <a:pPr>
              <a:buNone/>
            </a:pPr>
            <a:r>
              <a:rPr lang="en-US" sz="2800" dirty="0">
                <a:solidFill>
                  <a:srgbClr val="DCDCAA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print</a:t>
            </a:r>
            <a:r>
              <a:rPr lang="en-US" sz="2800" dirty="0">
                <a:solidFill>
                  <a:srgbClr val="D4D4D4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(age == </a:t>
            </a:r>
            <a:r>
              <a:rPr lang="en-US" sz="2800" dirty="0">
                <a:solidFill>
                  <a:srgbClr val="B5CEA8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14</a:t>
            </a:r>
            <a:r>
              <a:rPr lang="en-US" sz="2800" dirty="0">
                <a:solidFill>
                  <a:srgbClr val="D4D4D4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)</a:t>
            </a:r>
          </a:p>
        </p:txBody>
      </p:sp>
      <p:sp>
        <p:nvSpPr>
          <p:cNvPr id="806" name="Rectangle 14">
            <a:extLst>
              <a:ext uri="{FF2B5EF4-FFF2-40B4-BE49-F238E27FC236}">
                <a16:creationId xmlns:a16="http://schemas.microsoft.com/office/drawing/2014/main" id="{0EEEEA62-E5FD-DE36-D59E-CF3D95E3AD86}"/>
              </a:ext>
            </a:extLst>
          </p:cNvPr>
          <p:cNvSpPr/>
          <p:nvPr/>
        </p:nvSpPr>
        <p:spPr>
          <a:xfrm>
            <a:off x="822960" y="4983480"/>
            <a:ext cx="10515600" cy="128016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rmAutofit/>
          </a:bodyPr>
          <a:lstStyle/>
          <a:p>
            <a:pPr marL="0" indent="0">
              <a:spcAft>
                <a:spcPts val="600"/>
              </a:spcAft>
              <a:buNone/>
            </a:pPr>
            <a:r>
              <a:rPr lang="en-US" sz="2000" b="1" dirty="0"/>
              <a:t>→ Lab Warm Up: write your prediction before you run anything.</a:t>
            </a:r>
          </a:p>
        </p:txBody>
      </p:sp>
    </p:spTree>
    <p:extLst>
      <p:ext uri="{BB962C8B-B14F-4D97-AF65-F5344CB8AC3E}">
        <p14:creationId xmlns:p14="http://schemas.microsoft.com/office/powerpoint/2010/main" val="10143009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6" dur="1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D6629B9-CF2C-5C11-7469-ADD4915E26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val 8">
            <a:extLst>
              <a:ext uri="{FF2B5EF4-FFF2-40B4-BE49-F238E27FC236}">
                <a16:creationId xmlns:a16="http://schemas.microsoft.com/office/drawing/2014/main" id="{2D2F265E-120A-FEDA-8C40-62A0BFC0E45D}"/>
              </a:ext>
            </a:extLst>
          </p:cNvPr>
          <p:cNvSpPr/>
          <p:nvPr/>
        </p:nvSpPr>
        <p:spPr>
          <a:xfrm>
            <a:off x="8915057" y="217604"/>
            <a:ext cx="1586378" cy="1586378"/>
          </a:xfrm>
          <a:prstGeom prst="ellipse">
            <a:avLst/>
          </a:prstGeom>
          <a:noFill/>
          <a:ln w="57150">
            <a:solidFill>
              <a:schemeClr val="accent3">
                <a:lumMod val="25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2C160A85-F895-FC49-8E36-8197E5B8A98E}"/>
              </a:ext>
            </a:extLst>
          </p:cNvPr>
          <p:cNvCxnSpPr>
            <a:cxnSpLocks/>
          </p:cNvCxnSpPr>
          <p:nvPr/>
        </p:nvCxnSpPr>
        <p:spPr>
          <a:xfrm>
            <a:off x="3806312" y="1521556"/>
            <a:ext cx="2926132" cy="0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121F7D05-D0E2-B437-9792-7B4CC9361CA7}"/>
              </a:ext>
            </a:extLst>
          </p:cNvPr>
          <p:cNvCxnSpPr/>
          <p:nvPr/>
        </p:nvCxnSpPr>
        <p:spPr>
          <a:xfrm>
            <a:off x="8630196" y="6714818"/>
            <a:ext cx="3805083" cy="0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 12">
            <a:extLst>
              <a:ext uri="{FF2B5EF4-FFF2-40B4-BE49-F238E27FC236}">
                <a16:creationId xmlns:a16="http://schemas.microsoft.com/office/drawing/2014/main" id="{2B23F663-A07C-CE23-B2C6-C4BA17EE7206}"/>
              </a:ext>
            </a:extLst>
          </p:cNvPr>
          <p:cNvSpPr/>
          <p:nvPr/>
        </p:nvSpPr>
        <p:spPr>
          <a:xfrm>
            <a:off x="2483753" y="453766"/>
            <a:ext cx="7224493" cy="911542"/>
          </a:xfrm>
          <a:prstGeom prst="rect">
            <a:avLst/>
          </a:prstGeom>
          <a:solidFill>
            <a:schemeClr val="accent3">
              <a:lumMod val="50000"/>
            </a:schemeClr>
          </a:solidFill>
          <a:ln w="57150">
            <a:solidFill>
              <a:schemeClr val="accent3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b="1" dirty="0"/>
              <a:t>THE WARM UP ANSWER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4217569-8B31-98D6-5997-110746733932}"/>
              </a:ext>
            </a:extLst>
          </p:cNvPr>
          <p:cNvSpPr/>
          <p:nvPr/>
        </p:nvSpPr>
        <p:spPr>
          <a:xfrm>
            <a:off x="533634" y="1723987"/>
            <a:ext cx="11124730" cy="4835840"/>
          </a:xfrm>
          <a:prstGeom prst="rect">
            <a:avLst/>
          </a:prstGeom>
          <a:solidFill>
            <a:schemeClr val="accent3">
              <a:lumMod val="50000"/>
            </a:schemeClr>
          </a:solidFill>
          <a:ln w="57150">
            <a:solidFill>
              <a:schemeClr val="accent3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rmAutofit/>
          </a:bodyPr>
          <a:lstStyle/>
          <a:p>
            <a:pPr marL="0" indent="0">
              <a:spcAft>
                <a:spcPts val="600"/>
              </a:spcAft>
              <a:buNone/>
            </a:pPr>
            <a:r>
              <a:rPr lang="en-US" sz="3600" dirty="0"/>
              <a:t>It prints </a:t>
            </a:r>
            <a:r>
              <a:rPr lang="en-US" sz="3600" b="1" dirty="0"/>
              <a:t>False</a:t>
            </a:r>
            <a:r>
              <a:rPr lang="en-US" sz="3600" dirty="0"/>
              <a:t>.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A comparison is always answered by either True of False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latin typeface="Cascadia Code" panose="020B0609020000020004" pitchFamily="49" charset="0"/>
                <a:cs typeface="Cascadia Code" panose="020B0609020000020004" pitchFamily="49" charset="0"/>
              </a:rPr>
              <a:t>input()</a:t>
            </a:r>
            <a:r>
              <a:rPr lang="en-US" sz="2400" dirty="0"/>
              <a:t> gave back the string </a:t>
            </a:r>
            <a:r>
              <a:rPr lang="en-US" sz="2400" dirty="0">
                <a:latin typeface="Cascadia Code" panose="020B0609020000020004" pitchFamily="49" charset="0"/>
                <a:cs typeface="Cascadia Code" panose="020B0609020000020004" pitchFamily="49" charset="0"/>
              </a:rPr>
              <a:t>"14"</a:t>
            </a:r>
            <a:r>
              <a:rPr lang="en-US" sz="2400" dirty="0"/>
              <a:t>, and a string doesn’t equal the number </a:t>
            </a:r>
            <a:r>
              <a:rPr lang="en-US" sz="2400" dirty="0">
                <a:latin typeface="Cascadia Code" panose="020B0609020000020004" pitchFamily="49" charset="0"/>
                <a:cs typeface="Cascadia Code" panose="020B0609020000020004" pitchFamily="49" charset="0"/>
              </a:rPr>
              <a:t>14</a:t>
            </a:r>
            <a:r>
              <a:rPr lang="en-US" sz="2400" dirty="0"/>
              <a:t>.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b="1" dirty="0"/>
              <a:t>→ Lab Warm Up: fill in the second box (what appeared, and why).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350C7B7C-76D4-FDAC-7DED-BB7E3B933B5C}"/>
              </a:ext>
            </a:extLst>
          </p:cNvPr>
          <p:cNvCxnSpPr>
            <a:cxnSpLocks/>
          </p:cNvCxnSpPr>
          <p:nvPr/>
        </p:nvCxnSpPr>
        <p:spPr>
          <a:xfrm>
            <a:off x="12057283" y="-1425440"/>
            <a:ext cx="0" cy="3320915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8" name="Picture 17" descr="url_upload_6a7f3d9e572a4.gif [effects output image]">
            <a:extLst>
              <a:ext uri="{FF2B5EF4-FFF2-40B4-BE49-F238E27FC236}">
                <a16:creationId xmlns:a16="http://schemas.microsoft.com/office/drawing/2014/main" id="{1288AF76-4E7B-FF09-368F-27BF85DB595E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3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2483753" y="-2120321"/>
            <a:ext cx="4743450" cy="2667000"/>
          </a:xfrm>
          <a:prstGeom prst="rect">
            <a:avLst/>
          </a:prstGeom>
        </p:spPr>
      </p:pic>
      <p:pic>
        <p:nvPicPr>
          <p:cNvPr id="21" name="Picture 20" descr="url_upload_6a7f3d9e572a4.gif [effects output image]">
            <a:extLst>
              <a:ext uri="{FF2B5EF4-FFF2-40B4-BE49-F238E27FC236}">
                <a16:creationId xmlns:a16="http://schemas.microsoft.com/office/drawing/2014/main" id="{029CD9DD-0177-4886-96FD-4C4444BDA7CB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3">
                <a:shade val="45000"/>
                <a:satMod val="135000"/>
              </a:schemeClr>
              <a:prstClr val="white"/>
            </a:duotone>
          </a:blip>
          <a:srcRect r="41253"/>
          <a:stretch>
            <a:fillRect/>
          </a:stretch>
        </p:blipFill>
        <p:spPr>
          <a:xfrm>
            <a:off x="6939927" y="-2120321"/>
            <a:ext cx="2786643" cy="2667000"/>
          </a:xfrm>
          <a:prstGeom prst="rect">
            <a:avLst/>
          </a:prstGeom>
        </p:spPr>
      </p:pic>
      <p:sp>
        <p:nvSpPr>
          <p:cNvPr id="805" name="Rectangle 1"/>
          <p:cNvSpPr/>
          <p:nvPr/>
        </p:nvSpPr>
        <p:spPr>
          <a:xfrm>
            <a:off x="1005840" y="4754880"/>
            <a:ext cx="10149840" cy="1463040"/>
          </a:xfrm>
          <a:prstGeom prst="rect">
            <a:avLst/>
          </a:prstGeom>
          <a:solidFill>
            <a:schemeClr val="bg2">
              <a:lumMod val="10000"/>
            </a:schemeClr>
          </a:solidFill>
          <a:ln w="7620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None/>
            </a:pPr>
            <a:r>
              <a:rPr lang="en-US" sz="2600" dirty="0">
                <a:solidFill>
                  <a:srgbClr val="D4D4D4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age = </a:t>
            </a:r>
            <a:r>
              <a:rPr lang="en-US" sz="2600" dirty="0">
                <a:solidFill>
                  <a:srgbClr val="DCDCAA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int</a:t>
            </a:r>
            <a:r>
              <a:rPr lang="en-US" sz="2600" dirty="0">
                <a:solidFill>
                  <a:srgbClr val="D4D4D4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(</a:t>
            </a:r>
            <a:r>
              <a:rPr lang="en-US" sz="2600" dirty="0">
                <a:solidFill>
                  <a:srgbClr val="DCDCAA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input</a:t>
            </a:r>
            <a:r>
              <a:rPr lang="en-US" sz="2600" dirty="0">
                <a:solidFill>
                  <a:srgbClr val="D4D4D4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(</a:t>
            </a:r>
            <a:r>
              <a:rPr lang="en-US" sz="2600" dirty="0">
                <a:solidFill>
                  <a:srgbClr val="CE9178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"How old are you? "</a:t>
            </a:r>
            <a:r>
              <a:rPr lang="en-US" sz="2600" dirty="0">
                <a:solidFill>
                  <a:srgbClr val="D4D4D4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))</a:t>
            </a:r>
          </a:p>
          <a:p>
            <a:pPr>
              <a:buNone/>
            </a:pPr>
            <a:r>
              <a:rPr lang="en-US" sz="2600" dirty="0">
                <a:solidFill>
                  <a:srgbClr val="DCDCAA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print</a:t>
            </a:r>
            <a:r>
              <a:rPr lang="en-US" sz="2600" dirty="0">
                <a:solidFill>
                  <a:srgbClr val="D4D4D4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(age == </a:t>
            </a:r>
            <a:r>
              <a:rPr lang="en-US" sz="2600" dirty="0">
                <a:solidFill>
                  <a:srgbClr val="B5CEA8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14</a:t>
            </a:r>
            <a:r>
              <a:rPr lang="en-US" sz="2600" dirty="0">
                <a:solidFill>
                  <a:srgbClr val="D4D4D4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)   </a:t>
            </a:r>
            <a:r>
              <a:rPr lang="en-US" sz="2600" dirty="0">
                <a:solidFill>
                  <a:srgbClr val="6A9955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# True</a:t>
            </a:r>
          </a:p>
        </p:txBody>
      </p:sp>
    </p:spTree>
    <p:extLst>
      <p:ext uri="{BB962C8B-B14F-4D97-AF65-F5344CB8AC3E}">
        <p14:creationId xmlns:p14="http://schemas.microsoft.com/office/powerpoint/2010/main" val="13220085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6" dur="1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532E628-E1B2-8B78-566F-D91F793771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Oval 13">
            <a:extLst>
              <a:ext uri="{FF2B5EF4-FFF2-40B4-BE49-F238E27FC236}">
                <a16:creationId xmlns:a16="http://schemas.microsoft.com/office/drawing/2014/main" id="{3C1D1EE2-7173-C1ED-78B3-B7B0D78B3F5D}"/>
              </a:ext>
            </a:extLst>
          </p:cNvPr>
          <p:cNvSpPr/>
          <p:nvPr/>
        </p:nvSpPr>
        <p:spPr>
          <a:xfrm>
            <a:off x="5260416" y="-243893"/>
            <a:ext cx="1586378" cy="1586378"/>
          </a:xfrm>
          <a:prstGeom prst="ellipse">
            <a:avLst/>
          </a:prstGeom>
          <a:noFill/>
          <a:ln w="57150">
            <a:solidFill>
              <a:schemeClr val="accent3">
                <a:lumMod val="25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33EEE18F-32C2-01AA-CAB1-85D64E08ED0B}"/>
              </a:ext>
            </a:extLst>
          </p:cNvPr>
          <p:cNvCxnSpPr>
            <a:cxnSpLocks/>
          </p:cNvCxnSpPr>
          <p:nvPr/>
        </p:nvCxnSpPr>
        <p:spPr>
          <a:xfrm>
            <a:off x="-363907" y="1175192"/>
            <a:ext cx="2926132" cy="0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72793B97-43E1-B480-1264-C9FF20681E5A}"/>
              </a:ext>
            </a:extLst>
          </p:cNvPr>
          <p:cNvCxnSpPr/>
          <p:nvPr/>
        </p:nvCxnSpPr>
        <p:spPr>
          <a:xfrm>
            <a:off x="8630196" y="6714818"/>
            <a:ext cx="3805083" cy="0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9618C01C-80A1-AC3B-A909-471A11C86B0F}"/>
              </a:ext>
            </a:extLst>
          </p:cNvPr>
          <p:cNvSpPr/>
          <p:nvPr/>
        </p:nvSpPr>
        <p:spPr>
          <a:xfrm>
            <a:off x="112344" y="93525"/>
            <a:ext cx="5943600" cy="911542"/>
          </a:xfrm>
          <a:prstGeom prst="rect">
            <a:avLst/>
          </a:prstGeom>
          <a:solidFill>
            <a:schemeClr val="accent3">
              <a:lumMod val="50000"/>
            </a:schemeClr>
          </a:solidFill>
          <a:ln w="57150">
            <a:solidFill>
              <a:schemeClr val="accent3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b="1" dirty="0"/>
              <a:t>TRUE OR FALSE?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04F567A-E19C-74A7-B049-CF176EB9CF80}"/>
              </a:ext>
            </a:extLst>
          </p:cNvPr>
          <p:cNvSpPr/>
          <p:nvPr/>
        </p:nvSpPr>
        <p:spPr>
          <a:xfrm>
            <a:off x="526943" y="1695457"/>
            <a:ext cx="11116415" cy="2478024"/>
          </a:xfrm>
          <a:prstGeom prst="rect">
            <a:avLst/>
          </a:prstGeom>
          <a:solidFill>
            <a:schemeClr val="accent3">
              <a:lumMod val="50000"/>
            </a:schemeClr>
          </a:solidFill>
          <a:ln w="57150">
            <a:solidFill>
              <a:schemeClr val="accent3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rmAutofit/>
          </a:bodyPr>
          <a:lstStyle/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200" dirty="0"/>
              <a:t>A </a:t>
            </a:r>
            <a:r>
              <a:rPr lang="en-US" sz="2200" b="1" i="1" dirty="0">
                <a:solidFill>
                  <a:srgbClr val="FF66C4"/>
                </a:solidFill>
              </a:rPr>
              <a:t>condition</a:t>
            </a:r>
            <a:r>
              <a:rPr lang="en-US" sz="2200" dirty="0"/>
              <a:t> is an expression that evaluates to </a:t>
            </a:r>
            <a:r>
              <a:rPr lang="en-US" sz="2200" dirty="0">
                <a:latin typeface="Cascadia Code" panose="020B0609020000020004" pitchFamily="49" charset="0"/>
                <a:cs typeface="Cascadia Code" panose="020B0609020000020004" pitchFamily="49" charset="0"/>
              </a:rPr>
              <a:t>True</a:t>
            </a:r>
            <a:r>
              <a:rPr lang="en-US" sz="2200" dirty="0"/>
              <a:t> or </a:t>
            </a:r>
            <a:r>
              <a:rPr lang="en-US" sz="2200" dirty="0">
                <a:latin typeface="Cascadia Code" panose="020B0609020000020004" pitchFamily="49" charset="0"/>
                <a:cs typeface="Cascadia Code" panose="020B0609020000020004" pitchFamily="49" charset="0"/>
              </a:rPr>
              <a:t>False</a:t>
            </a:r>
            <a:endParaRPr lang="en-US" sz="2200" dirty="0"/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200" dirty="0">
                <a:latin typeface="Cascadia Code" panose="020B0609020000020004" pitchFamily="49" charset="0"/>
                <a:cs typeface="Cascadia Code" panose="020B0609020000020004" pitchFamily="49" charset="0"/>
              </a:rPr>
              <a:t>True</a:t>
            </a:r>
            <a:r>
              <a:rPr lang="en-US" sz="2200" dirty="0"/>
              <a:t> and </a:t>
            </a:r>
            <a:r>
              <a:rPr lang="en-US" sz="2200" dirty="0">
                <a:latin typeface="Cascadia Code" panose="020B0609020000020004" pitchFamily="49" charset="0"/>
                <a:cs typeface="Cascadia Code" panose="020B0609020000020004" pitchFamily="49" charset="0"/>
              </a:rPr>
              <a:t>False</a:t>
            </a:r>
            <a:r>
              <a:rPr lang="en-US" sz="2200" dirty="0"/>
              <a:t> are their own type: a </a:t>
            </a:r>
            <a:r>
              <a:rPr lang="en-US" sz="2200" b="1" i="1" dirty="0">
                <a:solidFill>
                  <a:srgbClr val="FF66C4"/>
                </a:solidFill>
              </a:rPr>
              <a:t>Boolean</a:t>
            </a:r>
            <a:r>
              <a:rPr lang="en-US" sz="2200" dirty="0"/>
              <a:t> (</a:t>
            </a:r>
            <a:r>
              <a:rPr lang="en-US" sz="2200" dirty="0">
                <a:latin typeface="Cascadia Code" panose="020B0609020000020004" pitchFamily="49" charset="0"/>
                <a:cs typeface="Cascadia Code" panose="020B0609020000020004" pitchFamily="49" charset="0"/>
              </a:rPr>
              <a:t>bool</a:t>
            </a:r>
            <a:r>
              <a:rPr lang="en-US" sz="2200" dirty="0"/>
              <a:t>).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200" dirty="0"/>
              <a:t>No quotes: </a:t>
            </a:r>
            <a:r>
              <a:rPr lang="en-US" sz="2200" dirty="0">
                <a:latin typeface="Cascadia Code" panose="020B0609020000020004" pitchFamily="49" charset="0"/>
                <a:cs typeface="Cascadia Code" panose="020B0609020000020004" pitchFamily="49" charset="0"/>
              </a:rPr>
              <a:t>True</a:t>
            </a:r>
            <a:r>
              <a:rPr lang="en-US" sz="2200" dirty="0"/>
              <a:t> is a Boolean, </a:t>
            </a:r>
            <a:r>
              <a:rPr lang="en-US" sz="2200" dirty="0">
                <a:latin typeface="Cascadia Code" panose="020B0609020000020004" pitchFamily="49" charset="0"/>
                <a:cs typeface="Cascadia Code" panose="020B0609020000020004" pitchFamily="49" charset="0"/>
              </a:rPr>
              <a:t>"True"</a:t>
            </a:r>
            <a:r>
              <a:rPr lang="en-US" sz="2200" dirty="0"/>
              <a:t> is just a string of text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C75202F6-37E7-9E3F-2D8F-24D9DFCC8C1B}"/>
              </a:ext>
            </a:extLst>
          </p:cNvPr>
          <p:cNvCxnSpPr>
            <a:cxnSpLocks/>
          </p:cNvCxnSpPr>
          <p:nvPr/>
        </p:nvCxnSpPr>
        <p:spPr>
          <a:xfrm>
            <a:off x="12057283" y="-1425440"/>
            <a:ext cx="0" cy="3320915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04" name="Rectangle 1"/>
          <p:cNvSpPr/>
          <p:nvPr/>
        </p:nvSpPr>
        <p:spPr>
          <a:xfrm>
            <a:off x="594360" y="4306824"/>
            <a:ext cx="11000232" cy="2157984"/>
          </a:xfrm>
          <a:prstGeom prst="rect">
            <a:avLst/>
          </a:prstGeom>
          <a:solidFill>
            <a:schemeClr val="bg2">
              <a:lumMod val="10000"/>
            </a:schemeClr>
          </a:solidFill>
          <a:ln w="7620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None/>
            </a:pPr>
            <a:r>
              <a:rPr lang="en-US" sz="2200" dirty="0">
                <a:solidFill>
                  <a:srgbClr val="DCDCAA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print</a:t>
            </a:r>
            <a:r>
              <a:rPr lang="en-US" sz="2200" dirty="0">
                <a:solidFill>
                  <a:srgbClr val="D4D4D4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(</a:t>
            </a:r>
            <a:r>
              <a:rPr lang="en-US" sz="2200" dirty="0">
                <a:solidFill>
                  <a:srgbClr val="B5CEA8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10</a:t>
            </a:r>
            <a:r>
              <a:rPr lang="en-US" sz="2200" dirty="0">
                <a:solidFill>
                  <a:srgbClr val="D4D4D4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&gt; </a:t>
            </a:r>
            <a:r>
              <a:rPr lang="en-US" sz="2200" dirty="0">
                <a:solidFill>
                  <a:srgbClr val="B5CEA8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3</a:t>
            </a:r>
            <a:r>
              <a:rPr lang="en-US" sz="2200" dirty="0">
                <a:solidFill>
                  <a:srgbClr val="D4D4D4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)         </a:t>
            </a:r>
            <a:r>
              <a:rPr lang="en-US" sz="2200" dirty="0">
                <a:solidFill>
                  <a:srgbClr val="6A9955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# True</a:t>
            </a:r>
          </a:p>
          <a:p>
            <a:pPr>
              <a:buNone/>
            </a:pPr>
            <a:r>
              <a:rPr lang="en-US" sz="2200" dirty="0">
                <a:solidFill>
                  <a:srgbClr val="DCDCAA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print</a:t>
            </a:r>
            <a:r>
              <a:rPr lang="en-US" sz="2200" dirty="0">
                <a:solidFill>
                  <a:srgbClr val="D4D4D4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(</a:t>
            </a:r>
            <a:r>
              <a:rPr lang="en-US" sz="2200" dirty="0">
                <a:solidFill>
                  <a:srgbClr val="B5CEA8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10</a:t>
            </a:r>
            <a:r>
              <a:rPr lang="en-US" sz="2200" dirty="0">
                <a:solidFill>
                  <a:srgbClr val="D4D4D4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&lt; </a:t>
            </a:r>
            <a:r>
              <a:rPr lang="en-US" sz="2200" dirty="0">
                <a:solidFill>
                  <a:srgbClr val="B5CEA8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3</a:t>
            </a:r>
            <a:r>
              <a:rPr lang="en-US" sz="2200" dirty="0">
                <a:solidFill>
                  <a:srgbClr val="D4D4D4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)         </a:t>
            </a:r>
            <a:r>
              <a:rPr lang="en-US" sz="2200" dirty="0">
                <a:solidFill>
                  <a:srgbClr val="6A9955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# False</a:t>
            </a:r>
          </a:p>
          <a:p>
            <a:pPr>
              <a:buNone/>
            </a:pPr>
            <a:r>
              <a:rPr lang="en-US" sz="2200" dirty="0">
                <a:solidFill>
                  <a:srgbClr val="DCDCAA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print</a:t>
            </a:r>
            <a:r>
              <a:rPr lang="en-US" sz="2200" dirty="0">
                <a:solidFill>
                  <a:srgbClr val="D4D4D4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(</a:t>
            </a:r>
            <a:r>
              <a:rPr lang="en-US" sz="2200" dirty="0">
                <a:solidFill>
                  <a:srgbClr val="DCDCAA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type</a:t>
            </a:r>
            <a:r>
              <a:rPr lang="en-US" sz="2200" dirty="0">
                <a:solidFill>
                  <a:srgbClr val="D4D4D4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(</a:t>
            </a:r>
            <a:r>
              <a:rPr lang="en-US" sz="2200" dirty="0">
                <a:solidFill>
                  <a:srgbClr val="B5CEA8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10</a:t>
            </a:r>
            <a:r>
              <a:rPr lang="en-US" sz="2200" dirty="0">
                <a:solidFill>
                  <a:srgbClr val="D4D4D4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&gt; </a:t>
            </a:r>
            <a:r>
              <a:rPr lang="en-US" sz="2200" dirty="0">
                <a:solidFill>
                  <a:srgbClr val="B5CEA8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3</a:t>
            </a:r>
            <a:r>
              <a:rPr lang="en-US" sz="2200" dirty="0">
                <a:solidFill>
                  <a:srgbClr val="D4D4D4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))   </a:t>
            </a:r>
            <a:r>
              <a:rPr lang="en-US" sz="2200" dirty="0">
                <a:solidFill>
                  <a:srgbClr val="6A9955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# &lt;class 'bool'&gt;</a:t>
            </a:r>
          </a:p>
        </p:txBody>
      </p:sp>
    </p:spTree>
    <p:extLst>
      <p:ext uri="{BB962C8B-B14F-4D97-AF65-F5344CB8AC3E}">
        <p14:creationId xmlns:p14="http://schemas.microsoft.com/office/powerpoint/2010/main" val="21926507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6" dur="1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532E628-E1B2-8B78-566F-D91F793771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Oval 13">
            <a:extLst>
              <a:ext uri="{FF2B5EF4-FFF2-40B4-BE49-F238E27FC236}">
                <a16:creationId xmlns:a16="http://schemas.microsoft.com/office/drawing/2014/main" id="{3C1D1EE2-7173-C1ED-78B3-B7B0D78B3F5D}"/>
              </a:ext>
            </a:extLst>
          </p:cNvPr>
          <p:cNvSpPr/>
          <p:nvPr/>
        </p:nvSpPr>
        <p:spPr>
          <a:xfrm>
            <a:off x="7454976" y="-236116"/>
            <a:ext cx="1586378" cy="1586378"/>
          </a:xfrm>
          <a:prstGeom prst="ellipse">
            <a:avLst/>
          </a:prstGeom>
          <a:noFill/>
          <a:ln w="57150">
            <a:solidFill>
              <a:schemeClr val="accent3">
                <a:lumMod val="25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33EEE18F-32C2-01AA-CAB1-85D64E08ED0B}"/>
              </a:ext>
            </a:extLst>
          </p:cNvPr>
          <p:cNvCxnSpPr>
            <a:cxnSpLocks/>
          </p:cNvCxnSpPr>
          <p:nvPr/>
        </p:nvCxnSpPr>
        <p:spPr>
          <a:xfrm>
            <a:off x="-363907" y="1175192"/>
            <a:ext cx="2926132" cy="0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72793B97-43E1-B480-1264-C9FF20681E5A}"/>
              </a:ext>
            </a:extLst>
          </p:cNvPr>
          <p:cNvCxnSpPr/>
          <p:nvPr/>
        </p:nvCxnSpPr>
        <p:spPr>
          <a:xfrm>
            <a:off x="8630196" y="6714818"/>
            <a:ext cx="3805083" cy="0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9618C01C-80A1-AC3B-A909-471A11C86B0F}"/>
              </a:ext>
            </a:extLst>
          </p:cNvPr>
          <p:cNvSpPr/>
          <p:nvPr/>
        </p:nvSpPr>
        <p:spPr>
          <a:xfrm>
            <a:off x="112344" y="93525"/>
            <a:ext cx="8138160" cy="911542"/>
          </a:xfrm>
          <a:prstGeom prst="rect">
            <a:avLst/>
          </a:prstGeom>
          <a:solidFill>
            <a:schemeClr val="accent3">
              <a:lumMod val="50000"/>
            </a:schemeClr>
          </a:solidFill>
          <a:ln w="57150">
            <a:solidFill>
              <a:schemeClr val="accent3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b="1" dirty="0"/>
              <a:t>COMPARISON OPERATORS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04F567A-E19C-74A7-B049-CF176EB9CF80}"/>
              </a:ext>
            </a:extLst>
          </p:cNvPr>
          <p:cNvSpPr/>
          <p:nvPr/>
        </p:nvSpPr>
        <p:spPr>
          <a:xfrm>
            <a:off x="526943" y="1695457"/>
            <a:ext cx="11116415" cy="4835840"/>
          </a:xfrm>
          <a:prstGeom prst="rect">
            <a:avLst/>
          </a:prstGeom>
          <a:solidFill>
            <a:schemeClr val="accent3">
              <a:lumMod val="50000"/>
            </a:schemeClr>
          </a:solidFill>
          <a:ln w="57150">
            <a:solidFill>
              <a:schemeClr val="accent3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rmAutofit/>
          </a:bodyPr>
          <a:lstStyle/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latin typeface="Cascadia Code" panose="020B0609020000020004" pitchFamily="49" charset="0"/>
                <a:cs typeface="Cascadia Code" panose="020B0609020000020004" pitchFamily="49" charset="0"/>
              </a:rPr>
              <a:t>==</a:t>
            </a:r>
            <a:r>
              <a:rPr lang="en-US" sz="2400" dirty="0"/>
              <a:t>   equal to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latin typeface="Cascadia Code" panose="020B0609020000020004" pitchFamily="49" charset="0"/>
                <a:cs typeface="Cascadia Code" panose="020B0609020000020004" pitchFamily="49" charset="0"/>
              </a:rPr>
              <a:t>!=</a:t>
            </a:r>
            <a:r>
              <a:rPr lang="en-US" sz="2400" dirty="0"/>
              <a:t>   not equal to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latin typeface="Cascadia Code" panose="020B0609020000020004" pitchFamily="49" charset="0"/>
                <a:cs typeface="Cascadia Code" panose="020B0609020000020004" pitchFamily="49" charset="0"/>
              </a:rPr>
              <a:t>&lt;  &gt;</a:t>
            </a:r>
            <a:r>
              <a:rPr lang="en-US" sz="2400" dirty="0"/>
              <a:t>   less than, greater than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latin typeface="Cascadia Code" panose="020B0609020000020004" pitchFamily="49" charset="0"/>
                <a:cs typeface="Cascadia Code" panose="020B0609020000020004" pitchFamily="49" charset="0"/>
              </a:rPr>
              <a:t>&lt;=  &gt;=</a:t>
            </a:r>
            <a:r>
              <a:rPr lang="en-US" sz="2400" dirty="0"/>
              <a:t>   less than or equal to, greater than or equal to</a:t>
            </a:r>
          </a:p>
          <a:p>
            <a:pPr marL="0" indent="0">
              <a:spcAft>
                <a:spcPts val="600"/>
              </a:spcAft>
              <a:buNone/>
            </a:pPr>
            <a:endParaRPr lang="en-US" sz="2400" dirty="0"/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One </a:t>
            </a:r>
            <a:r>
              <a:rPr lang="en-US" sz="2400" dirty="0">
                <a:latin typeface="Cascadia Code" panose="020B0609020000020004" pitchFamily="49" charset="0"/>
                <a:cs typeface="Cascadia Code" panose="020B0609020000020004" pitchFamily="49" charset="0"/>
              </a:rPr>
              <a:t>=</a:t>
            </a:r>
            <a:r>
              <a:rPr lang="en-US" sz="2400" dirty="0"/>
              <a:t> stores a value. Two </a:t>
            </a:r>
            <a:r>
              <a:rPr lang="en-US" sz="2400" dirty="0">
                <a:latin typeface="Cascadia Code" panose="020B0609020000020004" pitchFamily="49" charset="0"/>
                <a:cs typeface="Cascadia Code" panose="020B0609020000020004" pitchFamily="49" charset="0"/>
              </a:rPr>
              <a:t>==</a:t>
            </a:r>
            <a:r>
              <a:rPr lang="en-US" sz="2400" dirty="0"/>
              <a:t> asks a question (now THIS is equality like in math class!)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b="1" dirty="0"/>
              <a:t>→ Now: Lab questions 1–2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C75202F6-37E7-9E3F-2D8F-24D9DFCC8C1B}"/>
              </a:ext>
            </a:extLst>
          </p:cNvPr>
          <p:cNvCxnSpPr>
            <a:cxnSpLocks/>
          </p:cNvCxnSpPr>
          <p:nvPr/>
        </p:nvCxnSpPr>
        <p:spPr>
          <a:xfrm>
            <a:off x="12057283" y="-1425440"/>
            <a:ext cx="0" cy="3320915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926507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6" dur="1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532E628-E1B2-8B78-566F-D91F793771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Oval 13">
            <a:extLst>
              <a:ext uri="{FF2B5EF4-FFF2-40B4-BE49-F238E27FC236}">
                <a16:creationId xmlns:a16="http://schemas.microsoft.com/office/drawing/2014/main" id="{3C1D1EE2-7173-C1ED-78B3-B7B0D78B3F5D}"/>
              </a:ext>
            </a:extLst>
          </p:cNvPr>
          <p:cNvSpPr/>
          <p:nvPr/>
        </p:nvSpPr>
        <p:spPr>
          <a:xfrm>
            <a:off x="3431616" y="-243893"/>
            <a:ext cx="1586378" cy="1586378"/>
          </a:xfrm>
          <a:prstGeom prst="ellipse">
            <a:avLst/>
          </a:prstGeom>
          <a:noFill/>
          <a:ln w="57150">
            <a:solidFill>
              <a:schemeClr val="accent3">
                <a:lumMod val="25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33EEE18F-32C2-01AA-CAB1-85D64E08ED0B}"/>
              </a:ext>
            </a:extLst>
          </p:cNvPr>
          <p:cNvCxnSpPr>
            <a:cxnSpLocks/>
          </p:cNvCxnSpPr>
          <p:nvPr/>
        </p:nvCxnSpPr>
        <p:spPr>
          <a:xfrm>
            <a:off x="-363907" y="1175192"/>
            <a:ext cx="2926132" cy="0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72793B97-43E1-B480-1264-C9FF20681E5A}"/>
              </a:ext>
            </a:extLst>
          </p:cNvPr>
          <p:cNvCxnSpPr/>
          <p:nvPr/>
        </p:nvCxnSpPr>
        <p:spPr>
          <a:xfrm>
            <a:off x="8630196" y="6714818"/>
            <a:ext cx="3805083" cy="0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9618C01C-80A1-AC3B-A909-471A11C86B0F}"/>
              </a:ext>
            </a:extLst>
          </p:cNvPr>
          <p:cNvSpPr/>
          <p:nvPr/>
        </p:nvSpPr>
        <p:spPr>
          <a:xfrm>
            <a:off x="112344" y="93525"/>
            <a:ext cx="4114800" cy="911542"/>
          </a:xfrm>
          <a:prstGeom prst="rect">
            <a:avLst/>
          </a:prstGeom>
          <a:solidFill>
            <a:schemeClr val="accent3">
              <a:lumMod val="50000"/>
            </a:schemeClr>
          </a:solidFill>
          <a:ln w="57150">
            <a:solidFill>
              <a:schemeClr val="accent3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b="1" dirty="0"/>
              <a:t>IF / ELSE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04F567A-E19C-74A7-B049-CF176EB9CF80}"/>
              </a:ext>
            </a:extLst>
          </p:cNvPr>
          <p:cNvSpPr/>
          <p:nvPr/>
        </p:nvSpPr>
        <p:spPr>
          <a:xfrm>
            <a:off x="526943" y="1695457"/>
            <a:ext cx="11116415" cy="2478024"/>
          </a:xfrm>
          <a:prstGeom prst="rect">
            <a:avLst/>
          </a:prstGeom>
          <a:solidFill>
            <a:schemeClr val="accent3">
              <a:lumMod val="50000"/>
            </a:schemeClr>
          </a:solidFill>
          <a:ln w="57150">
            <a:solidFill>
              <a:schemeClr val="accent3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rmAutofit/>
          </a:bodyPr>
          <a:lstStyle/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200" dirty="0">
                <a:latin typeface="Cascadia Code" panose="020B0609020000020004" pitchFamily="49" charset="0"/>
                <a:cs typeface="Cascadia Code" panose="020B0609020000020004" pitchFamily="49" charset="0"/>
              </a:rPr>
              <a:t>if</a:t>
            </a:r>
            <a:r>
              <a:rPr lang="en-US" sz="2200" dirty="0"/>
              <a:t> runs its block only when the condition is </a:t>
            </a:r>
            <a:r>
              <a:rPr lang="en-US" sz="2200" dirty="0">
                <a:latin typeface="Cascadia Code" panose="020B0609020000020004" pitchFamily="49" charset="0"/>
                <a:cs typeface="Cascadia Code" panose="020B0609020000020004" pitchFamily="49" charset="0"/>
              </a:rPr>
              <a:t>True</a:t>
            </a:r>
            <a:r>
              <a:rPr lang="en-US" sz="2200" dirty="0"/>
              <a:t>.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200" dirty="0">
                <a:latin typeface="Cascadia Code" panose="020B0609020000020004" pitchFamily="49" charset="0"/>
                <a:cs typeface="Cascadia Code" panose="020B0609020000020004" pitchFamily="49" charset="0"/>
              </a:rPr>
              <a:t>else</a:t>
            </a:r>
            <a:r>
              <a:rPr lang="en-US" sz="2200" dirty="0"/>
              <a:t> has no condition, because it runs only when the </a:t>
            </a:r>
            <a:r>
              <a:rPr lang="en-US" sz="2200" dirty="0">
                <a:latin typeface="Cascadia Code" panose="020B0609020000020004" pitchFamily="49" charset="0"/>
                <a:cs typeface="Cascadia Code" panose="020B0609020000020004" pitchFamily="49" charset="0"/>
              </a:rPr>
              <a:t>if</a:t>
            </a:r>
            <a:r>
              <a:rPr lang="en-US" sz="2200" dirty="0"/>
              <a:t> was </a:t>
            </a:r>
            <a:r>
              <a:rPr lang="en-US" sz="2200" dirty="0">
                <a:latin typeface="Cascadia Code" panose="020B0609020000020004" pitchFamily="49" charset="0"/>
                <a:cs typeface="Cascadia Code" panose="020B0609020000020004" pitchFamily="49" charset="0"/>
              </a:rPr>
              <a:t>False</a:t>
            </a:r>
            <a:r>
              <a:rPr lang="en-US" sz="2200" dirty="0"/>
              <a:t>.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200" dirty="0"/>
              <a:t>The colon and the </a:t>
            </a:r>
            <a:r>
              <a:rPr lang="en-US" sz="2200" b="1" i="1" dirty="0">
                <a:solidFill>
                  <a:srgbClr val="FF66C4"/>
                </a:solidFill>
              </a:rPr>
              <a:t>indentation</a:t>
            </a:r>
            <a:r>
              <a:rPr lang="en-US" sz="2200" dirty="0"/>
              <a:t> show which lines belong to which branch.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C75202F6-37E7-9E3F-2D8F-24D9DFCC8C1B}"/>
              </a:ext>
            </a:extLst>
          </p:cNvPr>
          <p:cNvCxnSpPr>
            <a:cxnSpLocks/>
          </p:cNvCxnSpPr>
          <p:nvPr/>
        </p:nvCxnSpPr>
        <p:spPr>
          <a:xfrm>
            <a:off x="12057283" y="-1425440"/>
            <a:ext cx="0" cy="3320915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04" name="Rectangle 1"/>
          <p:cNvSpPr/>
          <p:nvPr/>
        </p:nvSpPr>
        <p:spPr>
          <a:xfrm>
            <a:off x="594360" y="4306824"/>
            <a:ext cx="11000232" cy="2157984"/>
          </a:xfrm>
          <a:prstGeom prst="rect">
            <a:avLst/>
          </a:prstGeom>
          <a:solidFill>
            <a:schemeClr val="bg2">
              <a:lumMod val="10000"/>
            </a:schemeClr>
          </a:solidFill>
          <a:ln w="7620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None/>
            </a:pPr>
            <a:r>
              <a:rPr lang="en-US" sz="2000" dirty="0">
                <a:solidFill>
                  <a:srgbClr val="D4D4D4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age = </a:t>
            </a:r>
            <a:r>
              <a:rPr lang="en-US" sz="2000" dirty="0">
                <a:solidFill>
                  <a:srgbClr val="DCDCAA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int</a:t>
            </a:r>
            <a:r>
              <a:rPr lang="en-US" sz="2000" dirty="0">
                <a:solidFill>
                  <a:srgbClr val="D4D4D4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(</a:t>
            </a:r>
            <a:r>
              <a:rPr lang="en-US" sz="2000" dirty="0">
                <a:solidFill>
                  <a:srgbClr val="DCDCAA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input</a:t>
            </a:r>
            <a:r>
              <a:rPr lang="en-US" sz="2000" dirty="0">
                <a:solidFill>
                  <a:srgbClr val="D4D4D4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(</a:t>
            </a:r>
            <a:r>
              <a:rPr lang="en-US" sz="2000" dirty="0">
                <a:solidFill>
                  <a:srgbClr val="CE9178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"How old are you? "</a:t>
            </a:r>
            <a:r>
              <a:rPr lang="en-US" sz="2000" dirty="0">
                <a:solidFill>
                  <a:srgbClr val="D4D4D4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))</a:t>
            </a:r>
          </a:p>
          <a:p>
            <a:pPr>
              <a:buNone/>
            </a:pPr>
            <a:r>
              <a:rPr lang="en-US" sz="2000" dirty="0">
                <a:solidFill>
                  <a:srgbClr val="C586C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if</a:t>
            </a:r>
            <a:r>
              <a:rPr lang="en-US" sz="2000" dirty="0">
                <a:solidFill>
                  <a:srgbClr val="D4D4D4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age &gt;= </a:t>
            </a:r>
            <a:r>
              <a:rPr lang="en-US" sz="2000" dirty="0">
                <a:solidFill>
                  <a:srgbClr val="B5CEA8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13</a:t>
            </a:r>
            <a:r>
              <a:rPr lang="en-US" sz="2000" dirty="0">
                <a:solidFill>
                  <a:srgbClr val="D4D4D4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:</a:t>
            </a:r>
          </a:p>
          <a:p>
            <a:pPr>
              <a:buNone/>
            </a:pPr>
            <a:r>
              <a:rPr lang="en-US" sz="2000" dirty="0">
                <a:solidFill>
                  <a:srgbClr val="D4D4D4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   </a:t>
            </a:r>
            <a:r>
              <a:rPr lang="en-US" sz="2000" dirty="0">
                <a:solidFill>
                  <a:srgbClr val="DCDCAA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print</a:t>
            </a:r>
            <a:r>
              <a:rPr lang="en-US" sz="2000" dirty="0">
                <a:solidFill>
                  <a:srgbClr val="D4D4D4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(</a:t>
            </a:r>
            <a:r>
              <a:rPr lang="en-US" sz="2000" dirty="0">
                <a:solidFill>
                  <a:srgbClr val="CE9178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"You can join the club."</a:t>
            </a:r>
            <a:r>
              <a:rPr lang="en-US" sz="2000" dirty="0">
                <a:solidFill>
                  <a:srgbClr val="D4D4D4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)</a:t>
            </a:r>
          </a:p>
          <a:p>
            <a:pPr>
              <a:buNone/>
            </a:pPr>
            <a:r>
              <a:rPr lang="en-US" sz="2000" dirty="0">
                <a:solidFill>
                  <a:srgbClr val="C586C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else</a:t>
            </a:r>
            <a:r>
              <a:rPr lang="en-US" sz="2000" dirty="0">
                <a:solidFill>
                  <a:srgbClr val="D4D4D4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:</a:t>
            </a:r>
          </a:p>
          <a:p>
            <a:pPr>
              <a:buNone/>
            </a:pPr>
            <a:r>
              <a:rPr lang="en-US" sz="2000" dirty="0">
                <a:solidFill>
                  <a:srgbClr val="D4D4D4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   </a:t>
            </a:r>
            <a:r>
              <a:rPr lang="en-US" sz="2000" dirty="0">
                <a:solidFill>
                  <a:srgbClr val="DCDCAA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print</a:t>
            </a:r>
            <a:r>
              <a:rPr lang="en-US" sz="2000" dirty="0">
                <a:solidFill>
                  <a:srgbClr val="D4D4D4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(</a:t>
            </a:r>
            <a:r>
              <a:rPr lang="en-US" sz="2000" dirty="0">
                <a:solidFill>
                  <a:srgbClr val="CE9178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"Come back when you are 13."</a:t>
            </a:r>
            <a:r>
              <a:rPr lang="en-US" sz="2000" dirty="0">
                <a:solidFill>
                  <a:srgbClr val="D4D4D4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1926507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6" dur="1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532E628-E1B2-8B78-566F-D91F793771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Oval 13">
            <a:extLst>
              <a:ext uri="{FF2B5EF4-FFF2-40B4-BE49-F238E27FC236}">
                <a16:creationId xmlns:a16="http://schemas.microsoft.com/office/drawing/2014/main" id="{3C1D1EE2-7173-C1ED-78B3-B7B0D78B3F5D}"/>
              </a:ext>
            </a:extLst>
          </p:cNvPr>
          <p:cNvSpPr/>
          <p:nvPr/>
        </p:nvSpPr>
        <p:spPr>
          <a:xfrm>
            <a:off x="6357696" y="-236116"/>
            <a:ext cx="1586378" cy="1586378"/>
          </a:xfrm>
          <a:prstGeom prst="ellipse">
            <a:avLst/>
          </a:prstGeom>
          <a:noFill/>
          <a:ln w="57150">
            <a:solidFill>
              <a:schemeClr val="accent3">
                <a:lumMod val="25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33EEE18F-32C2-01AA-CAB1-85D64E08ED0B}"/>
              </a:ext>
            </a:extLst>
          </p:cNvPr>
          <p:cNvCxnSpPr>
            <a:cxnSpLocks/>
          </p:cNvCxnSpPr>
          <p:nvPr/>
        </p:nvCxnSpPr>
        <p:spPr>
          <a:xfrm>
            <a:off x="-363907" y="1175192"/>
            <a:ext cx="2926132" cy="0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72793B97-43E1-B480-1264-C9FF20681E5A}"/>
              </a:ext>
            </a:extLst>
          </p:cNvPr>
          <p:cNvCxnSpPr/>
          <p:nvPr/>
        </p:nvCxnSpPr>
        <p:spPr>
          <a:xfrm>
            <a:off x="8630196" y="6714818"/>
            <a:ext cx="3805083" cy="0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9618C01C-80A1-AC3B-A909-471A11C86B0F}"/>
              </a:ext>
            </a:extLst>
          </p:cNvPr>
          <p:cNvSpPr/>
          <p:nvPr/>
        </p:nvSpPr>
        <p:spPr>
          <a:xfrm>
            <a:off x="112344" y="93525"/>
            <a:ext cx="7040880" cy="911542"/>
          </a:xfrm>
          <a:prstGeom prst="rect">
            <a:avLst/>
          </a:prstGeom>
          <a:solidFill>
            <a:schemeClr val="accent3">
              <a:lumMod val="50000"/>
            </a:schemeClr>
          </a:solidFill>
          <a:ln w="57150">
            <a:solidFill>
              <a:schemeClr val="accent3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b="1" dirty="0"/>
              <a:t>WHEN IFS GO WRONG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04F567A-E19C-74A7-B049-CF176EB9CF80}"/>
              </a:ext>
            </a:extLst>
          </p:cNvPr>
          <p:cNvSpPr/>
          <p:nvPr/>
        </p:nvSpPr>
        <p:spPr>
          <a:xfrm>
            <a:off x="526943" y="1695457"/>
            <a:ext cx="11116415" cy="4835840"/>
          </a:xfrm>
          <a:prstGeom prst="rect">
            <a:avLst/>
          </a:prstGeom>
          <a:solidFill>
            <a:schemeClr val="accent3">
              <a:lumMod val="50000"/>
            </a:schemeClr>
          </a:solidFill>
          <a:ln w="57150">
            <a:solidFill>
              <a:schemeClr val="accent3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rmAutofit/>
          </a:bodyPr>
          <a:lstStyle/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latin typeface="Cascadia Code" panose="020B0609020000020004" pitchFamily="49" charset="0"/>
                <a:cs typeface="Cascadia Code" panose="020B0609020000020004" pitchFamily="49" charset="0"/>
              </a:rPr>
              <a:t>if age = 13:</a:t>
            </a:r>
            <a:r>
              <a:rPr lang="en-US" sz="2400" dirty="0"/>
              <a:t>  →  </a:t>
            </a:r>
            <a:r>
              <a:rPr lang="en-US" sz="2400" b="1" dirty="0"/>
              <a:t>SyntaxError</a:t>
            </a:r>
            <a:r>
              <a:rPr lang="en-US" sz="2400" dirty="0"/>
              <a:t>. Comparing needs </a:t>
            </a:r>
            <a:r>
              <a:rPr lang="en-US" sz="2400" dirty="0">
                <a:latin typeface="Cascadia Code" panose="020B0609020000020004" pitchFamily="49" charset="0"/>
                <a:cs typeface="Cascadia Code" panose="020B0609020000020004" pitchFamily="49" charset="0"/>
              </a:rPr>
              <a:t>==</a:t>
            </a:r>
            <a:r>
              <a:rPr lang="en-US" sz="2400" dirty="0"/>
              <a:t>.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latin typeface="Cascadia Code" panose="020B0609020000020004" pitchFamily="49" charset="0"/>
                <a:cs typeface="Cascadia Code" panose="020B0609020000020004" pitchFamily="49" charset="0"/>
              </a:rPr>
              <a:t>if age &gt;= 13</a:t>
            </a:r>
            <a:r>
              <a:rPr lang="en-US" sz="2400" dirty="0"/>
              <a:t>  →  </a:t>
            </a:r>
            <a:r>
              <a:rPr lang="en-US" sz="2400" b="1" dirty="0"/>
              <a:t>SyntaxError</a:t>
            </a:r>
            <a:r>
              <a:rPr lang="en-US" sz="2400" dirty="0"/>
              <a:t>. The colon is missing.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A line under </a:t>
            </a:r>
            <a:r>
              <a:rPr lang="en-US" sz="2400" dirty="0">
                <a:latin typeface="Cascadia Code" panose="020B0609020000020004" pitchFamily="49" charset="0"/>
                <a:cs typeface="Cascadia Code" panose="020B0609020000020004" pitchFamily="49" charset="0"/>
              </a:rPr>
              <a:t>if</a:t>
            </a:r>
            <a:r>
              <a:rPr lang="en-US" sz="2400" dirty="0"/>
              <a:t> that is not indented  →  </a:t>
            </a:r>
            <a:r>
              <a:rPr lang="en-US" sz="2400" b="1" dirty="0"/>
              <a:t>IndentationError</a:t>
            </a:r>
            <a:r>
              <a:rPr lang="en-US" sz="2400" dirty="0"/>
              <a:t>.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latin typeface="Cascadia Code" panose="020B0609020000020004" pitchFamily="49" charset="0"/>
                <a:cs typeface="Cascadia Code" panose="020B0609020000020004" pitchFamily="49" charset="0"/>
              </a:rPr>
              <a:t>if age &gt;= "13":</a:t>
            </a:r>
            <a:r>
              <a:rPr lang="en-US" sz="2400" dirty="0"/>
              <a:t>  →  </a:t>
            </a:r>
            <a:r>
              <a:rPr lang="en-US" sz="2400" b="1" dirty="0"/>
              <a:t>TypeError</a:t>
            </a:r>
            <a:r>
              <a:rPr lang="en-US" sz="2400" dirty="0"/>
              <a:t>. Compare numbers with numbers.</a:t>
            </a:r>
          </a:p>
          <a:p>
            <a:pPr marL="0" indent="0">
              <a:spcAft>
                <a:spcPts val="600"/>
              </a:spcAft>
              <a:buNone/>
            </a:pPr>
            <a:endParaRPr lang="en-US" sz="2400" dirty="0"/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b="1" dirty="0"/>
              <a:t>→ Lab question 4 has three of these bugs hidden in it.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b="1" dirty="0"/>
              <a:t>→ Now: Lab questions 3–4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C75202F6-37E7-9E3F-2D8F-24D9DFCC8C1B}"/>
              </a:ext>
            </a:extLst>
          </p:cNvPr>
          <p:cNvCxnSpPr>
            <a:cxnSpLocks/>
          </p:cNvCxnSpPr>
          <p:nvPr/>
        </p:nvCxnSpPr>
        <p:spPr>
          <a:xfrm>
            <a:off x="12057283" y="-1425440"/>
            <a:ext cx="0" cy="3320915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926507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6" dur="1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532E628-E1B2-8B78-566F-D91F793771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Oval 13">
            <a:extLst>
              <a:ext uri="{FF2B5EF4-FFF2-40B4-BE49-F238E27FC236}">
                <a16:creationId xmlns:a16="http://schemas.microsoft.com/office/drawing/2014/main" id="{3C1D1EE2-7173-C1ED-78B3-B7B0D78B3F5D}"/>
              </a:ext>
            </a:extLst>
          </p:cNvPr>
          <p:cNvSpPr/>
          <p:nvPr/>
        </p:nvSpPr>
        <p:spPr>
          <a:xfrm>
            <a:off x="3340176" y="-243893"/>
            <a:ext cx="1586378" cy="1586378"/>
          </a:xfrm>
          <a:prstGeom prst="ellipse">
            <a:avLst/>
          </a:prstGeom>
          <a:noFill/>
          <a:ln w="57150">
            <a:solidFill>
              <a:schemeClr val="accent3">
                <a:lumMod val="25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33EEE18F-32C2-01AA-CAB1-85D64E08ED0B}"/>
              </a:ext>
            </a:extLst>
          </p:cNvPr>
          <p:cNvCxnSpPr>
            <a:cxnSpLocks/>
          </p:cNvCxnSpPr>
          <p:nvPr/>
        </p:nvCxnSpPr>
        <p:spPr>
          <a:xfrm>
            <a:off x="-363907" y="1175192"/>
            <a:ext cx="2926132" cy="0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72793B97-43E1-B480-1264-C9FF20681E5A}"/>
              </a:ext>
            </a:extLst>
          </p:cNvPr>
          <p:cNvCxnSpPr/>
          <p:nvPr/>
        </p:nvCxnSpPr>
        <p:spPr>
          <a:xfrm>
            <a:off x="8630196" y="6714818"/>
            <a:ext cx="3805083" cy="0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9618C01C-80A1-AC3B-A909-471A11C86B0F}"/>
              </a:ext>
            </a:extLst>
          </p:cNvPr>
          <p:cNvSpPr/>
          <p:nvPr/>
        </p:nvSpPr>
        <p:spPr>
          <a:xfrm>
            <a:off x="112344" y="93525"/>
            <a:ext cx="4023360" cy="911542"/>
          </a:xfrm>
          <a:prstGeom prst="rect">
            <a:avLst/>
          </a:prstGeom>
          <a:solidFill>
            <a:schemeClr val="accent3">
              <a:lumMod val="50000"/>
            </a:schemeClr>
          </a:solidFill>
          <a:ln w="57150">
            <a:solidFill>
              <a:schemeClr val="accent3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b="1" dirty="0"/>
              <a:t>ELIF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04F567A-E19C-74A7-B049-CF176EB9CF80}"/>
              </a:ext>
            </a:extLst>
          </p:cNvPr>
          <p:cNvSpPr/>
          <p:nvPr/>
        </p:nvSpPr>
        <p:spPr>
          <a:xfrm>
            <a:off x="526943" y="1695457"/>
            <a:ext cx="11116415" cy="1600200"/>
          </a:xfrm>
          <a:prstGeom prst="rect">
            <a:avLst/>
          </a:prstGeom>
          <a:solidFill>
            <a:schemeClr val="accent3">
              <a:lumMod val="50000"/>
            </a:schemeClr>
          </a:solidFill>
          <a:ln w="57150">
            <a:solidFill>
              <a:schemeClr val="accent3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rmAutofit/>
          </a:bodyPr>
          <a:lstStyle/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200" dirty="0">
                <a:latin typeface="Cascadia Code" panose="020B0609020000020004" pitchFamily="49" charset="0"/>
                <a:cs typeface="Cascadia Code" panose="020B0609020000020004" pitchFamily="49" charset="0"/>
              </a:rPr>
              <a:t>elif</a:t>
            </a:r>
            <a:r>
              <a:rPr lang="en-US" sz="2200" dirty="0"/>
              <a:t> means "else, if". Use it when there are more than two choices.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200" dirty="0"/>
              <a:t>Python checks from the top down and runs the </a:t>
            </a:r>
            <a:r>
              <a:rPr lang="en-US" sz="2200" b="1" dirty="0"/>
              <a:t>first</a:t>
            </a:r>
            <a:r>
              <a:rPr lang="en-US" sz="2200" dirty="0"/>
              <a:t> block that is </a:t>
            </a:r>
            <a:r>
              <a:rPr lang="en-US" sz="2200" dirty="0">
                <a:latin typeface="Cascadia Code" panose="020B0609020000020004" pitchFamily="49" charset="0"/>
                <a:cs typeface="Cascadia Code" panose="020B0609020000020004" pitchFamily="49" charset="0"/>
              </a:rPr>
              <a:t>True</a:t>
            </a:r>
            <a:r>
              <a:rPr lang="en-US" sz="2200" dirty="0"/>
              <a:t>, skipping the rest of that chain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C75202F6-37E7-9E3F-2D8F-24D9DFCC8C1B}"/>
              </a:ext>
            </a:extLst>
          </p:cNvPr>
          <p:cNvCxnSpPr>
            <a:cxnSpLocks/>
          </p:cNvCxnSpPr>
          <p:nvPr/>
        </p:nvCxnSpPr>
        <p:spPr>
          <a:xfrm>
            <a:off x="12057283" y="-1425440"/>
            <a:ext cx="0" cy="3320915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04" name="Rectangle 1"/>
          <p:cNvSpPr/>
          <p:nvPr/>
        </p:nvSpPr>
        <p:spPr>
          <a:xfrm>
            <a:off x="594360" y="3429000"/>
            <a:ext cx="11000232" cy="3108960"/>
          </a:xfrm>
          <a:prstGeom prst="rect">
            <a:avLst/>
          </a:prstGeom>
          <a:solidFill>
            <a:schemeClr val="bg2">
              <a:lumMod val="10000"/>
            </a:schemeClr>
          </a:solidFill>
          <a:ln w="7620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None/>
            </a:pPr>
            <a:r>
              <a:rPr lang="en-US" sz="1800" dirty="0">
                <a:solidFill>
                  <a:srgbClr val="D4D4D4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score = </a:t>
            </a:r>
            <a:r>
              <a:rPr lang="en-US" sz="1800" dirty="0">
                <a:solidFill>
                  <a:srgbClr val="DCDCAA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int</a:t>
            </a:r>
            <a:r>
              <a:rPr lang="en-US" sz="1800" dirty="0">
                <a:solidFill>
                  <a:srgbClr val="D4D4D4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(</a:t>
            </a:r>
            <a:r>
              <a:rPr lang="en-US" sz="1800" dirty="0">
                <a:solidFill>
                  <a:srgbClr val="DCDCAA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input</a:t>
            </a:r>
            <a:r>
              <a:rPr lang="en-US" sz="1800" dirty="0">
                <a:solidFill>
                  <a:srgbClr val="D4D4D4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(</a:t>
            </a:r>
            <a:r>
              <a:rPr lang="en-US" sz="1800" dirty="0">
                <a:solidFill>
                  <a:srgbClr val="CE9178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"Score out of 100? "</a:t>
            </a:r>
            <a:r>
              <a:rPr lang="en-US" sz="1800" dirty="0">
                <a:solidFill>
                  <a:srgbClr val="D4D4D4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))</a:t>
            </a:r>
          </a:p>
          <a:p>
            <a:pPr>
              <a:buNone/>
            </a:pPr>
            <a:r>
              <a:rPr lang="en-US" sz="1800" dirty="0">
                <a:solidFill>
                  <a:srgbClr val="C586C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if</a:t>
            </a:r>
            <a:r>
              <a:rPr lang="en-US" sz="1800" dirty="0">
                <a:solidFill>
                  <a:srgbClr val="D4D4D4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score &gt;= </a:t>
            </a:r>
            <a:r>
              <a:rPr lang="en-US" sz="1800" dirty="0">
                <a:solidFill>
                  <a:srgbClr val="B5CEA8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90</a:t>
            </a:r>
            <a:r>
              <a:rPr lang="en-US" sz="1800" dirty="0">
                <a:solidFill>
                  <a:srgbClr val="D4D4D4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:</a:t>
            </a:r>
          </a:p>
          <a:p>
            <a:pPr>
              <a:buNone/>
            </a:pPr>
            <a:r>
              <a:rPr lang="en-US" sz="1800" dirty="0">
                <a:solidFill>
                  <a:srgbClr val="D4D4D4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   </a:t>
            </a:r>
            <a:r>
              <a:rPr lang="en-US" sz="1800" dirty="0">
                <a:solidFill>
                  <a:srgbClr val="DCDCAA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print</a:t>
            </a:r>
            <a:r>
              <a:rPr lang="en-US" sz="1800" dirty="0">
                <a:solidFill>
                  <a:srgbClr val="D4D4D4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(</a:t>
            </a:r>
            <a:r>
              <a:rPr lang="en-US" sz="1800" dirty="0">
                <a:solidFill>
                  <a:srgbClr val="CE9178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"A"</a:t>
            </a:r>
            <a:r>
              <a:rPr lang="en-US" sz="1800" dirty="0">
                <a:solidFill>
                  <a:srgbClr val="D4D4D4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)</a:t>
            </a:r>
          </a:p>
          <a:p>
            <a:pPr>
              <a:buNone/>
            </a:pPr>
            <a:r>
              <a:rPr lang="en-US" sz="1800" dirty="0">
                <a:solidFill>
                  <a:srgbClr val="C586C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elif</a:t>
            </a:r>
            <a:r>
              <a:rPr lang="en-US" sz="1800" dirty="0">
                <a:solidFill>
                  <a:srgbClr val="D4D4D4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score &gt;= </a:t>
            </a:r>
            <a:r>
              <a:rPr lang="en-US" sz="1800" dirty="0">
                <a:solidFill>
                  <a:srgbClr val="B5CEA8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80</a:t>
            </a:r>
            <a:r>
              <a:rPr lang="en-US" sz="1800" dirty="0">
                <a:solidFill>
                  <a:srgbClr val="D4D4D4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:</a:t>
            </a:r>
          </a:p>
          <a:p>
            <a:pPr>
              <a:buNone/>
            </a:pPr>
            <a:r>
              <a:rPr lang="en-US" sz="1800" dirty="0">
                <a:solidFill>
                  <a:srgbClr val="D4D4D4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   </a:t>
            </a:r>
            <a:r>
              <a:rPr lang="en-US" sz="1800" dirty="0">
                <a:solidFill>
                  <a:srgbClr val="DCDCAA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print</a:t>
            </a:r>
            <a:r>
              <a:rPr lang="en-US" sz="1800" dirty="0">
                <a:solidFill>
                  <a:srgbClr val="D4D4D4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(</a:t>
            </a:r>
            <a:r>
              <a:rPr lang="en-US" sz="1800" dirty="0">
                <a:solidFill>
                  <a:srgbClr val="CE9178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"B"</a:t>
            </a:r>
            <a:r>
              <a:rPr lang="en-US" sz="1800" dirty="0">
                <a:solidFill>
                  <a:srgbClr val="D4D4D4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)</a:t>
            </a:r>
          </a:p>
          <a:p>
            <a:pPr>
              <a:buNone/>
            </a:pPr>
            <a:r>
              <a:rPr lang="en-US" sz="1800" dirty="0">
                <a:solidFill>
                  <a:srgbClr val="C586C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else</a:t>
            </a:r>
            <a:r>
              <a:rPr lang="en-US" sz="1800" dirty="0">
                <a:solidFill>
                  <a:srgbClr val="D4D4D4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:</a:t>
            </a:r>
          </a:p>
          <a:p>
            <a:pPr>
              <a:buNone/>
            </a:pPr>
            <a:r>
              <a:rPr lang="en-US" sz="1800" dirty="0">
                <a:solidFill>
                  <a:srgbClr val="D4D4D4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   </a:t>
            </a:r>
            <a:r>
              <a:rPr lang="en-US" sz="1800" dirty="0">
                <a:solidFill>
                  <a:srgbClr val="DCDCAA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print</a:t>
            </a:r>
            <a:r>
              <a:rPr lang="en-US" sz="1800" dirty="0">
                <a:solidFill>
                  <a:srgbClr val="D4D4D4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(</a:t>
            </a:r>
            <a:r>
              <a:rPr lang="en-US" sz="1800" dirty="0">
                <a:solidFill>
                  <a:srgbClr val="CE9178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"Keep practising"</a:t>
            </a:r>
            <a:r>
              <a:rPr lang="en-US" sz="1800" dirty="0">
                <a:solidFill>
                  <a:srgbClr val="D4D4D4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1926507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6" dur="1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532E628-E1B2-8B78-566F-D91F793771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Oval 13">
            <a:extLst>
              <a:ext uri="{FF2B5EF4-FFF2-40B4-BE49-F238E27FC236}">
                <a16:creationId xmlns:a16="http://schemas.microsoft.com/office/drawing/2014/main" id="{3C1D1EE2-7173-C1ED-78B3-B7B0D78B3F5D}"/>
              </a:ext>
            </a:extLst>
          </p:cNvPr>
          <p:cNvSpPr/>
          <p:nvPr/>
        </p:nvSpPr>
        <p:spPr>
          <a:xfrm>
            <a:off x="6723456" y="-243893"/>
            <a:ext cx="1586378" cy="1586378"/>
          </a:xfrm>
          <a:prstGeom prst="ellipse">
            <a:avLst/>
          </a:prstGeom>
          <a:noFill/>
          <a:ln w="57150">
            <a:solidFill>
              <a:schemeClr val="accent3">
                <a:lumMod val="25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33EEE18F-32C2-01AA-CAB1-85D64E08ED0B}"/>
              </a:ext>
            </a:extLst>
          </p:cNvPr>
          <p:cNvCxnSpPr>
            <a:cxnSpLocks/>
          </p:cNvCxnSpPr>
          <p:nvPr/>
        </p:nvCxnSpPr>
        <p:spPr>
          <a:xfrm>
            <a:off x="-363907" y="1175192"/>
            <a:ext cx="2926132" cy="0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72793B97-43E1-B480-1264-C9FF20681E5A}"/>
              </a:ext>
            </a:extLst>
          </p:cNvPr>
          <p:cNvCxnSpPr/>
          <p:nvPr/>
        </p:nvCxnSpPr>
        <p:spPr>
          <a:xfrm>
            <a:off x="8630196" y="6714818"/>
            <a:ext cx="3805083" cy="0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9618C01C-80A1-AC3B-A909-471A11C86B0F}"/>
              </a:ext>
            </a:extLst>
          </p:cNvPr>
          <p:cNvSpPr/>
          <p:nvPr/>
        </p:nvSpPr>
        <p:spPr>
          <a:xfrm>
            <a:off x="112344" y="93525"/>
            <a:ext cx="7406640" cy="911542"/>
          </a:xfrm>
          <a:prstGeom prst="rect">
            <a:avLst/>
          </a:prstGeom>
          <a:solidFill>
            <a:schemeClr val="accent3">
              <a:lumMod val="50000"/>
            </a:schemeClr>
          </a:solidFill>
          <a:ln w="57150">
            <a:solidFill>
              <a:schemeClr val="accent3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b="1" dirty="0"/>
              <a:t>PREDICT THE OUTPUT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04F567A-E19C-74A7-B049-CF176EB9CF80}"/>
              </a:ext>
            </a:extLst>
          </p:cNvPr>
          <p:cNvSpPr/>
          <p:nvPr/>
        </p:nvSpPr>
        <p:spPr>
          <a:xfrm>
            <a:off x="526943" y="1695457"/>
            <a:ext cx="11116415" cy="1600200"/>
          </a:xfrm>
          <a:prstGeom prst="rect">
            <a:avLst/>
          </a:prstGeom>
          <a:solidFill>
            <a:schemeClr val="accent3">
              <a:lumMod val="50000"/>
            </a:schemeClr>
          </a:solidFill>
          <a:ln w="57150">
            <a:solidFill>
              <a:schemeClr val="accent3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rmAutofit/>
          </a:bodyPr>
          <a:lstStyle/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200" dirty="0"/>
              <a:t>The user types </a:t>
            </a:r>
            <a:r>
              <a:rPr lang="en-US" sz="2200" b="1" dirty="0"/>
              <a:t>30</a:t>
            </a:r>
            <a:r>
              <a:rPr lang="en-US" sz="2200" dirty="0"/>
              <a:t>. What prints?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200" b="1" dirty="0"/>
              <a:t>→ Bonus: what change would make it print "Hot"?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200" b="1" dirty="0"/>
              <a:t>→ Now: Lab questions 5–6 (question 6 is this exact bug)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C75202F6-37E7-9E3F-2D8F-24D9DFCC8C1B}"/>
              </a:ext>
            </a:extLst>
          </p:cNvPr>
          <p:cNvCxnSpPr>
            <a:cxnSpLocks/>
          </p:cNvCxnSpPr>
          <p:nvPr/>
        </p:nvCxnSpPr>
        <p:spPr>
          <a:xfrm>
            <a:off x="12057283" y="-1425440"/>
            <a:ext cx="0" cy="3320915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04" name="Rectangle 1"/>
          <p:cNvSpPr/>
          <p:nvPr/>
        </p:nvSpPr>
        <p:spPr>
          <a:xfrm>
            <a:off x="594360" y="3429000"/>
            <a:ext cx="11000232" cy="3108960"/>
          </a:xfrm>
          <a:prstGeom prst="rect">
            <a:avLst/>
          </a:prstGeom>
          <a:solidFill>
            <a:schemeClr val="bg2">
              <a:lumMod val="10000"/>
            </a:schemeClr>
          </a:solidFill>
          <a:ln w="7620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None/>
            </a:pPr>
            <a:r>
              <a:rPr lang="en-US" sz="1800" dirty="0">
                <a:solidFill>
                  <a:srgbClr val="D4D4D4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temp = </a:t>
            </a:r>
            <a:r>
              <a:rPr lang="en-US" sz="1800" dirty="0">
                <a:solidFill>
                  <a:srgbClr val="DCDCAA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int</a:t>
            </a:r>
            <a:r>
              <a:rPr lang="en-US" sz="1800" dirty="0">
                <a:solidFill>
                  <a:srgbClr val="D4D4D4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(</a:t>
            </a:r>
            <a:r>
              <a:rPr lang="en-US" sz="1800" dirty="0">
                <a:solidFill>
                  <a:srgbClr val="DCDCAA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input</a:t>
            </a:r>
            <a:r>
              <a:rPr lang="en-US" sz="1800" dirty="0">
                <a:solidFill>
                  <a:srgbClr val="D4D4D4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(</a:t>
            </a:r>
            <a:r>
              <a:rPr lang="en-US" sz="1800" dirty="0">
                <a:solidFill>
                  <a:srgbClr val="CE9178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"Temperature in Celsius? "</a:t>
            </a:r>
            <a:r>
              <a:rPr lang="en-US" sz="1800" dirty="0">
                <a:solidFill>
                  <a:srgbClr val="D4D4D4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))</a:t>
            </a:r>
          </a:p>
          <a:p>
            <a:pPr>
              <a:buNone/>
            </a:pPr>
            <a:r>
              <a:rPr lang="en-US" sz="1800" dirty="0">
                <a:solidFill>
                  <a:srgbClr val="C586C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if</a:t>
            </a:r>
            <a:r>
              <a:rPr lang="en-US" sz="1800" dirty="0">
                <a:solidFill>
                  <a:srgbClr val="D4D4D4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temp &gt; </a:t>
            </a:r>
            <a:r>
              <a:rPr lang="en-US" sz="1800" dirty="0">
                <a:solidFill>
                  <a:srgbClr val="B5CEA8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10</a:t>
            </a:r>
            <a:r>
              <a:rPr lang="en-US" sz="1800" dirty="0">
                <a:solidFill>
                  <a:srgbClr val="D4D4D4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:</a:t>
            </a:r>
          </a:p>
          <a:p>
            <a:pPr>
              <a:buNone/>
            </a:pPr>
            <a:r>
              <a:rPr lang="en-US" sz="1800" dirty="0">
                <a:solidFill>
                  <a:srgbClr val="D4D4D4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   </a:t>
            </a:r>
            <a:r>
              <a:rPr lang="en-US" sz="1800" dirty="0">
                <a:solidFill>
                  <a:srgbClr val="DCDCAA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print</a:t>
            </a:r>
            <a:r>
              <a:rPr lang="en-US" sz="1800" dirty="0">
                <a:solidFill>
                  <a:srgbClr val="D4D4D4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(</a:t>
            </a:r>
            <a:r>
              <a:rPr lang="en-US" sz="1800" dirty="0">
                <a:solidFill>
                  <a:srgbClr val="CE9178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"Mild"</a:t>
            </a:r>
            <a:r>
              <a:rPr lang="en-US" sz="1800" dirty="0">
                <a:solidFill>
                  <a:srgbClr val="D4D4D4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)</a:t>
            </a:r>
          </a:p>
          <a:p>
            <a:pPr>
              <a:buNone/>
            </a:pPr>
            <a:r>
              <a:rPr lang="en-US" sz="1800" dirty="0">
                <a:solidFill>
                  <a:srgbClr val="C586C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elif</a:t>
            </a:r>
            <a:r>
              <a:rPr lang="en-US" sz="1800" dirty="0">
                <a:solidFill>
                  <a:srgbClr val="D4D4D4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temp &gt; </a:t>
            </a:r>
            <a:r>
              <a:rPr lang="en-US" sz="1800" dirty="0">
                <a:solidFill>
                  <a:srgbClr val="B5CEA8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25</a:t>
            </a:r>
            <a:r>
              <a:rPr lang="en-US" sz="1800" dirty="0">
                <a:solidFill>
                  <a:srgbClr val="D4D4D4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:</a:t>
            </a:r>
          </a:p>
          <a:p>
            <a:pPr>
              <a:buNone/>
            </a:pPr>
            <a:r>
              <a:rPr lang="en-US" sz="1800" dirty="0">
                <a:solidFill>
                  <a:srgbClr val="D4D4D4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   </a:t>
            </a:r>
            <a:r>
              <a:rPr lang="en-US" sz="1800" dirty="0">
                <a:solidFill>
                  <a:srgbClr val="DCDCAA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print</a:t>
            </a:r>
            <a:r>
              <a:rPr lang="en-US" sz="1800" dirty="0">
                <a:solidFill>
                  <a:srgbClr val="D4D4D4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(</a:t>
            </a:r>
            <a:r>
              <a:rPr lang="en-US" sz="1800" dirty="0">
                <a:solidFill>
                  <a:srgbClr val="CE9178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"Hot"</a:t>
            </a:r>
            <a:r>
              <a:rPr lang="en-US" sz="1800" dirty="0">
                <a:solidFill>
                  <a:srgbClr val="D4D4D4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)</a:t>
            </a:r>
          </a:p>
          <a:p>
            <a:pPr>
              <a:buNone/>
            </a:pPr>
            <a:r>
              <a:rPr lang="en-US" sz="1800" dirty="0">
                <a:solidFill>
                  <a:srgbClr val="C586C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else</a:t>
            </a:r>
            <a:r>
              <a:rPr lang="en-US" sz="1800" dirty="0">
                <a:solidFill>
                  <a:srgbClr val="D4D4D4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:</a:t>
            </a:r>
          </a:p>
          <a:p>
            <a:pPr>
              <a:buNone/>
            </a:pPr>
            <a:r>
              <a:rPr lang="en-US" sz="1800" dirty="0">
                <a:solidFill>
                  <a:srgbClr val="D4D4D4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   </a:t>
            </a:r>
            <a:r>
              <a:rPr lang="en-US" sz="1800" dirty="0">
                <a:solidFill>
                  <a:srgbClr val="DCDCAA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print</a:t>
            </a:r>
            <a:r>
              <a:rPr lang="en-US" sz="1800" dirty="0">
                <a:solidFill>
                  <a:srgbClr val="D4D4D4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(</a:t>
            </a:r>
            <a:r>
              <a:rPr lang="en-US" sz="1800" dirty="0">
                <a:solidFill>
                  <a:srgbClr val="CE9178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"Cold"</a:t>
            </a:r>
            <a:r>
              <a:rPr lang="en-US" sz="1800" dirty="0">
                <a:solidFill>
                  <a:srgbClr val="D4D4D4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1926507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6" dur="1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532E628-E1B2-8B78-566F-D91F793771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Oval 13">
            <a:extLst>
              <a:ext uri="{FF2B5EF4-FFF2-40B4-BE49-F238E27FC236}">
                <a16:creationId xmlns:a16="http://schemas.microsoft.com/office/drawing/2014/main" id="{3C1D1EE2-7173-C1ED-78B3-B7B0D78B3F5D}"/>
              </a:ext>
            </a:extLst>
          </p:cNvPr>
          <p:cNvSpPr/>
          <p:nvPr/>
        </p:nvSpPr>
        <p:spPr>
          <a:xfrm>
            <a:off x="5626176" y="-236116"/>
            <a:ext cx="1586378" cy="1586378"/>
          </a:xfrm>
          <a:prstGeom prst="ellipse">
            <a:avLst/>
          </a:prstGeom>
          <a:noFill/>
          <a:ln w="57150">
            <a:solidFill>
              <a:schemeClr val="accent3">
                <a:lumMod val="25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33EEE18F-32C2-01AA-CAB1-85D64E08ED0B}"/>
              </a:ext>
            </a:extLst>
          </p:cNvPr>
          <p:cNvCxnSpPr>
            <a:cxnSpLocks/>
          </p:cNvCxnSpPr>
          <p:nvPr/>
        </p:nvCxnSpPr>
        <p:spPr>
          <a:xfrm>
            <a:off x="-363907" y="1175192"/>
            <a:ext cx="2926132" cy="0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72793B97-43E1-B480-1264-C9FF20681E5A}"/>
              </a:ext>
            </a:extLst>
          </p:cNvPr>
          <p:cNvCxnSpPr/>
          <p:nvPr/>
        </p:nvCxnSpPr>
        <p:spPr>
          <a:xfrm>
            <a:off x="8630196" y="6714818"/>
            <a:ext cx="3805083" cy="0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9618C01C-80A1-AC3B-A909-471A11C86B0F}"/>
              </a:ext>
            </a:extLst>
          </p:cNvPr>
          <p:cNvSpPr/>
          <p:nvPr/>
        </p:nvSpPr>
        <p:spPr>
          <a:xfrm>
            <a:off x="112344" y="93525"/>
            <a:ext cx="6309360" cy="911542"/>
          </a:xfrm>
          <a:prstGeom prst="rect">
            <a:avLst/>
          </a:prstGeom>
          <a:solidFill>
            <a:schemeClr val="accent3">
              <a:lumMod val="50000"/>
            </a:schemeClr>
          </a:solidFill>
          <a:ln w="57150">
            <a:solidFill>
              <a:schemeClr val="accent3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b="1" dirty="0"/>
              <a:t>THE ORDER KIOSK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04F567A-E19C-74A7-B049-CF176EB9CF80}"/>
              </a:ext>
            </a:extLst>
          </p:cNvPr>
          <p:cNvSpPr/>
          <p:nvPr/>
        </p:nvSpPr>
        <p:spPr>
          <a:xfrm>
            <a:off x="526943" y="1695457"/>
            <a:ext cx="11116415" cy="4835840"/>
          </a:xfrm>
          <a:prstGeom prst="rect">
            <a:avLst/>
          </a:prstGeom>
          <a:solidFill>
            <a:schemeClr val="accent3">
              <a:lumMod val="50000"/>
            </a:schemeClr>
          </a:solidFill>
          <a:ln w="57150">
            <a:solidFill>
              <a:schemeClr val="accent3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rmAutofit/>
          </a:bodyPr>
          <a:lstStyle/>
          <a:p>
            <a:pPr marL="0" indent="0">
              <a:spcAft>
                <a:spcPts val="600"/>
              </a:spcAft>
              <a:buNone/>
            </a:pPr>
            <a:r>
              <a:rPr lang="en-US" sz="2200" dirty="0"/>
              <a:t>Build the self-order kiosk for a food truck, café or shop of your choice.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200" dirty="0"/>
              <a:t>Ask at least </a:t>
            </a:r>
            <a:r>
              <a:rPr lang="en-US" sz="2200" b="1" dirty="0"/>
              <a:t>three</a:t>
            </a:r>
            <a:r>
              <a:rPr lang="en-US" sz="2200" dirty="0"/>
              <a:t> questions, and use casting on at least one answer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200" dirty="0"/>
              <a:t>Set a price with an </a:t>
            </a:r>
            <a:r>
              <a:rPr lang="en-US" sz="2200" dirty="0">
                <a:latin typeface="Cascadia Code" panose="020B0609020000020004" pitchFamily="49" charset="0"/>
                <a:cs typeface="Cascadia Code" panose="020B0609020000020004" pitchFamily="49" charset="0"/>
              </a:rPr>
              <a:t>if / elif / else</a:t>
            </a:r>
            <a:r>
              <a:rPr lang="en-US" sz="2200" dirty="0"/>
              <a:t> chain of at least three branches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200" dirty="0"/>
              <a:t>Use </a:t>
            </a:r>
            <a:r>
              <a:rPr lang="en-US" sz="2200" dirty="0">
                <a:latin typeface="Cascadia Code" panose="020B0609020000020004" pitchFamily="49" charset="0"/>
                <a:cs typeface="Cascadia Code" panose="020B0609020000020004" pitchFamily="49" charset="0"/>
              </a:rPr>
              <a:t>else</a:t>
            </a:r>
            <a:r>
              <a:rPr lang="en-US" sz="2200" dirty="0"/>
              <a:t> to handle a choice that is not on the menu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200" dirty="0"/>
              <a:t>Make a second decision, such as a discount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200" dirty="0"/>
              <a:t>Calculate the total and print a receipt with a border</a:t>
            </a:r>
          </a:p>
          <a:p>
            <a:pPr marL="0" indent="0">
              <a:spcAft>
                <a:spcPts val="600"/>
              </a:spcAft>
              <a:buNone/>
            </a:pPr>
            <a:endParaRPr lang="en-US" sz="2200" dirty="0"/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200" b="1" dirty="0"/>
              <a:t>→ Lab questions 7–8 (the checklist is in Section 4)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C75202F6-37E7-9E3F-2D8F-24D9DFCC8C1B}"/>
              </a:ext>
            </a:extLst>
          </p:cNvPr>
          <p:cNvCxnSpPr>
            <a:cxnSpLocks/>
          </p:cNvCxnSpPr>
          <p:nvPr/>
        </p:nvCxnSpPr>
        <p:spPr>
          <a:xfrm>
            <a:off x="12057283" y="-1425440"/>
            <a:ext cx="0" cy="3320915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926507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6" dur="1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8625F28-952B-22E2-E9C6-5BEA22DF3E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Oval 13">
            <a:extLst>
              <a:ext uri="{FF2B5EF4-FFF2-40B4-BE49-F238E27FC236}">
                <a16:creationId xmlns:a16="http://schemas.microsoft.com/office/drawing/2014/main" id="{5999789A-4B72-8656-C1BA-65AB1117B987}"/>
              </a:ext>
            </a:extLst>
          </p:cNvPr>
          <p:cNvSpPr/>
          <p:nvPr/>
        </p:nvSpPr>
        <p:spPr>
          <a:xfrm>
            <a:off x="6723456" y="-243893"/>
            <a:ext cx="1586378" cy="1586378"/>
          </a:xfrm>
          <a:prstGeom prst="ellipse">
            <a:avLst/>
          </a:prstGeom>
          <a:noFill/>
          <a:ln w="57150">
            <a:solidFill>
              <a:schemeClr val="accent3">
                <a:lumMod val="25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34BEDE80-7823-A34E-85DF-372317BEA4F1}"/>
              </a:ext>
            </a:extLst>
          </p:cNvPr>
          <p:cNvCxnSpPr>
            <a:cxnSpLocks/>
          </p:cNvCxnSpPr>
          <p:nvPr/>
        </p:nvCxnSpPr>
        <p:spPr>
          <a:xfrm>
            <a:off x="-363907" y="1175192"/>
            <a:ext cx="2926132" cy="0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743DE1D2-96CE-A5A0-5372-C66CBD2F7178}"/>
              </a:ext>
            </a:extLst>
          </p:cNvPr>
          <p:cNvCxnSpPr/>
          <p:nvPr/>
        </p:nvCxnSpPr>
        <p:spPr>
          <a:xfrm>
            <a:off x="8630196" y="6714818"/>
            <a:ext cx="3805083" cy="0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C17D0D9A-DC9E-30E9-BBD0-26CAE942DDD6}"/>
              </a:ext>
            </a:extLst>
          </p:cNvPr>
          <p:cNvSpPr/>
          <p:nvPr/>
        </p:nvSpPr>
        <p:spPr>
          <a:xfrm>
            <a:off x="112344" y="93525"/>
            <a:ext cx="7406640" cy="911542"/>
          </a:xfrm>
          <a:prstGeom prst="rect">
            <a:avLst/>
          </a:prstGeom>
          <a:solidFill>
            <a:schemeClr val="accent3">
              <a:lumMod val="50000"/>
            </a:schemeClr>
          </a:solidFill>
          <a:ln w="57150">
            <a:solidFill>
              <a:schemeClr val="accent3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b="1" dirty="0"/>
              <a:t>WHAT IT LOOKS LIKE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7508599-7F08-589D-012E-7E74C1FCD5A1}"/>
              </a:ext>
            </a:extLst>
          </p:cNvPr>
          <p:cNvSpPr/>
          <p:nvPr/>
        </p:nvSpPr>
        <p:spPr>
          <a:xfrm>
            <a:off x="526943" y="1695457"/>
            <a:ext cx="4572000" cy="4835840"/>
          </a:xfrm>
          <a:prstGeom prst="rect">
            <a:avLst/>
          </a:prstGeom>
          <a:solidFill>
            <a:schemeClr val="accent3">
              <a:lumMod val="50000"/>
            </a:schemeClr>
          </a:solidFill>
          <a:ln w="57150">
            <a:solidFill>
              <a:schemeClr val="accent3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rmAutofit/>
          </a:bodyPr>
          <a:lstStyle/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Green answers are what the customer typed.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The size picks the price through </a:t>
            </a:r>
            <a:r>
              <a:rPr lang="en-US" sz="2000" dirty="0">
                <a:latin typeface="Cascadia Code" panose="020B0609020000020004" pitchFamily="49" charset="0"/>
                <a:cs typeface="Cascadia Code" panose="020B0609020000020004" pitchFamily="49" charset="0"/>
              </a:rPr>
              <a:t>if / elif / else</a:t>
            </a:r>
            <a:r>
              <a:rPr lang="en-US" sz="2000" dirty="0"/>
              <a:t>.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A second </a:t>
            </a:r>
            <a:r>
              <a:rPr lang="en-US" sz="2000" dirty="0">
                <a:latin typeface="Cascadia Code" panose="020B0609020000020004" pitchFamily="49" charset="0"/>
                <a:cs typeface="Cascadia Code" panose="020B0609020000020004" pitchFamily="49" charset="0"/>
              </a:rPr>
              <a:t>if</a:t>
            </a:r>
            <a:r>
              <a:rPr lang="en-US" sz="2000" dirty="0"/>
              <a:t> gave the under-18 discount.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b="1" dirty="0"/>
              <a:t>→ What would it print for size X?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b="1" dirty="0"/>
              <a:t>→ Now: Lab question 7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46C91A5C-76E3-E355-6F2C-8149DC3969CE}"/>
              </a:ext>
            </a:extLst>
          </p:cNvPr>
          <p:cNvCxnSpPr>
            <a:cxnSpLocks/>
          </p:cNvCxnSpPr>
          <p:nvPr/>
        </p:nvCxnSpPr>
        <p:spPr>
          <a:xfrm>
            <a:off x="12057283" y="-1425440"/>
            <a:ext cx="0" cy="3320915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1" name="Sample run" descr="Terminal showing a sample run of the order kiosk program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49240" y="1691640"/>
            <a:ext cx="6355080" cy="38037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20596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6" dur="1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532E628-E1B2-8B78-566F-D91F793771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Oval 13">
            <a:extLst>
              <a:ext uri="{FF2B5EF4-FFF2-40B4-BE49-F238E27FC236}">
                <a16:creationId xmlns:a16="http://schemas.microsoft.com/office/drawing/2014/main" id="{3C1D1EE2-7173-C1ED-78B3-B7B0D78B3F5D}"/>
              </a:ext>
            </a:extLst>
          </p:cNvPr>
          <p:cNvSpPr/>
          <p:nvPr/>
        </p:nvSpPr>
        <p:spPr>
          <a:xfrm>
            <a:off x="3340176" y="-236116"/>
            <a:ext cx="1586378" cy="1586378"/>
          </a:xfrm>
          <a:prstGeom prst="ellipse">
            <a:avLst/>
          </a:prstGeom>
          <a:noFill/>
          <a:ln w="57150">
            <a:solidFill>
              <a:schemeClr val="accent3">
                <a:lumMod val="25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33EEE18F-32C2-01AA-CAB1-85D64E08ED0B}"/>
              </a:ext>
            </a:extLst>
          </p:cNvPr>
          <p:cNvCxnSpPr>
            <a:cxnSpLocks/>
          </p:cNvCxnSpPr>
          <p:nvPr/>
        </p:nvCxnSpPr>
        <p:spPr>
          <a:xfrm>
            <a:off x="-363907" y="1175192"/>
            <a:ext cx="2926132" cy="0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72793B97-43E1-B480-1264-C9FF20681E5A}"/>
              </a:ext>
            </a:extLst>
          </p:cNvPr>
          <p:cNvCxnSpPr/>
          <p:nvPr/>
        </p:nvCxnSpPr>
        <p:spPr>
          <a:xfrm>
            <a:off x="8630196" y="6714818"/>
            <a:ext cx="3805083" cy="0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9618C01C-80A1-AC3B-A909-471A11C86B0F}"/>
              </a:ext>
            </a:extLst>
          </p:cNvPr>
          <p:cNvSpPr/>
          <p:nvPr/>
        </p:nvSpPr>
        <p:spPr>
          <a:xfrm>
            <a:off x="112344" y="93525"/>
            <a:ext cx="4023360" cy="911542"/>
          </a:xfrm>
          <a:prstGeom prst="rect">
            <a:avLst/>
          </a:prstGeom>
          <a:solidFill>
            <a:schemeClr val="accent3">
              <a:lumMod val="50000"/>
            </a:schemeClr>
          </a:solidFill>
          <a:ln w="57150">
            <a:solidFill>
              <a:schemeClr val="accent3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b="1" dirty="0"/>
              <a:t>CLOSE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04F567A-E19C-74A7-B049-CF176EB9CF80}"/>
              </a:ext>
            </a:extLst>
          </p:cNvPr>
          <p:cNvSpPr/>
          <p:nvPr/>
        </p:nvSpPr>
        <p:spPr>
          <a:xfrm>
            <a:off x="526943" y="1695457"/>
            <a:ext cx="11116415" cy="4835840"/>
          </a:xfrm>
          <a:prstGeom prst="rect">
            <a:avLst/>
          </a:prstGeom>
          <a:solidFill>
            <a:schemeClr val="accent3">
              <a:lumMod val="50000"/>
            </a:schemeClr>
          </a:solidFill>
          <a:ln w="57150">
            <a:solidFill>
              <a:schemeClr val="accent3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rmAutofit/>
          </a:bodyPr>
          <a:lstStyle/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b="1" dirty="0"/>
              <a:t>→ Exit question: the user types 18. What prints, and why?</a:t>
            </a:r>
          </a:p>
          <a:p>
            <a:pPr marL="0" indent="0">
              <a:spcAft>
                <a:spcPts val="600"/>
              </a:spcAft>
              <a:buNone/>
            </a:pPr>
            <a:r>
              <a:rPr lang="en-US" sz="2000" dirty="0">
                <a:latin typeface="Cascadia Code" panose="020B0609020000020004" pitchFamily="49" charset="0"/>
                <a:cs typeface="Cascadia Code" panose="020B0609020000020004" pitchFamily="49" charset="0"/>
              </a:rPr>
              <a:t>    if age &gt; 18:</a:t>
            </a:r>
          </a:p>
          <a:p>
            <a:pPr marL="0" indent="0">
              <a:spcAft>
                <a:spcPts val="600"/>
              </a:spcAft>
              <a:buNone/>
            </a:pPr>
            <a:r>
              <a:rPr lang="en-US" sz="2000" dirty="0">
                <a:latin typeface="Cascadia Code" panose="020B0609020000020004" pitchFamily="49" charset="0"/>
                <a:cs typeface="Cascadia Code" panose="020B0609020000020004" pitchFamily="49" charset="0"/>
              </a:rPr>
              <a:t>        print("Adult")</a:t>
            </a:r>
          </a:p>
          <a:p>
            <a:pPr marL="0" indent="0">
              <a:spcAft>
                <a:spcPts val="600"/>
              </a:spcAft>
              <a:buNone/>
            </a:pPr>
            <a:r>
              <a:rPr lang="en-US" sz="2000" dirty="0">
                <a:latin typeface="Cascadia Code" panose="020B0609020000020004" pitchFamily="49" charset="0"/>
                <a:cs typeface="Cascadia Code" panose="020B0609020000020004" pitchFamily="49" charset="0"/>
              </a:rPr>
              <a:t>    else:</a:t>
            </a:r>
          </a:p>
          <a:p>
            <a:pPr marL="0" indent="0">
              <a:spcAft>
                <a:spcPts val="600"/>
              </a:spcAft>
              <a:buNone/>
            </a:pPr>
            <a:r>
              <a:rPr lang="en-US" sz="2000" dirty="0">
                <a:latin typeface="Cascadia Code" panose="020B0609020000020004" pitchFamily="49" charset="0"/>
                <a:cs typeface="Cascadia Code" panose="020B0609020000020004" pitchFamily="49" charset="0"/>
              </a:rPr>
              <a:t>        print("Under 18")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Save your lab as </a:t>
            </a:r>
            <a:r>
              <a:rPr lang="en-US" sz="2400" b="1" dirty="0"/>
              <a:t>Surname_Lab2-5</a:t>
            </a:r>
            <a:r>
              <a:rPr lang="en-US" sz="2400" dirty="0"/>
              <a:t> and upload it to ManageBac.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b="1" dirty="0"/>
              <a:t>→ Lab question 8: answer the reflection before you upload.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C75202F6-37E7-9E3F-2D8F-24D9DFCC8C1B}"/>
              </a:ext>
            </a:extLst>
          </p:cNvPr>
          <p:cNvCxnSpPr>
            <a:cxnSpLocks/>
          </p:cNvCxnSpPr>
          <p:nvPr/>
        </p:nvCxnSpPr>
        <p:spPr>
          <a:xfrm>
            <a:off x="12057283" y="-1425440"/>
            <a:ext cx="0" cy="3320915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926507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6" dur="1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532E628-E1B2-8B78-566F-D91F793771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Oval 13">
            <a:extLst>
              <a:ext uri="{FF2B5EF4-FFF2-40B4-BE49-F238E27FC236}">
                <a16:creationId xmlns:a16="http://schemas.microsoft.com/office/drawing/2014/main" id="{3C1D1EE2-7173-C1ED-78B3-B7B0D78B3F5D}"/>
              </a:ext>
            </a:extLst>
          </p:cNvPr>
          <p:cNvSpPr/>
          <p:nvPr/>
        </p:nvSpPr>
        <p:spPr>
          <a:xfrm>
            <a:off x="6812279" y="-243893"/>
            <a:ext cx="1586378" cy="1586378"/>
          </a:xfrm>
          <a:prstGeom prst="ellipse">
            <a:avLst/>
          </a:prstGeom>
          <a:noFill/>
          <a:ln w="57150">
            <a:solidFill>
              <a:schemeClr val="accent3">
                <a:lumMod val="25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33EEE18F-32C2-01AA-CAB1-85D64E08ED0B}"/>
              </a:ext>
            </a:extLst>
          </p:cNvPr>
          <p:cNvCxnSpPr>
            <a:cxnSpLocks/>
          </p:cNvCxnSpPr>
          <p:nvPr/>
        </p:nvCxnSpPr>
        <p:spPr>
          <a:xfrm>
            <a:off x="-363907" y="1175192"/>
            <a:ext cx="2926132" cy="0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72793B97-43E1-B480-1264-C9FF20681E5A}"/>
              </a:ext>
            </a:extLst>
          </p:cNvPr>
          <p:cNvCxnSpPr/>
          <p:nvPr/>
        </p:nvCxnSpPr>
        <p:spPr>
          <a:xfrm>
            <a:off x="8630196" y="6714818"/>
            <a:ext cx="3805083" cy="0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9618C01C-80A1-AC3B-A909-471A11C86B0F}"/>
              </a:ext>
            </a:extLst>
          </p:cNvPr>
          <p:cNvSpPr/>
          <p:nvPr/>
        </p:nvSpPr>
        <p:spPr>
          <a:xfrm>
            <a:off x="112344" y="93525"/>
            <a:ext cx="7488935" cy="911542"/>
          </a:xfrm>
          <a:prstGeom prst="rect">
            <a:avLst/>
          </a:prstGeom>
          <a:solidFill>
            <a:schemeClr val="accent3">
              <a:lumMod val="50000"/>
            </a:schemeClr>
          </a:solidFill>
          <a:ln w="57150">
            <a:solidFill>
              <a:schemeClr val="accent3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b="1" dirty="0"/>
              <a:t>VOCAB TO REMEMBER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04F567A-E19C-74A7-B049-CF176EB9CF80}"/>
              </a:ext>
            </a:extLst>
          </p:cNvPr>
          <p:cNvSpPr/>
          <p:nvPr/>
        </p:nvSpPr>
        <p:spPr>
          <a:xfrm>
            <a:off x="526943" y="1695457"/>
            <a:ext cx="7620361" cy="4835840"/>
          </a:xfrm>
          <a:prstGeom prst="rect">
            <a:avLst/>
          </a:prstGeom>
          <a:solidFill>
            <a:schemeClr val="accent3">
              <a:lumMod val="50000"/>
            </a:schemeClr>
          </a:solidFill>
          <a:ln w="57150">
            <a:solidFill>
              <a:schemeClr val="accent3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rmAutofit/>
          </a:bodyPr>
          <a:lstStyle/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800" b="1" i="1" dirty="0">
                <a:solidFill>
                  <a:srgbClr val="FF66C4"/>
                </a:solidFill>
              </a:rPr>
              <a:t>Condition </a:t>
            </a:r>
            <a:r>
              <a:rPr lang="en-US" sz="1800" dirty="0"/>
              <a:t>- an expression that evaluates to True or False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800" b="1" i="1" dirty="0">
                <a:solidFill>
                  <a:srgbClr val="FF66C4"/>
                </a:solidFill>
              </a:rPr>
              <a:t>Boolean (bool) </a:t>
            </a:r>
            <a:r>
              <a:rPr lang="en-US" sz="1800" dirty="0"/>
              <a:t>- the type of True and False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800" b="1" i="1" dirty="0">
                <a:solidFill>
                  <a:srgbClr val="FF66C4"/>
                </a:solidFill>
              </a:rPr>
              <a:t>Comparison operator </a:t>
            </a:r>
            <a:r>
              <a:rPr lang="en-US" sz="1800" dirty="0"/>
              <a:t>- ==, !=, &lt;, &gt;, &lt;= or &gt;=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800" b="1" i="1" dirty="0">
                <a:solidFill>
                  <a:srgbClr val="FF66C4"/>
                </a:solidFill>
              </a:rPr>
              <a:t>if </a:t>
            </a:r>
            <a:r>
              <a:rPr lang="en-US" sz="1800" dirty="0"/>
              <a:t>- runs a block only when its condition is True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800" b="1" i="1" dirty="0">
                <a:solidFill>
                  <a:srgbClr val="FF66C4"/>
                </a:solidFill>
              </a:rPr>
              <a:t>elif </a:t>
            </a:r>
            <a:r>
              <a:rPr lang="en-US" sz="1800" dirty="0"/>
              <a:t>- "else, if": checked only when the ones above were False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800" b="1" i="1" dirty="0">
                <a:solidFill>
                  <a:srgbClr val="FF66C4"/>
                </a:solidFill>
              </a:rPr>
              <a:t>else </a:t>
            </a:r>
            <a:r>
              <a:rPr lang="en-US" sz="1800" dirty="0"/>
              <a:t>- runs when no condition above was True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800" b="1" i="1" dirty="0">
                <a:solidFill>
                  <a:srgbClr val="FF66C4"/>
                </a:solidFill>
              </a:rPr>
              <a:t>Indentation </a:t>
            </a:r>
            <a:r>
              <a:rPr lang="en-US" sz="1800" dirty="0"/>
              <a:t>- the spaces that show which lines belong to a branch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800" b="1" i="1" dirty="0">
                <a:solidFill>
                  <a:srgbClr val="FF66C4"/>
                </a:solidFill>
              </a:rPr>
              <a:t>Branch </a:t>
            </a:r>
            <a:r>
              <a:rPr lang="en-US" sz="1800" dirty="0"/>
              <a:t>- one of the possible paths through an if statement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C75202F6-37E7-9E3F-2D8F-24D9DFCC8C1B}"/>
              </a:ext>
            </a:extLst>
          </p:cNvPr>
          <p:cNvCxnSpPr>
            <a:cxnSpLocks/>
          </p:cNvCxnSpPr>
          <p:nvPr/>
        </p:nvCxnSpPr>
        <p:spPr>
          <a:xfrm>
            <a:off x="12057283" y="-1425440"/>
            <a:ext cx="0" cy="3320915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" name="Picture 1" descr="Big Brain - Wojak Land">
            <a:extLst>
              <a:ext uri="{FF2B5EF4-FFF2-40B4-BE49-F238E27FC236}">
                <a16:creationId xmlns:a16="http://schemas.microsoft.com/office/drawing/2014/main" id="{56B43E86-B819-4E20-49ED-1EC04094A0C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1082" b="2045"/>
          <a:stretch>
            <a:fillRect/>
          </a:stretch>
        </p:blipFill>
        <p:spPr>
          <a:xfrm flipH="1">
            <a:off x="9602341" y="4403591"/>
            <a:ext cx="1860791" cy="1695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26507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6" dur="1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611 0.02292 L -0.00611 0.02292 C -0.00755 -0.02083 -0.00742 -0.03217 -0.0108 -0.07592 C -0.0121 -0.09259 -0.01432 -0.10902 -0.01549 -0.12592 C -0.0164 -0.1368 -0.01653 -0.14814 -0.01705 -0.15925 C -0.0177 -0.16967 -0.01861 -0.18055 -0.0194 -0.1912 C -0.01979 -0.20671 -0.02018 -0.23611 -0.02174 -0.25231 C -0.02239 -0.25833 -0.02369 -0.26435 -0.02486 -0.27037 C -0.02578 -0.27453 -0.02669 -0.27893 -0.02799 -0.28287 C -0.03059 -0.2905 -0.03606 -0.30069 -0.03971 -0.30648 C -0.04804 -0.31898 -0.047 -0.31713 -0.05455 -0.32314 C -0.0569 -0.32037 -0.05976 -0.31851 -0.06158 -0.31481 C -0.06588 -0.30601 -0.06562 -0.29976 -0.06627 -0.28981 C -0.06653 -0.2662 -0.06666 -0.24259 -0.06705 -0.21898 C -0.06731 -0.20995 -0.06809 -0.19884 -0.06861 -0.18981 C -0.06901 -0.18356 -0.06927 -0.16967 -0.07096 -0.16342 C -0.07174 -0.16064 -0.07265 -0.15787 -0.0733 -0.15509 C -0.07669 -0.14236 -0.07773 -0.13541 -0.08268 -0.12314 C -0.08502 -0.11736 -0.08763 -0.11226 -0.09049 -0.10787 C -0.09309 -0.10393 -0.09609 -0.10092 -0.09908 -0.09814 C -0.10013 -0.09722 -0.10117 -0.09699 -0.10221 -0.09675 C -0.10533 -0.09606 -0.10846 -0.09583 -0.11158 -0.09537 C -0.13085 -0.09768 -0.13828 -0.09606 -0.15299 -0.10231 C -0.15755 -0.10416 -0.16106 -0.10671 -0.16549 -0.10925 C -0.16731 -0.11018 -0.16914 -0.11111 -0.17096 -0.11203 C -0.17838 -0.11527 -0.17135 -0.11088 -0.18033 -0.1162 C -0.18671 -0.11967 -0.1927 -0.1243 -0.19908 -0.12731 C -0.20013 -0.12777 -0.2013 -0.128 -0.20221 -0.1287 C -0.20364 -0.12939 -0.20481 -0.13078 -0.20611 -0.13148 C -0.20872 -0.13263 -0.21145 -0.1331 -0.21393 -0.13425 C -0.21692 -0.13541 -0.21966 -0.1375 -0.22252 -0.13842 C -0.22591 -0.13935 -0.22929 -0.13935 -0.23268 -0.13981 C -0.26888 -0.14375 -0.25755 -0.14236 -0.30143 -0.14398 C -0.33372 -0.13935 -0.36731 -0.14652 -0.3983 -0.13009 C -0.4177 -0.11967 -0.41679 -0.03356 -0.40768 -0.01898 C -0.39348 0.00417 -0.37122 0.00232 -0.35299 0.01297 C -0.33059 -0.0125 -0.28893 -0.01643 -0.2858 -0.06342 C -0.27408 -0.24398 -0.35104 -0.2449 -0.40924 -0.27175 C -0.43476 -0.22222 -0.47356 -0.18657 -0.4858 -0.12314 C -0.49388 -0.08148 -0.48671 -0.00625 -0.46236 0.00186 C -0.41289 0.01852 -0.36497 -0.04351 -0.31627 -0.0662 C -0.28398 -0.12129 -0.21614 -0.15208 -0.2194 -0.23148 C -0.23255 -0.54143 -0.37356 -0.36157 -0.42252 -0.32037 C -0.42408 -0.26805 -0.45611 -0.17338 -0.42721 -0.16342 C -0.20442 -0.08495 -0.18919 -0.22893 -0.09127 -0.46203 C -0.12382 -0.49444 -0.15351 -0.57963 -0.18893 -0.55925 C -0.225 -0.53842 -0.25807 -0.43449 -0.23815 -0.37731 C -0.20911 -0.29398 -0.13658 -0.30138 -0.0858 -0.26342 C -0.04309 -0.32731 0.0362 -0.35625 0.04232 -0.45509 C 0.06928 -0.89861 -0.16236 -0.64606 -0.22252 -0.60787 C -0.22617 -0.47037 -0.26705 -0.31921 -0.23346 -0.19537 C -0.18268 -0.0074 0.01159 -0.14444 0.0681 -0.16898 C 0.0892 -0.21435 0.11159 -0.25763 0.13139 -0.30509 C 0.13425 -0.31203 0.13086 -0.32592 0.13529 -0.33009 C 0.14284 -0.33703 0.15248 -0.33194 0.16107 -0.33287 C 0.18034 -0.32824 0.19974 -0.32615 0.21889 -0.31898 C 0.2379 -0.31157 0.27514 -0.28981 0.27514 -0.28981 " pathEditMode="relative" ptsTypes="AAAAAAAAAAAAAAAAAAAAAAAAAAAAAAAAAAAAAAAAAAAAAAAAAAAAAAAAA">
                                      <p:cBhvr>
                                        <p:cTn id="10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FEAFB14-6A85-70B8-8216-BD75722A10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Oval 13">
            <a:extLst>
              <a:ext uri="{FF2B5EF4-FFF2-40B4-BE49-F238E27FC236}">
                <a16:creationId xmlns:a16="http://schemas.microsoft.com/office/drawing/2014/main" id="{44CF1650-09FA-B868-F5AD-95FBAC3A5F8D}"/>
              </a:ext>
            </a:extLst>
          </p:cNvPr>
          <p:cNvSpPr/>
          <p:nvPr/>
        </p:nvSpPr>
        <p:spPr>
          <a:xfrm>
            <a:off x="4830372" y="-243893"/>
            <a:ext cx="1586378" cy="1586378"/>
          </a:xfrm>
          <a:prstGeom prst="ellipse">
            <a:avLst/>
          </a:prstGeom>
          <a:noFill/>
          <a:ln w="57150">
            <a:solidFill>
              <a:schemeClr val="accent3">
                <a:lumMod val="25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D418F614-4CD6-1848-D308-9330151368D1}"/>
              </a:ext>
            </a:extLst>
          </p:cNvPr>
          <p:cNvCxnSpPr>
            <a:cxnSpLocks/>
          </p:cNvCxnSpPr>
          <p:nvPr/>
        </p:nvCxnSpPr>
        <p:spPr>
          <a:xfrm>
            <a:off x="-363907" y="1175192"/>
            <a:ext cx="2926132" cy="0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8304C824-1F3B-44F2-E7B0-5AAFB78C28F6}"/>
              </a:ext>
            </a:extLst>
          </p:cNvPr>
          <p:cNvCxnSpPr/>
          <p:nvPr/>
        </p:nvCxnSpPr>
        <p:spPr>
          <a:xfrm>
            <a:off x="8630196" y="6714818"/>
            <a:ext cx="3805083" cy="0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5AFFF7F1-8D23-0FA8-BA4D-FD816E40BF0C}"/>
              </a:ext>
            </a:extLst>
          </p:cNvPr>
          <p:cNvSpPr/>
          <p:nvPr/>
        </p:nvSpPr>
        <p:spPr>
          <a:xfrm>
            <a:off x="112345" y="93525"/>
            <a:ext cx="5511216" cy="911542"/>
          </a:xfrm>
          <a:prstGeom prst="rect">
            <a:avLst/>
          </a:prstGeom>
          <a:solidFill>
            <a:schemeClr val="accent3">
              <a:lumMod val="50000"/>
            </a:schemeClr>
          </a:solidFill>
          <a:ln w="57150">
            <a:solidFill>
              <a:schemeClr val="accent3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b="1" dirty="0"/>
              <a:t>FURTHER READING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72EA945-4663-F82C-4B78-8EF4B308EF64}"/>
              </a:ext>
            </a:extLst>
          </p:cNvPr>
          <p:cNvSpPr/>
          <p:nvPr/>
        </p:nvSpPr>
        <p:spPr>
          <a:xfrm>
            <a:off x="526943" y="1695457"/>
            <a:ext cx="7620361" cy="4835840"/>
          </a:xfrm>
          <a:prstGeom prst="rect">
            <a:avLst/>
          </a:prstGeom>
          <a:solidFill>
            <a:schemeClr val="accent3">
              <a:lumMod val="50000"/>
            </a:schemeClr>
          </a:solidFill>
          <a:ln w="57150">
            <a:solidFill>
              <a:schemeClr val="accent3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rmAutofit/>
          </a:bodyPr>
          <a:lstStyle/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FFFFFF"/>
                </a:solidFill>
                <a:hlinkClick r:id="rId3"/>
              </a:rPr>
              <a:t>Python docs: if statements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FFFFFF"/>
                </a:solidFill>
                <a:hlinkClick r:id="rId4"/>
              </a:rPr>
              <a:t>Python docs: Comparisons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FFFFFF"/>
                </a:solidFill>
                <a:hlinkClick r:id="rId5"/>
              </a:rPr>
              <a:t>W3Schools: Python If ... Else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FFFFFF"/>
                </a:solidFill>
                <a:hlinkClick r:id="rId6"/>
              </a:rPr>
              <a:t>W3Schools: Python Booleans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FFFFFF"/>
                </a:solidFill>
                <a:hlinkClick r:id="rId7"/>
              </a:rPr>
              <a:t>Real Python: Conditional Statements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D30EE147-1C9E-DC0E-B040-3BBFA136BA33}"/>
              </a:ext>
            </a:extLst>
          </p:cNvPr>
          <p:cNvCxnSpPr>
            <a:cxnSpLocks/>
          </p:cNvCxnSpPr>
          <p:nvPr/>
        </p:nvCxnSpPr>
        <p:spPr>
          <a:xfrm>
            <a:off x="12057283" y="-1425440"/>
            <a:ext cx="0" cy="3320915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" name="Picture 1" descr="Big Brain - Wojak Land">
            <a:extLst>
              <a:ext uri="{FF2B5EF4-FFF2-40B4-BE49-F238E27FC236}">
                <a16:creationId xmlns:a16="http://schemas.microsoft.com/office/drawing/2014/main" id="{8B4B913D-F576-FFA3-F278-F7A7608218C6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r="1082" b="2045"/>
          <a:stretch>
            <a:fillRect/>
          </a:stretch>
        </p:blipFill>
        <p:spPr>
          <a:xfrm flipH="1">
            <a:off x="9602341" y="4403591"/>
            <a:ext cx="1860791" cy="1695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81310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6" dur="1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611 0.02292 L -0.00611 0.02292 C -0.00755 -0.02083 -0.00742 -0.03217 -0.0108 -0.07592 C -0.0121 -0.09259 -0.01432 -0.10902 -0.01549 -0.12592 C -0.0164 -0.1368 -0.01653 -0.14814 -0.01705 -0.15925 C -0.0177 -0.16967 -0.01861 -0.18055 -0.0194 -0.1912 C -0.01979 -0.20671 -0.02018 -0.23611 -0.02174 -0.25231 C -0.02239 -0.25833 -0.02369 -0.26435 -0.02486 -0.27037 C -0.02578 -0.27453 -0.02669 -0.27893 -0.02799 -0.28287 C -0.03059 -0.2905 -0.03606 -0.30069 -0.03971 -0.30648 C -0.04804 -0.31898 -0.047 -0.31713 -0.05455 -0.32314 C -0.0569 -0.32037 -0.05976 -0.31851 -0.06158 -0.31481 C -0.06588 -0.30601 -0.06562 -0.29976 -0.06627 -0.28981 C -0.06653 -0.2662 -0.06666 -0.24259 -0.06705 -0.21898 C -0.06731 -0.20995 -0.06809 -0.19884 -0.06861 -0.18981 C -0.06901 -0.18356 -0.06927 -0.16967 -0.07096 -0.16342 C -0.07174 -0.16064 -0.07265 -0.15787 -0.0733 -0.15509 C -0.07669 -0.14236 -0.07773 -0.13541 -0.08268 -0.12314 C -0.08502 -0.11736 -0.08763 -0.11226 -0.09049 -0.10787 C -0.09309 -0.10393 -0.09609 -0.10092 -0.09908 -0.09814 C -0.10013 -0.09722 -0.10117 -0.09699 -0.10221 -0.09675 C -0.10533 -0.09606 -0.10846 -0.09583 -0.11158 -0.09537 C -0.13085 -0.09768 -0.13828 -0.09606 -0.15299 -0.10231 C -0.15755 -0.10416 -0.16106 -0.10671 -0.16549 -0.10925 C -0.16731 -0.11018 -0.16914 -0.11111 -0.17096 -0.11203 C -0.17838 -0.11527 -0.17135 -0.11088 -0.18033 -0.1162 C -0.18671 -0.11967 -0.1927 -0.1243 -0.19908 -0.12731 C -0.20013 -0.12777 -0.2013 -0.128 -0.20221 -0.1287 C -0.20364 -0.12939 -0.20481 -0.13078 -0.20611 -0.13148 C -0.20872 -0.13263 -0.21145 -0.1331 -0.21393 -0.13425 C -0.21692 -0.13541 -0.21966 -0.1375 -0.22252 -0.13842 C -0.22591 -0.13935 -0.22929 -0.13935 -0.23268 -0.13981 C -0.26888 -0.14375 -0.25755 -0.14236 -0.30143 -0.14398 C -0.33372 -0.13935 -0.36731 -0.14652 -0.3983 -0.13009 C -0.4177 -0.11967 -0.41679 -0.03356 -0.40768 -0.01898 C -0.39348 0.00417 -0.37122 0.00232 -0.35299 0.01297 C -0.33059 -0.0125 -0.28893 -0.01643 -0.2858 -0.06342 C -0.27408 -0.24398 -0.35104 -0.2449 -0.40924 -0.27175 C -0.43476 -0.22222 -0.47356 -0.18657 -0.4858 -0.12314 C -0.49388 -0.08148 -0.48671 -0.00625 -0.46236 0.00186 C -0.41289 0.01852 -0.36497 -0.04351 -0.31627 -0.0662 C -0.28398 -0.12129 -0.21614 -0.15208 -0.2194 -0.23148 C -0.23255 -0.54143 -0.37356 -0.36157 -0.42252 -0.32037 C -0.42408 -0.26805 -0.45611 -0.17338 -0.42721 -0.16342 C -0.20442 -0.08495 -0.18919 -0.22893 -0.09127 -0.46203 C -0.12382 -0.49444 -0.15351 -0.57963 -0.18893 -0.55925 C -0.225 -0.53842 -0.25807 -0.43449 -0.23815 -0.37731 C -0.20911 -0.29398 -0.13658 -0.30138 -0.0858 -0.26342 C -0.04309 -0.32731 0.0362 -0.35625 0.04232 -0.45509 C 0.06928 -0.89861 -0.16236 -0.64606 -0.22252 -0.60787 C -0.22617 -0.47037 -0.26705 -0.31921 -0.23346 -0.19537 C -0.18268 -0.0074 0.01159 -0.14444 0.0681 -0.16898 C 0.0892 -0.21435 0.11159 -0.25763 0.13139 -0.30509 C 0.13425 -0.31203 0.13086 -0.32592 0.13529 -0.33009 C 0.14284 -0.33703 0.15248 -0.33194 0.16107 -0.33287 C 0.18034 -0.32824 0.19974 -0.32615 0.21889 -0.31898 C 0.2379 -0.31157 0.27514 -0.28981 0.27514 -0.28981 " pathEditMode="relative" ptsTypes="AAAAAAAAAAAAAAAAAAAAAAAAAAAAAAAAAAAAAAAAAAAAAAAAAAAAAAAAA">
                                      <p:cBhvr>
                                        <p:cTn id="10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MYP Custom">
      <a:dk1>
        <a:srgbClr val="4B5358"/>
      </a:dk1>
      <a:lt1>
        <a:sysClr val="window" lastClr="FFFFFF"/>
      </a:lt1>
      <a:dk2>
        <a:srgbClr val="4B5358"/>
      </a:dk2>
      <a:lt2>
        <a:srgbClr val="E8E8E8"/>
      </a:lt2>
      <a:accent1>
        <a:srgbClr val="60B2E5"/>
      </a:accent1>
      <a:accent2>
        <a:srgbClr val="F49390"/>
      </a:accent2>
      <a:accent3>
        <a:srgbClr val="AEF6C7"/>
      </a:accent3>
      <a:accent4>
        <a:srgbClr val="FFC857"/>
      </a:accent4>
      <a:accent5>
        <a:srgbClr val="96607D"/>
      </a:accent5>
      <a:accent6>
        <a:srgbClr val="467886"/>
      </a:accent6>
      <a:hlink>
        <a:srgbClr val="0070C0"/>
      </a:hlink>
      <a:folHlink>
        <a:srgbClr val="002060"/>
      </a:folHlink>
    </a:clrScheme>
    <a:fontScheme name="Custom 1">
      <a:majorFont>
        <a:latin typeface="Bahnschrift"/>
        <a:ea typeface=""/>
        <a:cs typeface=""/>
      </a:majorFont>
      <a:minorFont>
        <a:latin typeface="Bahnschrif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2">
            <a:lumMod val="75000"/>
          </a:schemeClr>
        </a:solidFill>
        <a:ln w="76200">
          <a:solidFill>
            <a:schemeClr val="accent2">
              <a:lumMod val="50000"/>
            </a:schemeClr>
          </a:solidFill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1029</TotalTime>
  <Words>1228</Words>
  <Application>Microsoft Office PowerPoint</Application>
  <PresentationFormat>Widescreen</PresentationFormat>
  <Paragraphs>132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1" baseType="lpstr">
      <vt:lpstr>Aptos</vt:lpstr>
      <vt:lpstr>Arial</vt:lpstr>
      <vt:lpstr>Bahnschrift</vt:lpstr>
      <vt:lpstr>Calibri</vt:lpstr>
      <vt:lpstr>Cascadia Code</vt:lpstr>
      <vt:lpstr>Chiller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Michael Hill</dc:creator>
  <cp:lastModifiedBy>Michael Hill</cp:lastModifiedBy>
  <cp:revision>9</cp:revision>
  <dcterms:created xsi:type="dcterms:W3CDTF">2026-08-13T18:52:07Z</dcterms:created>
  <dcterms:modified xsi:type="dcterms:W3CDTF">2026-10-26T16:03:21Z</dcterms:modified>
</cp:coreProperties>
</file>