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7" r:id="rId9"/>
    <p:sldId id="265" r:id="rId10"/>
    <p:sldId id="266" r:id="rId11"/>
    <p:sldId id="268" r:id="rId12"/>
    <p:sldId id="269" r:id="rId13"/>
    <p:sldId id="270" r:id="rId14"/>
    <p:sldId id="271" r:id="rId15"/>
    <p:sldId id="272" r:id="rId16"/>
    <p:sldId id="27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860CDA-CC01-44B1-A24A-6537D292A929}" v="1" dt="2026-09-21T14:55:23.9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>
        <p:scale>
          <a:sx n="90" d="100"/>
          <a:sy n="90" d="100"/>
        </p:scale>
        <p:origin x="268" y="196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undo custSel addSld delSld modSld sldOrd">
      <pc:chgData name="Michael Hill" userId="41dba03d-e58d-4389-9894-554c10310ba4" providerId="ADAL" clId="{EF23FE1D-A042-481E-AFD7-2A9FB0847F54}" dt="2026-09-21T14:55:23.946" v="8460"/>
      <pc:docMkLst>
        <pc:docMk/>
      </pc:docMkLst>
      <pc:sldChg chg="modAnim">
        <pc:chgData name="Michael Hill" userId="41dba03d-e58d-4389-9894-554c10310ba4" providerId="ADAL" clId="{EF23FE1D-A042-481E-AFD7-2A9FB0847F54}" dt="2026-09-21T14:55:23.946" v="8460"/>
        <pc:sldMkLst>
          <pc:docMk/>
          <pc:sldMk cId="3346394562" sldId="256"/>
        </pc:sldMkLst>
      </pc:sldChg>
      <pc:sldChg chg="modSp mod">
        <pc:chgData name="Michael Hill" userId="41dba03d-e58d-4389-9894-554c10310ba4" providerId="ADAL" clId="{EF23FE1D-A042-481E-AFD7-2A9FB0847F54}" dt="2026-09-17T15:59:33.755" v="8459" actId="688"/>
        <pc:sldMkLst>
          <pc:docMk/>
          <pc:sldMk cId="2192650716" sldId="26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23850C-E9BE-49E3-B624-147F138CBE6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4AD367-7511-491D-AF5C-F208CF725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258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B7C5-D028-538D-C84B-F4947CA6E1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A18EE4-FBD3-518D-A533-5A7575B505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29B54-2C06-B521-B17D-DF069278D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FDB6A-DE1A-8CD7-36E6-9513398D5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8F74D-F917-FC0E-8063-35DE9993D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955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88439-08F5-44E1-22C0-33087F521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AE85E-1669-EAA4-128D-A6725E334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B58B0-4DFA-6A9A-D1B4-BF96071D1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0893E-5088-E7E2-8009-A7FE84A3A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1E31B-B430-476B-4710-0252DB870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239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7F91E-1289-9CFB-7E71-94848C13D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D5F334-0E85-5435-5C19-1CA99F7B3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2AE98-80AE-D62A-E089-FE49DCBE6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8E38B-44FF-557B-A276-58D60F4CB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1EAAD-B1C4-28ED-6E49-0D42DD728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952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71961-8DD9-78B4-A9EB-6E7BD8521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4FB85-FD5C-5CEF-4167-5080192405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E35358-0E94-76A9-9AF6-7219BE5FFB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9088F-396E-06B1-953B-F7A916C3E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F87B1-02C7-7241-3B21-39307FE4F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779D4E-1341-8213-B0EA-47AE63A0C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439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EC656-E3BB-087A-B7F4-B11F8C8B8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94DE0-F7D0-64AF-28E5-7B681CDA0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1E45B5-9ADF-F7A2-05F2-120A13B781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657BA5-1E45-32F5-A0AA-B7DF5473D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BDD5A8-A59D-08B9-C81D-4ACB127E08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369CEE-536B-48E8-7B72-F11150977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2A961E-4D7B-9D4F-8C48-91688C565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CE6ED0-E024-5291-9F42-982856D90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936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37624-BBE4-4F43-40BE-1C5DBB86F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D2DED-744A-331F-EB77-5ABCDB0E6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A3ED02-FD63-DFD0-65D2-7872A7B24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50267F-DE78-6F66-2229-FB1D5B1AA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54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A44833-3305-1116-E9F8-6C5A8378D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378047-5589-1EAF-5067-AD2EF9677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0FE9F-3CAF-0634-2E48-4958A1A03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647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1C86E-6E03-A7F6-C6A1-CDAA5F439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23AF1-9D57-2314-FA9D-80825CC52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522C80-BCC2-1F0C-1CD6-79899BC991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4490D-FAC8-13CF-211F-402F2A5AC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733B4-C215-03AA-BCF9-0EBAA8F07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0D49F0-9737-DB9F-776D-A059B8F79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474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F8913-6DB8-652E-3AE8-7E16FF760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F1CDAF-03E1-DF12-A9B1-4FD15D85B9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B973D7-08B5-4E26-635F-62114CE4B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33F633-B42C-02E8-FBE9-A044D62B2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6AB502-E8A8-9093-8527-B61DE6F02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3A517D-0BB7-84CA-2B04-6D22F0A30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464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57CDB-541D-DAB3-7030-558DA7187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A6EE05-5077-E454-CADA-3C22480500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0635D-85D2-5EC9-9A79-37473989E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6C204C-6DA9-C91E-0CBF-6F7A79A1E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F552A-D248-C906-CAB8-158CCB31F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550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FED4DA-0C79-4922-B6CA-14EB15C603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BDFD1A-D787-85F1-F785-E1CCF23F95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549BA-E968-319C-D449-763DCC64A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D76C2-62F9-A98E-4B4E-3F8847C56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35182B-0D0E-6729-A659-0B21D17AE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383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FB70B0-69C1-BACF-E34C-11B8ABB05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6B4FB-0BB3-9404-1631-FB806D146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8B363-0843-FCC4-75C3-4817B6FC14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BBDEEA-63FC-4B53-82B2-BA556F03A49A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BD5FE-B811-5B93-5CF9-F7649D0E6D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1E091-0FFD-BBDC-7AFB-7DC9119E8F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839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84BFF6B-CD7D-43AB-C049-4D6FC7CD133B}"/>
              </a:ext>
            </a:extLst>
          </p:cNvPr>
          <p:cNvCxnSpPr>
            <a:cxnSpLocks/>
          </p:cNvCxnSpPr>
          <p:nvPr/>
        </p:nvCxnSpPr>
        <p:spPr>
          <a:xfrm>
            <a:off x="5049018" y="3934251"/>
            <a:ext cx="2899265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D3EE458-AB78-EACF-6DF0-D50A5EB70F8C}"/>
              </a:ext>
            </a:extLst>
          </p:cNvPr>
          <p:cNvCxnSpPr>
            <a:cxnSpLocks/>
          </p:cNvCxnSpPr>
          <p:nvPr/>
        </p:nvCxnSpPr>
        <p:spPr>
          <a:xfrm>
            <a:off x="3723623" y="746590"/>
            <a:ext cx="2943877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A04EC88-7086-2F59-99EF-DAF347BF7C5A}"/>
              </a:ext>
            </a:extLst>
          </p:cNvPr>
          <p:cNvCxnSpPr/>
          <p:nvPr/>
        </p:nvCxnSpPr>
        <p:spPr>
          <a:xfrm>
            <a:off x="1486446" y="665766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tar: 16 Points 4">
            <a:extLst>
              <a:ext uri="{FF2B5EF4-FFF2-40B4-BE49-F238E27FC236}">
                <a16:creationId xmlns:a16="http://schemas.microsoft.com/office/drawing/2014/main" id="{ADD58C41-DE5A-3F97-1073-80435EAC10E5}"/>
              </a:ext>
            </a:extLst>
          </p:cNvPr>
          <p:cNvSpPr/>
          <p:nvPr/>
        </p:nvSpPr>
        <p:spPr>
          <a:xfrm>
            <a:off x="237236" y="118746"/>
            <a:ext cx="1915160" cy="1915160"/>
          </a:xfrm>
          <a:prstGeom prst="star16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6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4711EC-5C02-3E0D-2684-97CA50D62B24}"/>
              </a:ext>
            </a:extLst>
          </p:cNvPr>
          <p:cNvSpPr txBox="1"/>
          <p:nvPr/>
        </p:nvSpPr>
        <p:spPr>
          <a:xfrm>
            <a:off x="597534" y="356526"/>
            <a:ext cx="1194562" cy="400110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UNIT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0230C0-C256-6203-A5F6-19223FE071E4}"/>
              </a:ext>
            </a:extLst>
          </p:cNvPr>
          <p:cNvSpPr txBox="1"/>
          <p:nvPr/>
        </p:nvSpPr>
        <p:spPr>
          <a:xfrm>
            <a:off x="572164" y="521583"/>
            <a:ext cx="1194562" cy="1107996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9215A8-6C2C-22D9-03C2-41E38104D972}"/>
              </a:ext>
            </a:extLst>
          </p:cNvPr>
          <p:cNvSpPr/>
          <p:nvPr/>
        </p:nvSpPr>
        <p:spPr>
          <a:xfrm>
            <a:off x="3750894" y="865330"/>
            <a:ext cx="5752094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COMMIT AND DRAW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BE531CC-A060-48E0-AD9D-FE42573EED82}"/>
              </a:ext>
            </a:extLst>
          </p:cNvPr>
          <p:cNvSpPr/>
          <p:nvPr/>
        </p:nvSpPr>
        <p:spPr>
          <a:xfrm>
            <a:off x="-101820" y="-220310"/>
            <a:ext cx="2593271" cy="2593271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5E4966-129D-0E9B-593A-7270EC6C0EA0}"/>
              </a:ext>
            </a:extLst>
          </p:cNvPr>
          <p:cNvSpPr/>
          <p:nvPr/>
        </p:nvSpPr>
        <p:spPr>
          <a:xfrm rot="21081993">
            <a:off x="3089443" y="359006"/>
            <a:ext cx="1268361" cy="60075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DAY 10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204734-3FD9-9A03-0700-AC2D2E083E4F}"/>
              </a:ext>
            </a:extLst>
          </p:cNvPr>
          <p:cNvSpPr/>
          <p:nvPr/>
        </p:nvSpPr>
        <p:spPr>
          <a:xfrm>
            <a:off x="526944" y="2588561"/>
            <a:ext cx="3929014" cy="3942736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What Today Is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What You Hand In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How It Is Marked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How To Justify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The Three Drawings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The Work, In Order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Checklist</a:t>
            </a:r>
          </a:p>
        </p:txBody>
      </p:sp>
      <p:sp>
        <p:nvSpPr>
          <p:cNvPr id="17" name="Flowchart: Data 16">
            <a:extLst>
              <a:ext uri="{FF2B5EF4-FFF2-40B4-BE49-F238E27FC236}">
                <a16:creationId xmlns:a16="http://schemas.microsoft.com/office/drawing/2014/main" id="{76E17776-D541-80F3-BCFD-CA5A7CCC3A3F}"/>
              </a:ext>
            </a:extLst>
          </p:cNvPr>
          <p:cNvSpPr/>
          <p:nvPr/>
        </p:nvSpPr>
        <p:spPr>
          <a:xfrm>
            <a:off x="2914673" y="2288185"/>
            <a:ext cx="2301362" cy="600752"/>
          </a:xfrm>
          <a:prstGeom prst="flowChartInputOutpu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AGENDA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6BB1E97-9746-97B6-FA11-641333A2EC2E}"/>
              </a:ext>
            </a:extLst>
          </p:cNvPr>
          <p:cNvSpPr/>
          <p:nvPr/>
        </p:nvSpPr>
        <p:spPr>
          <a:xfrm>
            <a:off x="5407742" y="2444655"/>
            <a:ext cx="6016298" cy="132267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Phones into The Holding Cell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Paper, pencils, rulers, rubric sheet</a:t>
            </a:r>
          </a:p>
        </p:txBody>
      </p:sp>
      <p:sp>
        <p:nvSpPr>
          <p:cNvPr id="26" name="Arrow: Pentagon 25">
            <a:extLst>
              <a:ext uri="{FF2B5EF4-FFF2-40B4-BE49-F238E27FC236}">
                <a16:creationId xmlns:a16="http://schemas.microsoft.com/office/drawing/2014/main" id="{4D20C643-FE77-D5F1-944D-EFA6A4E18384}"/>
              </a:ext>
            </a:extLst>
          </p:cNvPr>
          <p:cNvSpPr/>
          <p:nvPr/>
        </p:nvSpPr>
        <p:spPr>
          <a:xfrm flipH="1">
            <a:off x="9835526" y="2157823"/>
            <a:ext cx="2155485" cy="765223"/>
          </a:xfrm>
          <a:prstGeom prst="homePlate">
            <a:avLst/>
          </a:prstGeom>
          <a:solidFill>
            <a:schemeClr val="accent4">
              <a:lumMod val="75000"/>
            </a:schemeClr>
          </a:solidFill>
          <a:ln w="571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REMINDERS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2A3F4D-F474-B915-E173-B56E57D3CE69}"/>
              </a:ext>
            </a:extLst>
          </p:cNvPr>
          <p:cNvSpPr txBox="1"/>
          <p:nvPr/>
        </p:nvSpPr>
        <p:spPr>
          <a:xfrm>
            <a:off x="411769" y="1394526"/>
            <a:ext cx="1580232" cy="253916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050" b="1" dirty="0">
                <a:solidFill>
                  <a:schemeClr val="bg1"/>
                </a:solidFill>
              </a:rPr>
              <a:t>GAMES OF LOGIC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7C4EAF-0803-A288-BDEE-0E3564F0572F}"/>
              </a:ext>
            </a:extLst>
          </p:cNvPr>
          <p:cNvSpPr/>
          <p:nvPr/>
        </p:nvSpPr>
        <p:spPr>
          <a:xfrm>
            <a:off x="7187005" y="6077879"/>
            <a:ext cx="4437380" cy="583565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E8F43148-EE9C-7774-E91E-902BDA2874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6146299"/>
            <a:ext cx="3790950" cy="5835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 algn="r">
              <a:buNone/>
            </a:pPr>
            <a:r>
              <a:rPr lang="en-US" sz="1400" b="1" dirty="0">
                <a:solidFill>
                  <a:schemeClr val="bg1"/>
                </a:solidFill>
                <a:effectLst/>
                <a:latin typeface="Bahnschrift" panose="020B0502040204020203" pitchFamily="34" charset="0"/>
                <a:ea typeface="Calibri" panose="020F0502020204030204" pitchFamily="34" charset="0"/>
              </a:rPr>
              <a:t>RECOMMENDED LISTENING:</a:t>
            </a:r>
            <a:endParaRPr lang="en-US" sz="1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 algn="r">
              <a:buNone/>
            </a:pPr>
            <a:r>
              <a:rPr lang="en-US" sz="1200" b="1" dirty="0">
                <a:solidFill>
                  <a:schemeClr val="bg1"/>
                </a:solidFill>
                <a:latin typeface="Bahnschrift" panose="020B0502040204020203" pitchFamily="34" charset="0"/>
                <a:ea typeface="Calibri" panose="020F0502020204030204" pitchFamily="34" charset="0"/>
              </a:rPr>
              <a:t>THE MARIO DRAWING SONG – MARIO KART WORLD</a:t>
            </a:r>
            <a:endParaRPr lang="en-US" sz="1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11" name="Picture 10" descr="Cd Clip Art">
            <a:extLst>
              <a:ext uri="{FF2B5EF4-FFF2-40B4-BE49-F238E27FC236}">
                <a16:creationId xmlns:a16="http://schemas.microsoft.com/office/drawing/2014/main" id="{8F996DD9-88B2-83C3-D428-9838FFAF1E2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4750" y="5941036"/>
            <a:ext cx="857250" cy="857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46394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4264363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4944804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WHAT TODAY IS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Today you commit to one of your three ideas, and draw it well enough that somebody else could build it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Nothing new gets designed. That work happened last lesson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Everything today will go onto five folder slides, and those five get marked together with slides 13 to 16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Your specification locks at the end of today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7284047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7964488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WHAT YOU HAND IN TODAY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Folder slide 17 - your chosen design, justified against your own specification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Folder slide 18 - your component drawings, with sizes and a count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Folder slide 19 - your table, drawn from where each player sits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Folder slide 20 - every icon, drawn once, with what it means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Folder slide 21 - your requirements list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All five are Criterion B. The bands are on your Criterion B rubric sheet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2F5797-C5C2-F79D-9BB3-8E63820B9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559C2527-AA75-DC6C-3DE0-58C7D385A4B6}"/>
              </a:ext>
            </a:extLst>
          </p:cNvPr>
          <p:cNvSpPr/>
          <p:nvPr/>
        </p:nvSpPr>
        <p:spPr>
          <a:xfrm>
            <a:off x="6494844" y="-229217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36A84F1-9CA0-A5B5-365D-82E3E22375E2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C5EFFD4-2377-AE9C-65F7-9080778BC553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BD9A6632-69E5-184F-8128-055B31A220C4}"/>
              </a:ext>
            </a:extLst>
          </p:cNvPr>
          <p:cNvSpPr/>
          <p:nvPr/>
        </p:nvSpPr>
        <p:spPr>
          <a:xfrm>
            <a:off x="112344" y="93525"/>
            <a:ext cx="7175285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HOW TODAY IS MARKED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5DBAE5-3EC0-E2CB-86CD-D349003647B3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Criterion B, strands iii and iv. The full scale is on your Criterion B rubric sheet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DC9E651-E5AC-6C91-3213-4B43F6FE633C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A515768-612F-D746-DFF9-0127CFFA14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5073898"/>
              </p:ext>
            </p:extLst>
          </p:nvPr>
        </p:nvGraphicFramePr>
        <p:xfrm>
          <a:off x="701040" y="2280000"/>
          <a:ext cx="10789920" cy="174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0000">
                <a:tc>
                  <a:txBody>
                    <a:bodyPr/>
                    <a:lstStyle/>
                    <a:p>
                      <a:r>
                        <a:rPr lang="en-US" sz="1600" b="1" dirty="0"/>
                        <a:t>STRAND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WHAT AN 8 LOOKS LIKE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THE TRAP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iii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justifies </a:t>
                      </a:r>
                      <a:r>
                        <a:rPr lang="en-US" sz="1600" b="1" dirty="0"/>
                        <a:t>fully and critically</a:t>
                      </a:r>
                      <a:r>
                        <a:rPr lang="en-US" sz="1600" dirty="0"/>
                        <a:t>, with detailed reference to the specification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Only saying what is good about your choice caps you at a 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accurate and </a:t>
                      </a:r>
                      <a:r>
                        <a:rPr lang="en-US" sz="1600" b="1" dirty="0"/>
                        <a:t>detailed</a:t>
                      </a:r>
                      <a:r>
                        <a:rPr lang="en-US" sz="1600" dirty="0"/>
                        <a:t> planning drawings, </a:t>
                      </a:r>
                      <a:r>
                        <a:rPr lang="en-US" sz="1600" b="1" dirty="0"/>
                        <a:t>and</a:t>
                      </a:r>
                      <a:r>
                        <a:rPr lang="en-US" sz="1600" dirty="0"/>
                        <a:t> outlines the requirements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The bottom band says drawings </a:t>
                      </a:r>
                      <a:r>
                        <a:rPr lang="en-US" sz="1600" b="1" dirty="0"/>
                        <a:t>or</a:t>
                      </a:r>
                      <a:r>
                        <a:rPr lang="en-US" sz="1600" dirty="0"/>
                        <a:t> requirements. Skip slide 21 and you are stuck down there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3805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851820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9198642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HOW TO JUSTIFY YOUR CHOICE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Identify one of your spec lines, then say how that influences your choice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"Spec line 3 caps me at ten minutes, and idea 1 had four rounds of scoring in it" is a justification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"I picked idea 2 because it looked best" is a preference, not a justification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Work through the spec line by line, not in general terms, you can literally number them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Say what you kept from the two ideas you dropped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→ FOLDER SLIDE 17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972191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10402352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NAMING YOUR WEAKEST SPEC LINE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Name the numbered spec line your design is perhaps the weakest at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"Weakest on line 1, the time to teach, because the scoring rule needs a worked example"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→ FOLDER SLIDE 17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Peter griffin brian griffin stewie griffin lois griffin griffin family ...">
            <a:extLst>
              <a:ext uri="{FF2B5EF4-FFF2-40B4-BE49-F238E27FC236}">
                <a16:creationId xmlns:a16="http://schemas.microsoft.com/office/drawing/2014/main" id="{5E691197-43FB-4507-E3AC-984F1FC95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079" y="3820228"/>
            <a:ext cx="3147153" cy="2944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9100020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9780461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DRAWING 1 - YOUR COMPONENTS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5928721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Every card, tile and token, drawn flat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Fronts and backs. The back is what everyone stares at all game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Sizes in mm on every one. A playing card is 63 by 88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Label what each part of the card is for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→ FOLDER SLIDE 18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Classic Board Game Pieces">
            <a:extLst>
              <a:ext uri="{FF2B5EF4-FFF2-40B4-BE49-F238E27FC236}">
                <a16:creationId xmlns:a16="http://schemas.microsoft.com/office/drawing/2014/main" id="{1FC5FC6A-AF6A-198E-B712-561C5341B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432007"/>
            <a:ext cx="3744583" cy="4630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8596523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9276963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COUNTING YOUR COMPONENTS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Count them once drawing 1 is done. Cards, tiles and tokens added together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An exact number should go onto slide 18 (“about fifty" is not a number)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24 number, 12 action, 4 reference, 8 tokens, 1 marker is 49. Six more action cards makes 55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If your design is over 54 you need to revise your design, not the spec. Cut whatever is not important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→ FOLDER SLIDE 18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Board Game Pieces">
            <a:extLst>
              <a:ext uri="{FF2B5EF4-FFF2-40B4-BE49-F238E27FC236}">
                <a16:creationId xmlns:a16="http://schemas.microsoft.com/office/drawing/2014/main" id="{5132C03F-033B-0AEB-3897-C08D48B0AA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6245" y="4106568"/>
            <a:ext cx="3344133" cy="2111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6553130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7233571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DRAWING 2 - THE TABLE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The whole table, full size, as it looks while the game is being played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Where each player sits, what is in front of them, and what is face down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Draw it from each seat. What seat 1 can read is not what seat 3 can read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No board? This is still the drawing. The table is the layout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→ FOLDER SLIDE 19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Candy Land: Will This Game Ever End?">
            <a:extLst>
              <a:ext uri="{FF2B5EF4-FFF2-40B4-BE49-F238E27FC236}">
                <a16:creationId xmlns:a16="http://schemas.microsoft.com/office/drawing/2014/main" id="{0D379FAF-C7B8-3AAF-A6FF-3765ED5F8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4268207" y="3631243"/>
            <a:ext cx="4361989" cy="3307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6968418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7648858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DRAWING 3 - YOUR ICONS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Draw every symbol or icon your game uses, at the size it will actually print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Write what it means next to it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Ideally, your cards will use symbols, rather than large blocks of text, to convey information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→ FOLDER SLIDE 20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6918718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7599159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THE REQUIREMENTS LIST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Three columns on folder slide 21: what you need, how many, and where it comes from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"Card" is not a requirement. "40 blank playing cards" is a requirement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Software counts, and so does anything you are buying or borrowing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The rules sheet is a requirement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Ask yourself: could somebody else fetch all of it without asking you a question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→ FOLDER SLIDE 21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5379343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6059784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LOCKING THE SPEC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Put today’s date on folder slide 13 before you leave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After that, changing your specification means talking to me first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For Criteria D, you evaluate your own game against this spec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If you can quietly edit it once you have seen your results, the evaluation becomes meaningless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→ FOLDER SLIDE 13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5911724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6592164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THE WORK, IN ORDER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0:27 to 0:39 - folder slide 17, the justification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0:39 to 0:59 - folder slides 18, 19 and 20, the three drawings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0:59 to 1:06 - the count onto slide 18, then slide 21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1:06 to 1:14 - the four checks, then photograph everything in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1:14 to 1:17 - date folder slide 13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Ask me anything during any of it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8 Quick Sketching Tips for Effective Concept Art - MAGES">
            <a:extLst>
              <a:ext uri="{FF2B5EF4-FFF2-40B4-BE49-F238E27FC236}">
                <a16:creationId xmlns:a16="http://schemas.microsoft.com/office/drawing/2014/main" id="{C9AE5D34-92A0-6207-2C7A-2A5EA3F41C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9356" y="4488599"/>
            <a:ext cx="3410059" cy="1918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5231026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5911467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THE FOUR CHECKS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Does every component have a size on it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Is the count on folder slide 18, and is it 54 or fewer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Is every icon drawn once, with its meaning next to it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Does the table drawing show what each seat can see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Don’t try to update your slides until all of your drawings are complete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6021790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6702231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IF YOU MISSED TODAY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The drawings will take some time, but should be easy to catch up on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1. Folder slide 17 - argue your choice against the spec line by line, ending with your weakest line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2. Folder slides 18, 19 and 20 - components with sizes, the table from each seat, every icon once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3. Count onto folder slide 18 and check it is 54 or fewer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4. Folder slide 21 - the requirements list, with quantities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5. Date folder slide 13, and see me before changing anything on it after that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8705549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9385989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CHECKLIST BEFORE YOU LEAVE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Swap with somebody and read their requirements list. Could you go and fetch all of it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Folder slides 17, 18, 19, 20 and 21 all have something on them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Folder slide 13 is dated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Next time: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The </a:t>
            </a:r>
            <a:r>
              <a:rPr lang="en-US" sz="2400"/>
              <a:t>production plan</a:t>
            </a:r>
            <a:endParaRPr lang="en-US" sz="2400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MYP Custom">
      <a:dk1>
        <a:srgbClr val="4B5358"/>
      </a:dk1>
      <a:lt1>
        <a:sysClr val="window" lastClr="FFFFFF"/>
      </a:lt1>
      <a:dk2>
        <a:srgbClr val="4B5358"/>
      </a:dk2>
      <a:lt2>
        <a:srgbClr val="E8E8E8"/>
      </a:lt2>
      <a:accent1>
        <a:srgbClr val="60B2E5"/>
      </a:accent1>
      <a:accent2>
        <a:srgbClr val="F49390"/>
      </a:accent2>
      <a:accent3>
        <a:srgbClr val="AEF6C7"/>
      </a:accent3>
      <a:accent4>
        <a:srgbClr val="FFC857"/>
      </a:accent4>
      <a:accent5>
        <a:srgbClr val="96607D"/>
      </a:accent5>
      <a:accent6>
        <a:srgbClr val="467886"/>
      </a:accent6>
      <a:hlink>
        <a:srgbClr val="0070C0"/>
      </a:hlink>
      <a:folHlink>
        <a:srgbClr val="002060"/>
      </a:folHlink>
    </a:clrScheme>
    <a:fontScheme name="Custom 1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75000"/>
          </a:schemeClr>
        </a:solidFill>
        <a:ln w="76200">
          <a:solidFill>
            <a:schemeClr val="accent2">
              <a:lumMod val="50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477</TotalTime>
  <Words>1096</Words>
  <Application>Microsoft Office PowerPoint</Application>
  <PresentationFormat>Widescreen</PresentationFormat>
  <Paragraphs>114</Paragraphs>
  <Slides>16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Arial</vt:lpstr>
      <vt:lpstr>Bahnschrift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7</cp:revision>
  <dcterms:created xsi:type="dcterms:W3CDTF">2026-08-13T18:52:07Z</dcterms:created>
  <dcterms:modified xsi:type="dcterms:W3CDTF">2026-09-21T14:55:32Z</dcterms:modified>
</cp:coreProperties>
</file>